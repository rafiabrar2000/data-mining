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259" r:id="rId4"/>
    <p:sldId id="260" r:id="rId5"/>
    <p:sldId id="261" r:id="rId6"/>
    <p:sldId id="262" r:id="rId7"/>
    <p:sldId id="263" r:id="rId8"/>
    <p:sldId id="264" r:id="rId9"/>
    <p:sldId id="266" r:id="rId10"/>
    <p:sldId id="267" r:id="rId11"/>
    <p:sldId id="268" r:id="rId12"/>
    <p:sldId id="269" r:id="rId13"/>
    <p:sldId id="270" r:id="rId14"/>
    <p:sldId id="271" r:id="rId15"/>
    <p:sldId id="273" r:id="rId16"/>
    <p:sldId id="274" r:id="rId17"/>
    <p:sldId id="275" r:id="rId18"/>
    <p:sldId id="276" r:id="rId19"/>
    <p:sldId id="277" r:id="rId20"/>
    <p:sldId id="278" r:id="rId21"/>
    <p:sldId id="280" r:id="rId22"/>
    <p:sldId id="281" r:id="rId23"/>
    <p:sldId id="284" r:id="rId24"/>
    <p:sldId id="282" r:id="rId25"/>
    <p:sldId id="283" r:id="rId26"/>
    <p:sldId id="2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098" autoAdjust="0"/>
  </p:normalViewPr>
  <p:slideViewPr>
    <p:cSldViewPr snapToGrid="0">
      <p:cViewPr varScale="1">
        <p:scale>
          <a:sx n="52" d="100"/>
          <a:sy n="52" d="100"/>
        </p:scale>
        <p:origin x="1180" y="28"/>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dev"/>
          <inkml:channel name="Y" type="integer" min="-2.14748E9" max="2.14748E9" units="dev"/>
          <inkml:channel name="F" type="integer" max="32767" units="dev"/>
        </inkml:traceFormat>
        <inkml:channelProperties>
          <inkml:channelProperty channel="X" name="resolution" value="1000" units="1/dev"/>
          <inkml:channelProperty channel="Y" name="resolution" value="1000" units="1/dev"/>
          <inkml:channelProperty channel="F" name="resolution" value="0" units="1/dev"/>
        </inkml:channelProperties>
      </inkml:inkSource>
      <inkml:timestamp xml:id="ts0" timeString="2024-09-02T10:57:40.550"/>
    </inkml:context>
    <inkml:brush xml:id="br0">
      <inkml:brushProperty name="width" value="0.1" units="cm"/>
      <inkml:brushProperty name="height" value="0.1" units="cm"/>
    </inkml:brush>
  </inkml:definitions>
  <inkml:trace contextRef="#ctx0" brushRef="#br0">4380 24881 8875,'0'1463'0,"1463"-1463"0,-1463-1463 0,-1463 1463 0</inkml:trace>
</inkml:ink>
</file>

<file path=ppt/ink/ink2.xml><?xml version="1.0" encoding="utf-8"?>
<inkml:ink xmlns:inkml="http://www.w3.org/2003/InkML">
  <inkml:definitions>
    <inkml:context xml:id="ctx0">
      <inkml:inkSource xml:id="inkSrc0">
        <inkml:traceFormat>
          <inkml:channel name="X" type="integer" min="-2.14748E9" max="2.14748E9" units="dev"/>
          <inkml:channel name="Y" type="integer" min="-2.14748E9" max="2.14748E9" units="dev"/>
          <inkml:channel name="F" type="integer" max="32767" units="dev"/>
        </inkml:traceFormat>
        <inkml:channelProperties>
          <inkml:channelProperty channel="X" name="resolution" value="1000" units="1/dev"/>
          <inkml:channelProperty channel="Y" name="resolution" value="1000" units="1/dev"/>
          <inkml:channelProperty channel="F" name="resolution" value="0" units="1/dev"/>
        </inkml:channelProperties>
      </inkml:inkSource>
      <inkml:timestamp xml:id="ts0" timeString="2024-09-02T10:57:47.868"/>
    </inkml:context>
    <inkml:brush xml:id="br0">
      <inkml:brushProperty name="width" value="0.1" units="cm"/>
      <inkml:brushProperty name="height" value="0.1" units="cm"/>
    </inkml:brush>
  </inkml:definitions>
  <inkml:trace contextRef="#ctx0" brushRef="#br0">4380 24881 8875,'0'1463'0,"1463"-1463"0,-1463-1463 0,-1463 1463 0</inkml:trace>
</inkml:ink>
</file>

<file path=ppt/ink/ink3.xml><?xml version="1.0" encoding="utf-8"?>
<inkml:ink xmlns:inkml="http://www.w3.org/2003/InkML">
  <inkml:definitions>
    <inkml:context xml:id="ctx0">
      <inkml:inkSource xml:id="inkSrc0">
        <inkml:traceFormat>
          <inkml:channel name="X" type="integer" min="-2.14748E9" max="2.14748E9" units="dev"/>
          <inkml:channel name="Y" type="integer" min="-2.14748E9" max="2.14748E9" units="dev"/>
          <inkml:channel name="F" type="integer" max="32767" units="dev"/>
        </inkml:traceFormat>
        <inkml:channelProperties>
          <inkml:channelProperty channel="X" name="resolution" value="1000" units="1/dev"/>
          <inkml:channelProperty channel="Y" name="resolution" value="1000" units="1/dev"/>
          <inkml:channelProperty channel="F" name="resolution" value="0" units="1/dev"/>
        </inkml:channelProperties>
      </inkml:inkSource>
      <inkml:timestamp xml:id="ts0" timeString="2024-09-02T10:57:49.252"/>
    </inkml:context>
    <inkml:brush xml:id="br0">
      <inkml:brushProperty name="width" value="0.1" units="cm"/>
      <inkml:brushProperty name="height" value="0.1" units="cm"/>
    </inkml:brush>
  </inkml:definitions>
  <inkml:trace contextRef="#ctx0" brushRef="#br0">4380 24881 8875,'0'1463'0,"1463"-1463"0,-1463-1463 0,-1463 1463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B1ECD2-7A85-49AC-996F-DA0E57C91A71}" type="datetimeFigureOut">
              <a:rPr lang="en-US" smtClean="0"/>
              <a:t>10/23/2024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4DA34E-31FA-4215-856F-B3EDB1891228}" type="slidenum">
              <a:rPr lang="en-US" smtClean="0"/>
              <a:t>‹#›</a:t>
            </a:fld>
            <a:endParaRPr lang="en-US"/>
          </a:p>
        </p:txBody>
      </p:sp>
    </p:spTree>
    <p:extLst>
      <p:ext uri="{BB962C8B-B14F-4D97-AF65-F5344CB8AC3E}">
        <p14:creationId xmlns:p14="http://schemas.microsoft.com/office/powerpoint/2010/main" val="4091441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context of ensemble learning, </a:t>
            </a:r>
            <a:r>
              <a:rPr lang="en-US" b="1" dirty="0" smtClean="0"/>
              <a:t>individual errors</a:t>
            </a:r>
            <a:r>
              <a:rPr lang="en-US" dirty="0" smtClean="0"/>
              <a:t> refer to the mistakes or incorrect predictions made by individual models (M1, M2, M3) on certain inputs. These errors can occur because each model may have a different approach, algorithm, or training, which makes them perform differently on the same data points.</a:t>
            </a:r>
          </a:p>
          <a:p>
            <a:r>
              <a:rPr lang="en-US" dirty="0" smtClean="0"/>
              <a:t>For example, in </a:t>
            </a:r>
            <a:r>
              <a:rPr lang="en-US" b="1" dirty="0" smtClean="0"/>
              <a:t>Case 1</a:t>
            </a:r>
            <a:r>
              <a:rPr lang="en-US" dirty="0" smtClean="0"/>
              <a:t> :</a:t>
            </a:r>
          </a:p>
          <a:p>
            <a:r>
              <a:rPr lang="en-US" dirty="0" smtClean="0"/>
              <a:t>Model 1 (M1) predicts correctly for x1 and x2 but incorrectly for x3.</a:t>
            </a:r>
          </a:p>
          <a:p>
            <a:r>
              <a:rPr lang="en-US" dirty="0" smtClean="0"/>
              <a:t>Model 2 (M2) predicts correctly for x2 and x3 but incorrectly for x1.</a:t>
            </a:r>
          </a:p>
          <a:p>
            <a:r>
              <a:rPr lang="en-US" dirty="0" smtClean="0"/>
              <a:t>Model 3 (M3) predicts correctly for x1 and x3 but incorrectly for x2.</a:t>
            </a:r>
          </a:p>
          <a:p>
            <a:r>
              <a:rPr lang="en-US" dirty="0" smtClean="0"/>
              <a:t>Each model has some </a:t>
            </a:r>
            <a:r>
              <a:rPr lang="en-US" b="1" dirty="0" smtClean="0"/>
              <a:t>individual errors</a:t>
            </a:r>
            <a:r>
              <a:rPr lang="en-US" dirty="0" smtClean="0"/>
              <a:t> (wrong predictions), but the </a:t>
            </a:r>
            <a:r>
              <a:rPr lang="en-US" b="1" dirty="0" smtClean="0"/>
              <a:t>voting ensemble</a:t>
            </a:r>
            <a:r>
              <a:rPr lang="en-US" dirty="0" smtClean="0"/>
              <a:t> combines the predictions of all models and using the variety of outputs from different models ensemble makes better final predictions and reduce overall errors, making the ensemble more accurate than any single model alone.. Since different models make errors on different inputs, the ensemble can often correct those mistakes by "voting" for the majority correct prediction.</a:t>
            </a:r>
          </a:p>
          <a:p>
            <a:r>
              <a:rPr lang="en-US" b="1" dirty="0" smtClean="0"/>
              <a:t>Example of Correcting Individual Errors:</a:t>
            </a:r>
          </a:p>
          <a:p>
            <a:r>
              <a:rPr lang="en-US" dirty="0" smtClean="0"/>
              <a:t>For </a:t>
            </a:r>
            <a:r>
              <a:rPr lang="en-US" b="1" dirty="0" smtClean="0"/>
              <a:t>x1</a:t>
            </a:r>
            <a:r>
              <a:rPr lang="en-US" dirty="0" smtClean="0"/>
              <a:t>: M1 and M3 predict correctly (✓), while M2 predicts incorrectly (✗). The voting ensemble looks at the majority and predicts correctly (✓).</a:t>
            </a:r>
          </a:p>
          <a:p>
            <a:r>
              <a:rPr lang="en-US" dirty="0" smtClean="0"/>
              <a:t>For </a:t>
            </a:r>
            <a:r>
              <a:rPr lang="en-US" b="1" dirty="0" smtClean="0"/>
              <a:t>x2</a:t>
            </a:r>
            <a:r>
              <a:rPr lang="en-US" dirty="0" smtClean="0"/>
              <a:t>: M1 and M2 predict correctly (✓), but M3 predicts incorrectly (✗). The ensemble predicts correctly (✓) because the majority is correct.</a:t>
            </a:r>
          </a:p>
          <a:p>
            <a:r>
              <a:rPr lang="en-US" dirty="0" smtClean="0"/>
              <a:t>For </a:t>
            </a:r>
            <a:r>
              <a:rPr lang="en-US" b="1" dirty="0" smtClean="0"/>
              <a:t>x3</a:t>
            </a:r>
            <a:r>
              <a:rPr lang="en-US" dirty="0" smtClean="0"/>
              <a:t>: M2 and M3 predict correctly (✓), while M1 predicts incorrectly (✗). The ensemble again predicts correctly (✓) based on the majority.</a:t>
            </a:r>
          </a:p>
          <a:p>
            <a:r>
              <a:rPr lang="en-US" dirty="0" smtClean="0"/>
              <a:t>In this way, the </a:t>
            </a:r>
            <a:r>
              <a:rPr lang="en-US" b="1" dirty="0" smtClean="0"/>
              <a:t>diversity</a:t>
            </a:r>
            <a:r>
              <a:rPr lang="en-US" dirty="0" smtClean="0"/>
              <a:t> among the models allows the ensemble to overcome the individual errors made by any single model, leading to more reliable predictions overall.</a:t>
            </a:r>
          </a:p>
          <a:p>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5</a:t>
            </a:fld>
            <a:endParaRPr lang="en-US"/>
          </a:p>
        </p:txBody>
      </p:sp>
    </p:spTree>
    <p:extLst>
      <p:ext uri="{BB962C8B-B14F-4D97-AF65-F5344CB8AC3E}">
        <p14:creationId xmlns:p14="http://schemas.microsoft.com/office/powerpoint/2010/main" val="3248763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6</a:t>
            </a:fld>
            <a:endParaRPr lang="en-US"/>
          </a:p>
        </p:txBody>
      </p:sp>
    </p:spTree>
    <p:extLst>
      <p:ext uri="{BB962C8B-B14F-4D97-AF65-F5344CB8AC3E}">
        <p14:creationId xmlns:p14="http://schemas.microsoft.com/office/powerpoint/2010/main" val="2390837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Classification problems</a:t>
            </a:r>
            <a:r>
              <a:rPr lang="en-US" dirty="0" smtClean="0"/>
              <a:t> use majority voting (selecting the most frequent prediction).</a:t>
            </a:r>
          </a:p>
          <a:p>
            <a:r>
              <a:rPr lang="en-US" b="1" dirty="0" smtClean="0"/>
              <a:t>Regression problems</a:t>
            </a:r>
            <a:r>
              <a:rPr lang="en-US" dirty="0" smtClean="0"/>
              <a:t> use averaging (taking the mean of predictions).</a:t>
            </a:r>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10</a:t>
            </a:fld>
            <a:endParaRPr lang="en-US"/>
          </a:p>
        </p:txBody>
      </p:sp>
    </p:spTree>
    <p:extLst>
      <p:ext uri="{BB962C8B-B14F-4D97-AF65-F5344CB8AC3E}">
        <p14:creationId xmlns:p14="http://schemas.microsoft.com/office/powerpoint/2010/main" val="1182708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What is the observation?</a:t>
            </a:r>
            <a:endParaRPr lang="en-US" dirty="0" smtClean="0"/>
          </a:p>
          <a:p>
            <a:pPr lvl="1"/>
            <a:r>
              <a:rPr lang="en-US" dirty="0" smtClean="0"/>
              <a:t>This might be asking you to notice that even though each individual model has a 70% accuracy, their combined decision through voting can result in better overall accuracy than any one model alone.</a:t>
            </a:r>
          </a:p>
          <a:p>
            <a:r>
              <a:rPr lang="en-US" b="1" dirty="0" smtClean="0"/>
              <a:t>What happens if each model has an accuracy of 30%?</a:t>
            </a:r>
            <a:endParaRPr lang="en-US" dirty="0" smtClean="0"/>
          </a:p>
          <a:p>
            <a:pPr lvl="1"/>
            <a:r>
              <a:rPr lang="en-US" dirty="0" smtClean="0"/>
              <a:t>If each model has an accuracy lower than 50%, the ensemble will likely perform poorly because the models are more likely to make incorrect predictions. If the models are consistently wrong, voting will not improve the accuracy.</a:t>
            </a:r>
          </a:p>
          <a:p>
            <a:r>
              <a:rPr lang="en-US" b="1" dirty="0" smtClean="0"/>
              <a:t>The Key Idea:</a:t>
            </a:r>
          </a:p>
          <a:p>
            <a:r>
              <a:rPr lang="en-US" dirty="0" smtClean="0"/>
              <a:t>Voting works because when models are diverse (independent) and individually accurate (greater than 50%), combining their predictions through majority voting can lead to better results. This is because the models can "cover" for each other's mistakes, and the ensemble tends to correct individual errors by choosing the majority prediction.</a:t>
            </a:r>
          </a:p>
          <a:p>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13</a:t>
            </a:fld>
            <a:endParaRPr lang="en-US"/>
          </a:p>
        </p:txBody>
      </p:sp>
    </p:spTree>
    <p:extLst>
      <p:ext uri="{BB962C8B-B14F-4D97-AF65-F5344CB8AC3E}">
        <p14:creationId xmlns:p14="http://schemas.microsoft.com/office/powerpoint/2010/main" val="3195013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Hard Voting:</a:t>
            </a:r>
          </a:p>
          <a:p>
            <a:r>
              <a:rPr lang="en-US" dirty="0" smtClean="0"/>
              <a:t>Each individual model (ML Model 1, ML Model 2, ML Model 3) makes a prediction, either 0 or 1 (for a binary classification problem).</a:t>
            </a:r>
          </a:p>
          <a:p>
            <a:r>
              <a:rPr lang="en-US" dirty="0" smtClean="0"/>
              <a:t>In </a:t>
            </a:r>
            <a:r>
              <a:rPr lang="en-US" b="1" dirty="0" smtClean="0"/>
              <a:t>hard voting</a:t>
            </a:r>
            <a:r>
              <a:rPr lang="en-US" dirty="0" smtClean="0"/>
              <a:t>, the final prediction is determined by </a:t>
            </a:r>
            <a:r>
              <a:rPr lang="en-US" b="1" dirty="0" smtClean="0"/>
              <a:t>majority voting</a:t>
            </a:r>
            <a:r>
              <a:rPr lang="en-US" dirty="0" smtClean="0"/>
              <a:t>. The class with the most votes is selected as the ensemble’s output.</a:t>
            </a:r>
          </a:p>
          <a:p>
            <a:r>
              <a:rPr lang="en-US" dirty="0" smtClean="0"/>
              <a:t>In the example:</a:t>
            </a:r>
          </a:p>
          <a:p>
            <a:pPr lvl="1"/>
            <a:r>
              <a:rPr lang="en-US" dirty="0" smtClean="0"/>
              <a:t>ML Model 1 predicts 1.</a:t>
            </a:r>
          </a:p>
          <a:p>
            <a:pPr lvl="1"/>
            <a:r>
              <a:rPr lang="en-US" dirty="0" smtClean="0"/>
              <a:t>ML Model 2 predicts 0.</a:t>
            </a:r>
          </a:p>
          <a:p>
            <a:pPr lvl="1"/>
            <a:r>
              <a:rPr lang="en-US" dirty="0" smtClean="0"/>
              <a:t>ML Model 3 predicts 1.</a:t>
            </a:r>
          </a:p>
          <a:p>
            <a:pPr lvl="1"/>
            <a:r>
              <a:rPr lang="en-US" dirty="0" smtClean="0"/>
              <a:t>The majority prediction is 1 (since 2 out of 3 models predict 1), so the final output is 1.</a:t>
            </a:r>
          </a:p>
          <a:p>
            <a:r>
              <a:rPr lang="en-US" b="1" dirty="0" smtClean="0"/>
              <a:t>2. Soft Voting:</a:t>
            </a:r>
          </a:p>
          <a:p>
            <a:r>
              <a:rPr lang="en-US" dirty="0" smtClean="0"/>
              <a:t>In </a:t>
            </a:r>
            <a:r>
              <a:rPr lang="en-US" b="1" dirty="0" smtClean="0"/>
              <a:t>soft voting</a:t>
            </a:r>
            <a:r>
              <a:rPr lang="en-US" dirty="0" smtClean="0"/>
              <a:t>, each model gives a probability score for each class (instead of just making a hard prediction). These probabilities are averaged, and the class with the highest average probability is chosen.</a:t>
            </a:r>
          </a:p>
          <a:p>
            <a:r>
              <a:rPr lang="en-US" dirty="0" smtClean="0"/>
              <a:t>In the example:</a:t>
            </a:r>
          </a:p>
          <a:p>
            <a:pPr lvl="1"/>
            <a:r>
              <a:rPr lang="en-US" dirty="0" smtClean="0"/>
              <a:t>ML Model 1 predicts a probability of 70% for class 1 (and 30% for class 0).</a:t>
            </a:r>
          </a:p>
          <a:p>
            <a:pPr lvl="1"/>
            <a:r>
              <a:rPr lang="en-US" dirty="0" smtClean="0"/>
              <a:t>ML Model 2 predicts a probability of 40% for class 1 (and 60% for class 0).</a:t>
            </a:r>
          </a:p>
          <a:p>
            <a:pPr lvl="1"/>
            <a:r>
              <a:rPr lang="en-US" dirty="0" smtClean="0"/>
              <a:t>ML Model 3 predicts a probability of 90% for class 1 (and 10% for class 0).</a:t>
            </a:r>
          </a:p>
          <a:p>
            <a:pPr lvl="1"/>
            <a:r>
              <a:rPr lang="en-US" dirty="0" smtClean="0"/>
              <a:t>To get the final output, the average probabilities are calculated:</a:t>
            </a:r>
          </a:p>
          <a:p>
            <a:pPr lvl="2"/>
            <a:r>
              <a:rPr lang="en-US" dirty="0" smtClean="0"/>
              <a:t>For class 1: 70%+40%+90%/3=66.6%</a:t>
            </a:r>
          </a:p>
          <a:p>
            <a:pPr lvl="2"/>
            <a:r>
              <a:rPr lang="en-US" dirty="0" smtClean="0"/>
              <a:t>For class 0: 30%+60%+10%./3=33.3%</a:t>
            </a:r>
          </a:p>
          <a:p>
            <a:pPr lvl="2"/>
            <a:r>
              <a:rPr lang="en-US" dirty="0" smtClean="0"/>
              <a:t>Since class 1 has the higher average probability (66.6% vs. 33.3%), the final output is 1.</a:t>
            </a:r>
          </a:p>
          <a:p>
            <a:r>
              <a:rPr lang="en-US" b="1" dirty="0" smtClean="0"/>
              <a:t>Summary:</a:t>
            </a:r>
          </a:p>
          <a:p>
            <a:r>
              <a:rPr lang="en-US" b="1" dirty="0" smtClean="0"/>
              <a:t>Hard Voting</a:t>
            </a:r>
            <a:r>
              <a:rPr lang="en-US" dirty="0" smtClean="0"/>
              <a:t>: Counts the majority of votes (discrete decisions). It’s simple but doesn't consider confidence in predictions.</a:t>
            </a:r>
          </a:p>
          <a:p>
            <a:r>
              <a:rPr lang="en-US" b="1" dirty="0" smtClean="0"/>
              <a:t>Soft Voting</a:t>
            </a:r>
            <a:r>
              <a:rPr lang="en-US" dirty="0" smtClean="0"/>
              <a:t>: Averages the probabilities predicted by each model. This method can be more accurate since it takes into account how confident each model is in its prediction.</a:t>
            </a:r>
          </a:p>
          <a:p>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14</a:t>
            </a:fld>
            <a:endParaRPr lang="en-US"/>
          </a:p>
        </p:txBody>
      </p:sp>
    </p:spTree>
    <p:extLst>
      <p:ext uri="{BB962C8B-B14F-4D97-AF65-F5344CB8AC3E}">
        <p14:creationId xmlns:p14="http://schemas.microsoft.com/office/powerpoint/2010/main" val="3890200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Key Concepts of Bagging:</a:t>
            </a:r>
          </a:p>
          <a:p>
            <a:r>
              <a:rPr lang="en-US" b="1" dirty="0" smtClean="0"/>
              <a:t>Base Models: Same</a:t>
            </a:r>
            <a:endParaRPr lang="en-US" dirty="0" smtClean="0"/>
          </a:p>
          <a:p>
            <a:pPr lvl="1"/>
            <a:r>
              <a:rPr lang="en-US" dirty="0" smtClean="0"/>
              <a:t>In bagging, we use multiple versions of the </a:t>
            </a:r>
            <a:r>
              <a:rPr lang="en-US" b="1" dirty="0" smtClean="0"/>
              <a:t>same model</a:t>
            </a:r>
            <a:r>
              <a:rPr lang="en-US" dirty="0" smtClean="0"/>
              <a:t> type, but each model is trained on different subsets of the data.</a:t>
            </a:r>
          </a:p>
          <a:p>
            <a:r>
              <a:rPr lang="en-US" b="1" dirty="0" smtClean="0"/>
              <a:t>Bootstrap Sampling (Random Sampling with Replacement)</a:t>
            </a:r>
            <a:endParaRPr lang="en-US" dirty="0" smtClean="0"/>
          </a:p>
          <a:p>
            <a:pPr lvl="1"/>
            <a:r>
              <a:rPr lang="en-US" dirty="0" smtClean="0"/>
              <a:t>To create diversity, bagging uses a method called </a:t>
            </a:r>
            <a:r>
              <a:rPr lang="en-US" b="1" dirty="0" smtClean="0"/>
              <a:t>bootstrap sampling</a:t>
            </a:r>
            <a:r>
              <a:rPr lang="en-US" dirty="0" smtClean="0"/>
              <a:t>. This means:</a:t>
            </a:r>
          </a:p>
          <a:p>
            <a:pPr lvl="2"/>
            <a:r>
              <a:rPr lang="en-US" dirty="0" smtClean="0"/>
              <a:t>From the original training dataset, we randomly select data points </a:t>
            </a:r>
            <a:r>
              <a:rPr lang="en-US" b="1" dirty="0" smtClean="0"/>
              <a:t>with replacement</a:t>
            </a:r>
            <a:r>
              <a:rPr lang="en-US" dirty="0" smtClean="0"/>
              <a:t>.</a:t>
            </a:r>
          </a:p>
          <a:p>
            <a:pPr lvl="2"/>
            <a:r>
              <a:rPr lang="en-US" b="1" dirty="0" smtClean="0"/>
              <a:t>With replacement</a:t>
            </a:r>
            <a:r>
              <a:rPr lang="en-US" dirty="0" smtClean="0"/>
              <a:t> means that a data point can be selected more than once, so each subset (or bootstrap sample) can contain duplicates.</a:t>
            </a:r>
          </a:p>
          <a:p>
            <a:pPr lvl="2"/>
            <a:r>
              <a:rPr lang="en-US" dirty="0" smtClean="0"/>
              <a:t>This creates several different </a:t>
            </a:r>
            <a:r>
              <a:rPr lang="en-US" b="1" dirty="0" smtClean="0"/>
              <a:t>bootstrap samples</a:t>
            </a:r>
            <a:r>
              <a:rPr lang="en-US" dirty="0" smtClean="0"/>
              <a:t>, which are used to train each individual model.</a:t>
            </a:r>
          </a:p>
          <a:p>
            <a:r>
              <a:rPr lang="en-US" b="1" dirty="0" smtClean="0"/>
              <a:t>How Bagging Works:</a:t>
            </a:r>
          </a:p>
          <a:p>
            <a:r>
              <a:rPr lang="en-US" b="1" dirty="0" smtClean="0"/>
              <a:t>Step 1: Bootstrap Sampling</a:t>
            </a:r>
            <a:r>
              <a:rPr lang="en-US" dirty="0" smtClean="0"/>
              <a:t>:</a:t>
            </a:r>
          </a:p>
          <a:p>
            <a:pPr lvl="1"/>
            <a:r>
              <a:rPr lang="en-US" dirty="0" smtClean="0"/>
              <a:t>The original training data is used to create multiple bootstrapped samples (e.g., B1, B2, B3).</a:t>
            </a:r>
          </a:p>
          <a:p>
            <a:r>
              <a:rPr lang="en-US" b="1" dirty="0" smtClean="0"/>
              <a:t>Step 2: Train Models</a:t>
            </a:r>
            <a:r>
              <a:rPr lang="en-US" dirty="0" smtClean="0"/>
              <a:t>:</a:t>
            </a:r>
          </a:p>
          <a:p>
            <a:pPr lvl="1"/>
            <a:r>
              <a:rPr lang="en-US" dirty="0" smtClean="0"/>
              <a:t>Each bootstrap sample is used to train a separate model (e.g., M1, M2, M3), but the model type remains the same for all.</a:t>
            </a:r>
          </a:p>
          <a:p>
            <a:r>
              <a:rPr lang="en-US" b="1" dirty="0" smtClean="0"/>
              <a:t>Step 3: Aggregation</a:t>
            </a:r>
            <a:r>
              <a:rPr lang="en-US" dirty="0" smtClean="0"/>
              <a:t>:</a:t>
            </a:r>
          </a:p>
          <a:p>
            <a:pPr lvl="1"/>
            <a:r>
              <a:rPr lang="en-US" dirty="0" smtClean="0"/>
              <a:t>After training, the outputs from each model are combined using </a:t>
            </a:r>
            <a:r>
              <a:rPr lang="en-US" b="1" dirty="0" smtClean="0"/>
              <a:t>voting</a:t>
            </a:r>
            <a:r>
              <a:rPr lang="en-US" dirty="0" smtClean="0"/>
              <a:t> (for classification) or </a:t>
            </a:r>
            <a:r>
              <a:rPr lang="en-US" b="1" dirty="0" smtClean="0"/>
              <a:t>averaging</a:t>
            </a:r>
            <a:r>
              <a:rPr lang="en-US" dirty="0" smtClean="0"/>
              <a:t> (for regression). This gives the final prediction or output.</a:t>
            </a:r>
          </a:p>
          <a:p>
            <a:r>
              <a:rPr lang="en-US" b="1" dirty="0" smtClean="0"/>
              <a:t>Why Bagging Works:</a:t>
            </a:r>
          </a:p>
          <a:p>
            <a:r>
              <a:rPr lang="en-US" b="1" dirty="0" smtClean="0"/>
              <a:t>Reduces </a:t>
            </a:r>
            <a:r>
              <a:rPr lang="en-US" b="1" dirty="0" err="1" smtClean="0"/>
              <a:t>Overfitting</a:t>
            </a:r>
            <a:r>
              <a:rPr lang="en-US" dirty="0" smtClean="0"/>
              <a:t>: Since each model is trained on a different subset of the data, bagging reduces the chance that the models will </a:t>
            </a:r>
            <a:r>
              <a:rPr lang="en-US" dirty="0" err="1" smtClean="0"/>
              <a:t>overfit</a:t>
            </a:r>
            <a:r>
              <a:rPr lang="en-US" dirty="0" smtClean="0"/>
              <a:t> (i.e., memorize the data instead of generalizing well).</a:t>
            </a:r>
          </a:p>
          <a:p>
            <a:r>
              <a:rPr lang="en-US" b="1" dirty="0" smtClean="0"/>
              <a:t>Improves Accuracy</a:t>
            </a:r>
            <a:r>
              <a:rPr lang="en-US" dirty="0" smtClean="0"/>
              <a:t>: By aggregating the predictions of multiple models, bagging tends to produce better overall results compared to just using one model trained on the full dataset.</a:t>
            </a:r>
          </a:p>
          <a:p>
            <a:r>
              <a:rPr lang="en-US" b="1" dirty="0" smtClean="0"/>
              <a:t>Visual Summary:</a:t>
            </a:r>
          </a:p>
          <a:p>
            <a:r>
              <a:rPr lang="en-US" dirty="0" smtClean="0"/>
              <a:t>The left side shows the process of taking bootstrap samples (B1, B2, B3) from the original data, training models (M1, M2, M3), and aggregating the results through voting.</a:t>
            </a:r>
          </a:p>
          <a:p>
            <a:r>
              <a:rPr lang="en-US" dirty="0" smtClean="0"/>
              <a:t>The right side illustrates the process of creating different bootstrapped datasets from the original training data.</a:t>
            </a:r>
          </a:p>
          <a:p>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15</a:t>
            </a:fld>
            <a:endParaRPr lang="en-US"/>
          </a:p>
        </p:txBody>
      </p:sp>
    </p:spTree>
    <p:extLst>
      <p:ext uri="{BB962C8B-B14F-4D97-AF65-F5344CB8AC3E}">
        <p14:creationId xmlns:p14="http://schemas.microsoft.com/office/powerpoint/2010/main" val="3068988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What is Bias?</a:t>
            </a:r>
          </a:p>
          <a:p>
            <a:r>
              <a:rPr lang="en-US" b="1" dirty="0" smtClean="0"/>
              <a:t>Bias</a:t>
            </a:r>
            <a:r>
              <a:rPr lang="en-US" dirty="0" smtClean="0"/>
              <a:t> is when a model is too simple to understand the underlying patterns in the data.</a:t>
            </a:r>
          </a:p>
          <a:p>
            <a:r>
              <a:rPr lang="en-US" dirty="0" smtClean="0"/>
              <a:t>Imagine you are trying to predict house prices based only on the number of bedrooms, ignoring other factors like location, size, and condition of the house. Since you're missing out on important details, your model is too simplistic. This is called </a:t>
            </a:r>
            <a:r>
              <a:rPr lang="en-US" b="1" dirty="0" smtClean="0"/>
              <a:t>high bias</a:t>
            </a:r>
            <a:r>
              <a:rPr lang="en-US" dirty="0" smtClean="0"/>
              <a:t>.</a:t>
            </a:r>
          </a:p>
          <a:p>
            <a:r>
              <a:rPr lang="en-US" dirty="0" smtClean="0"/>
              <a:t>A model with high bias will </a:t>
            </a:r>
            <a:r>
              <a:rPr lang="en-US" b="1" dirty="0" err="1" smtClean="0"/>
              <a:t>underfit</a:t>
            </a:r>
            <a:r>
              <a:rPr lang="en-US" dirty="0" smtClean="0"/>
              <a:t>, meaning it will perform poorly both on the training data (the data used to train it) and on new unseen data (testing data). It just doesn't capture the real complexity of the problem.</a:t>
            </a:r>
          </a:p>
          <a:p>
            <a:r>
              <a:rPr lang="en-US" b="1" dirty="0" smtClean="0"/>
              <a:t>Example</a:t>
            </a:r>
            <a:r>
              <a:rPr lang="en-US" dirty="0" smtClean="0"/>
              <a:t>: If you train a very simple model, like a straight line (linear regression), to predict complex patterns, you might get a model that makes a lot of mistakes because it's too simple. That's high bias.</a:t>
            </a:r>
          </a:p>
          <a:p>
            <a:r>
              <a:rPr lang="en-US" b="1" dirty="0" smtClean="0"/>
              <a:t>What is Variance?</a:t>
            </a:r>
          </a:p>
          <a:p>
            <a:r>
              <a:rPr lang="en-US" b="1" dirty="0" smtClean="0"/>
              <a:t>Variance</a:t>
            </a:r>
            <a:r>
              <a:rPr lang="en-US" dirty="0" smtClean="0"/>
              <a:t> is when a model is too focused on the training data, so it doesn't generalize well to new, unseen data.</a:t>
            </a:r>
          </a:p>
          <a:p>
            <a:r>
              <a:rPr lang="en-US" dirty="0" smtClean="0"/>
              <a:t>If you make a model too complex (for example, using a model that tries to follow every single detail in the training data), it might perform well during training but fail when tested on new data. This happens because the model has "memorized" the training data, rather than learning the general patterns.</a:t>
            </a:r>
          </a:p>
          <a:p>
            <a:r>
              <a:rPr lang="en-US" dirty="0" smtClean="0"/>
              <a:t>A model with high variance will </a:t>
            </a:r>
            <a:r>
              <a:rPr lang="en-US" b="1" dirty="0" err="1" smtClean="0"/>
              <a:t>overfit</a:t>
            </a:r>
            <a:r>
              <a:rPr lang="en-US" dirty="0" smtClean="0"/>
              <a:t>, meaning it performs very well on the training data but makes a lot of mistakes when used on new data.</a:t>
            </a:r>
          </a:p>
          <a:p>
            <a:r>
              <a:rPr lang="en-US" b="1" dirty="0" smtClean="0"/>
              <a:t>Example</a:t>
            </a:r>
            <a:r>
              <a:rPr lang="en-US" dirty="0" smtClean="0"/>
              <a:t>: If you train a model with too many layers or too many complex features, it might perfectly match the training data but perform poorly on unseen data. That's high variance.</a:t>
            </a:r>
          </a:p>
          <a:p>
            <a:r>
              <a:rPr lang="en-US" b="1" dirty="0" smtClean="0"/>
              <a:t>The Tradeoff</a:t>
            </a:r>
          </a:p>
          <a:p>
            <a:r>
              <a:rPr lang="en-US" dirty="0" smtClean="0"/>
              <a:t>The </a:t>
            </a:r>
            <a:r>
              <a:rPr lang="en-US" b="1" dirty="0" smtClean="0"/>
              <a:t>Bias-Variance Tradeoff</a:t>
            </a:r>
            <a:r>
              <a:rPr lang="en-US" dirty="0" smtClean="0"/>
              <a:t> is about finding the right balance between a model being too simple (high bias) and too complex (high variance).</a:t>
            </a:r>
          </a:p>
          <a:p>
            <a:pPr lvl="1"/>
            <a:r>
              <a:rPr lang="en-US" b="1" dirty="0" smtClean="0"/>
              <a:t>High bias</a:t>
            </a:r>
            <a:r>
              <a:rPr lang="en-US" dirty="0" smtClean="0"/>
              <a:t>: Model is too simple, </a:t>
            </a:r>
            <a:r>
              <a:rPr lang="en-US" dirty="0" err="1" smtClean="0"/>
              <a:t>underfits</a:t>
            </a:r>
            <a:r>
              <a:rPr lang="en-US" dirty="0" smtClean="0"/>
              <a:t>, and makes errors on both training and testing data.</a:t>
            </a:r>
          </a:p>
          <a:p>
            <a:pPr lvl="1"/>
            <a:r>
              <a:rPr lang="en-US" b="1" dirty="0" smtClean="0"/>
              <a:t>High variance</a:t>
            </a:r>
            <a:r>
              <a:rPr lang="en-US" dirty="0" smtClean="0"/>
              <a:t>: Model is too complex, </a:t>
            </a:r>
            <a:r>
              <a:rPr lang="en-US" dirty="0" err="1" smtClean="0"/>
              <a:t>overfits</a:t>
            </a:r>
            <a:r>
              <a:rPr lang="en-US" dirty="0" smtClean="0"/>
              <a:t> the training data, and performs poorly on new data.</a:t>
            </a:r>
          </a:p>
          <a:p>
            <a:r>
              <a:rPr lang="en-US" b="1" dirty="0" smtClean="0"/>
              <a:t>What we want is a model with:</a:t>
            </a:r>
          </a:p>
          <a:p>
            <a:r>
              <a:rPr lang="en-US" b="1" dirty="0" smtClean="0"/>
              <a:t>Low bias</a:t>
            </a:r>
            <a:r>
              <a:rPr lang="en-US" dirty="0" smtClean="0"/>
              <a:t>: So that it can capture the complexity of the data.</a:t>
            </a:r>
          </a:p>
          <a:p>
            <a:r>
              <a:rPr lang="en-US" b="1" dirty="0" smtClean="0"/>
              <a:t>Low variance</a:t>
            </a:r>
            <a:r>
              <a:rPr lang="en-US" dirty="0" smtClean="0"/>
              <a:t>: So that it can generalize well to new, unseen data.</a:t>
            </a:r>
          </a:p>
          <a:p>
            <a:r>
              <a:rPr lang="en-US" b="1" dirty="0" smtClean="0"/>
              <a:t>Easy Example:</a:t>
            </a:r>
          </a:p>
          <a:p>
            <a:r>
              <a:rPr lang="en-US" dirty="0" smtClean="0"/>
              <a:t>Imagine you’re preparing for an exam:</a:t>
            </a:r>
          </a:p>
          <a:p>
            <a:r>
              <a:rPr lang="en-US" b="1" dirty="0" smtClean="0"/>
              <a:t>High bias</a:t>
            </a:r>
            <a:r>
              <a:rPr lang="en-US" dirty="0" smtClean="0"/>
              <a:t>: You just study one topic in a simple way, ignoring other possible topics. On exam day, you don’t perform well because the test covers much more than what you studied.</a:t>
            </a:r>
          </a:p>
          <a:p>
            <a:r>
              <a:rPr lang="en-US" b="1" dirty="0" smtClean="0"/>
              <a:t>High variance</a:t>
            </a:r>
            <a:r>
              <a:rPr lang="en-US" dirty="0" smtClean="0"/>
              <a:t>: You study all the tiny details from old exams, but when the exam questions change even a little bit, you get confused because you memorized the specifics and not the general concepts.</a:t>
            </a:r>
          </a:p>
          <a:p>
            <a:r>
              <a:rPr lang="en-US" b="1" dirty="0" smtClean="0"/>
              <a:t>Visualizing the Tradeoff:</a:t>
            </a:r>
          </a:p>
          <a:p>
            <a:r>
              <a:rPr lang="en-US" b="1" dirty="0" smtClean="0"/>
              <a:t>Low Bias, High Variance</a:t>
            </a:r>
            <a:r>
              <a:rPr lang="en-US" dirty="0" smtClean="0"/>
              <a:t>: Your model knows a lot about the training data (memorized it) but fails when the test changes (</a:t>
            </a:r>
            <a:r>
              <a:rPr lang="en-US" dirty="0" err="1" smtClean="0"/>
              <a:t>overfit</a:t>
            </a:r>
            <a:r>
              <a:rPr lang="en-US" dirty="0" smtClean="0"/>
              <a:t>).</a:t>
            </a:r>
          </a:p>
          <a:p>
            <a:r>
              <a:rPr lang="en-US" b="1" dirty="0" smtClean="0"/>
              <a:t>High Bias, Low Variance</a:t>
            </a:r>
            <a:r>
              <a:rPr lang="en-US" dirty="0" smtClean="0"/>
              <a:t>: Your model is too simple to perform well on the training data and also fails on new data (</a:t>
            </a:r>
            <a:r>
              <a:rPr lang="en-US" dirty="0" err="1" smtClean="0"/>
              <a:t>underfit</a:t>
            </a:r>
            <a:r>
              <a:rPr lang="en-US" dirty="0" smtClean="0"/>
              <a:t>).</a:t>
            </a:r>
          </a:p>
          <a:p>
            <a:r>
              <a:rPr lang="en-US" b="1" dirty="0" smtClean="0"/>
              <a:t>Goal:</a:t>
            </a:r>
          </a:p>
          <a:p>
            <a:r>
              <a:rPr lang="en-US" dirty="0" smtClean="0"/>
              <a:t>We want to find the sweet spot where the model is just complex enough to learn from the training data without </a:t>
            </a:r>
            <a:r>
              <a:rPr lang="en-US" dirty="0" err="1" smtClean="0"/>
              <a:t>overfitting</a:t>
            </a:r>
            <a:r>
              <a:rPr lang="en-US" dirty="0" smtClean="0"/>
              <a:t> or </a:t>
            </a:r>
            <a:r>
              <a:rPr lang="en-US" dirty="0" err="1" smtClean="0"/>
              <a:t>underfitting</a:t>
            </a:r>
            <a:r>
              <a:rPr lang="en-US" dirty="0" smtClean="0"/>
              <a:t>. This balanced point gives </a:t>
            </a:r>
            <a:r>
              <a:rPr lang="en-US" b="1" dirty="0" smtClean="0"/>
              <a:t>low bias</a:t>
            </a:r>
            <a:r>
              <a:rPr lang="en-US" dirty="0" smtClean="0"/>
              <a:t> and </a:t>
            </a:r>
            <a:r>
              <a:rPr lang="en-US" b="1" dirty="0" smtClean="0"/>
              <a:t>low variance</a:t>
            </a:r>
            <a:r>
              <a:rPr lang="en-US" dirty="0" smtClean="0"/>
              <a:t>.</a:t>
            </a:r>
          </a:p>
          <a:p>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17</a:t>
            </a:fld>
            <a:endParaRPr lang="en-US"/>
          </a:p>
        </p:txBody>
      </p:sp>
    </p:spTree>
    <p:extLst>
      <p:ext uri="{BB962C8B-B14F-4D97-AF65-F5344CB8AC3E}">
        <p14:creationId xmlns:p14="http://schemas.microsoft.com/office/powerpoint/2010/main" val="1590928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What is Bagging?</a:t>
            </a:r>
          </a:p>
          <a:p>
            <a:r>
              <a:rPr lang="en-US" dirty="0" smtClean="0"/>
              <a:t>Bagging is a technique used in machine learning to </a:t>
            </a:r>
            <a:r>
              <a:rPr lang="en-US" b="1" dirty="0" smtClean="0"/>
              <a:t>reduce the variance</a:t>
            </a:r>
            <a:r>
              <a:rPr lang="en-US" dirty="0" smtClean="0"/>
              <a:t> of a model, meaning it helps prevent </a:t>
            </a:r>
            <a:r>
              <a:rPr lang="en-US" dirty="0" err="1" smtClean="0"/>
              <a:t>overfitting</a:t>
            </a:r>
            <a:r>
              <a:rPr lang="en-US" dirty="0" smtClean="0"/>
              <a:t>. </a:t>
            </a:r>
            <a:r>
              <a:rPr lang="en-US" dirty="0" err="1" smtClean="0"/>
              <a:t>Overfitting</a:t>
            </a:r>
            <a:r>
              <a:rPr lang="en-US" dirty="0" smtClean="0"/>
              <a:t> occurs when a model learns too much from the training data, capturing not only the general patterns but also the noise (randomness) in the data, which can make it perform poorly on new, unseen data.</a:t>
            </a:r>
          </a:p>
          <a:p>
            <a:r>
              <a:rPr lang="en-US" b="1" dirty="0" smtClean="0"/>
              <a:t>Why Use Bagging?</a:t>
            </a:r>
          </a:p>
          <a:p>
            <a:r>
              <a:rPr lang="en-US" dirty="0" smtClean="0"/>
              <a:t>Bagging is used to tackle </a:t>
            </a:r>
            <a:r>
              <a:rPr lang="en-US" b="1" dirty="0" smtClean="0"/>
              <a:t>high variance</a:t>
            </a:r>
            <a:r>
              <a:rPr lang="en-US" dirty="0" smtClean="0"/>
              <a:t> models. High variance models are complex models that tend to </a:t>
            </a:r>
            <a:r>
              <a:rPr lang="en-US" dirty="0" err="1" smtClean="0"/>
              <a:t>overfit</a:t>
            </a:r>
            <a:r>
              <a:rPr lang="en-US" dirty="0" smtClean="0"/>
              <a:t> the training data. Common examples of high variance models include:</a:t>
            </a:r>
          </a:p>
          <a:p>
            <a:r>
              <a:rPr lang="en-US" b="1" dirty="0" smtClean="0"/>
              <a:t>Decision Trees</a:t>
            </a:r>
            <a:endParaRPr lang="en-US" dirty="0" smtClean="0"/>
          </a:p>
          <a:p>
            <a:r>
              <a:rPr lang="en-US" b="1" dirty="0" smtClean="0"/>
              <a:t>Support Vector Machines (SVM)</a:t>
            </a:r>
            <a:endParaRPr lang="en-US" dirty="0" smtClean="0"/>
          </a:p>
          <a:p>
            <a:r>
              <a:rPr lang="en-US" b="1" dirty="0" smtClean="0"/>
              <a:t>k-Nearest Neighbors (KNN)</a:t>
            </a:r>
            <a:endParaRPr lang="en-US" dirty="0" smtClean="0"/>
          </a:p>
          <a:p>
            <a:r>
              <a:rPr lang="en-US" dirty="0" smtClean="0"/>
              <a:t>These models usually have low bias (meaning they can capture the patterns in the data well), but they are prone to </a:t>
            </a:r>
            <a:r>
              <a:rPr lang="en-US" dirty="0" err="1" smtClean="0"/>
              <a:t>overfitting</a:t>
            </a:r>
            <a:r>
              <a:rPr lang="en-US" dirty="0" smtClean="0"/>
              <a:t>, so they tend to have high variance. Bagging aims to </a:t>
            </a:r>
            <a:r>
              <a:rPr lang="en-US" b="1" dirty="0" smtClean="0"/>
              <a:t>reduce the variance</a:t>
            </a:r>
            <a:r>
              <a:rPr lang="en-US" dirty="0" smtClean="0"/>
              <a:t> of these models, making them perform better on unseen data.</a:t>
            </a:r>
          </a:p>
          <a:p>
            <a:r>
              <a:rPr lang="en-US" b="1" dirty="0" smtClean="0"/>
              <a:t>How Bagging Works:</a:t>
            </a:r>
          </a:p>
          <a:p>
            <a:r>
              <a:rPr lang="en-US" b="1" dirty="0" smtClean="0"/>
              <a:t>Multiple Models</a:t>
            </a:r>
            <a:r>
              <a:rPr lang="en-US" dirty="0" smtClean="0"/>
              <a:t>: In Bagging, we train multiple versions of the same model (e.g., multiple decision trees) on different random subsets of the training data.</a:t>
            </a:r>
          </a:p>
          <a:p>
            <a:r>
              <a:rPr lang="en-US" b="1" dirty="0" smtClean="0"/>
              <a:t>Aggregation</a:t>
            </a:r>
            <a:r>
              <a:rPr lang="en-US" dirty="0" smtClean="0"/>
              <a:t>: After training, we combine the predictions from all these models to get the final prediction (for classification, this is often done by voting; for regression, it's by averaging the predictions).</a:t>
            </a:r>
          </a:p>
          <a:p>
            <a:r>
              <a:rPr lang="en-US" b="1" dirty="0" smtClean="0"/>
              <a:t>Impact</a:t>
            </a:r>
            <a:r>
              <a:rPr lang="en-US" dirty="0" smtClean="0"/>
              <a:t>: Each data point only affects some of the models, not all. So, when we combine the models, the final result is more stable and doesn't change too much. This helps the model work better on new data and avoids </a:t>
            </a:r>
            <a:r>
              <a:rPr lang="en-US" dirty="0" err="1" smtClean="0"/>
              <a:t>overfitting</a:t>
            </a:r>
            <a:r>
              <a:rPr lang="en-US" dirty="0" smtClean="0"/>
              <a:t>.</a:t>
            </a:r>
          </a:p>
          <a:p>
            <a:r>
              <a:rPr lang="en-US" b="1" dirty="0" smtClean="0"/>
              <a:t>Example to Understand:</a:t>
            </a:r>
          </a:p>
          <a:p>
            <a:r>
              <a:rPr lang="en-US" dirty="0" smtClean="0"/>
              <a:t>Imagine you are asking multiple friends for advice on where to eat dinner. Each friend has their own opinion (representing a different model trained on a different subset of data). If you go with the majority vote (aggregating their opinions), your decision will be less affected by any one friend's extreme preference, and you'll likely make a better overall decision.</a:t>
            </a:r>
          </a:p>
          <a:p>
            <a:r>
              <a:rPr lang="en-US" b="1" dirty="0" smtClean="0"/>
              <a:t>Key Takeaways:</a:t>
            </a:r>
          </a:p>
          <a:p>
            <a:r>
              <a:rPr lang="en-US" dirty="0" smtClean="0"/>
              <a:t>Bagging </a:t>
            </a:r>
            <a:r>
              <a:rPr lang="en-US" b="1" dirty="0" smtClean="0"/>
              <a:t>reduces variance</a:t>
            </a:r>
            <a:r>
              <a:rPr lang="en-US" dirty="0" smtClean="0"/>
              <a:t> by averaging the results of many models, which reduces </a:t>
            </a:r>
            <a:r>
              <a:rPr lang="en-US" dirty="0" err="1" smtClean="0"/>
              <a:t>overfitting</a:t>
            </a:r>
            <a:r>
              <a:rPr lang="en-US" dirty="0" smtClean="0"/>
              <a:t>.</a:t>
            </a:r>
          </a:p>
          <a:p>
            <a:r>
              <a:rPr lang="en-US" dirty="0" smtClean="0"/>
              <a:t>It works well on models that are prone to high variance, like Decision Trees and KNN.</a:t>
            </a:r>
          </a:p>
          <a:p>
            <a:r>
              <a:rPr lang="en-US" dirty="0" smtClean="0"/>
              <a:t>By dividing the data's impact across multiple models, the final model shows </a:t>
            </a:r>
            <a:r>
              <a:rPr lang="en-US" b="1" dirty="0" smtClean="0"/>
              <a:t>less change in behavior</a:t>
            </a:r>
            <a:r>
              <a:rPr lang="en-US" dirty="0" smtClean="0"/>
              <a:t> when the data changes, meaning it generalizes better to new data.</a:t>
            </a:r>
          </a:p>
          <a:p>
            <a:r>
              <a:rPr lang="en-US" b="1" dirty="0" smtClean="0"/>
              <a:t>Real-world Use of Bagging:</a:t>
            </a:r>
          </a:p>
          <a:p>
            <a:r>
              <a:rPr lang="en-US" dirty="0" smtClean="0"/>
              <a:t>A popular implementation of Bagging is </a:t>
            </a:r>
            <a:r>
              <a:rPr lang="en-US" b="1" dirty="0" smtClean="0"/>
              <a:t>Random Forest</a:t>
            </a:r>
            <a:r>
              <a:rPr lang="en-US" dirty="0" smtClean="0"/>
              <a:t>, where multiple decision trees are trained on different parts of the data, and the results are combined to improve accuracy and stability.</a:t>
            </a:r>
          </a:p>
          <a:p>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20</a:t>
            </a:fld>
            <a:endParaRPr lang="en-US"/>
          </a:p>
        </p:txBody>
      </p:sp>
    </p:spTree>
    <p:extLst>
      <p:ext uri="{BB962C8B-B14F-4D97-AF65-F5344CB8AC3E}">
        <p14:creationId xmlns:p14="http://schemas.microsoft.com/office/powerpoint/2010/main" val="2158183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Step 1:</a:t>
            </a:r>
          </a:p>
          <a:p>
            <a:r>
              <a:rPr lang="en-US" b="1" dirty="0" smtClean="0"/>
              <a:t>Base Estimators -&gt; Decision Trees</a:t>
            </a:r>
          </a:p>
          <a:p>
            <a:r>
              <a:rPr lang="en-US" b="1" dirty="0" smtClean="0"/>
              <a:t>Base Estimators</a:t>
            </a:r>
            <a:r>
              <a:rPr lang="en-US" dirty="0" smtClean="0"/>
              <a:t>: These are the basic models that will be used in Bagging or Random Forest. In this case, the base model is a </a:t>
            </a:r>
            <a:r>
              <a:rPr lang="en-US" b="1" dirty="0" smtClean="0"/>
              <a:t>Decision Tree</a:t>
            </a:r>
            <a:r>
              <a:rPr lang="en-US" dirty="0" smtClean="0"/>
              <a:t>.</a:t>
            </a:r>
          </a:p>
          <a:p>
            <a:pPr lvl="1"/>
            <a:r>
              <a:rPr lang="en-US" dirty="0" smtClean="0"/>
              <a:t>A Decision Tree is a type of model that makes decisions by splitting the data based on features (for example, splitting data by age or salary range) until it can make a final decision (like classifying something as "yes" or "no").</a:t>
            </a:r>
          </a:p>
          <a:p>
            <a:r>
              <a:rPr lang="en-US" b="1" dirty="0" smtClean="0"/>
              <a:t>Step 2:</a:t>
            </a:r>
          </a:p>
          <a:p>
            <a:r>
              <a:rPr lang="en-US" b="1" dirty="0" smtClean="0"/>
              <a:t>Sampling</a:t>
            </a:r>
          </a:p>
          <a:p>
            <a:r>
              <a:rPr lang="en-US" dirty="0" smtClean="0"/>
              <a:t>Sampling is the key part of Bagging or Random Forests. It involves creating multiple versions of the training data by </a:t>
            </a:r>
            <a:r>
              <a:rPr lang="en-US" b="1" dirty="0" smtClean="0"/>
              <a:t>randomly selecting</a:t>
            </a:r>
            <a:r>
              <a:rPr lang="en-US" dirty="0" smtClean="0"/>
              <a:t> subsets of data.</a:t>
            </a:r>
          </a:p>
          <a:p>
            <a:r>
              <a:rPr lang="en-US" b="1" dirty="0" smtClean="0"/>
              <a:t>Row Sampling (Bootstrapping)</a:t>
            </a:r>
            <a:r>
              <a:rPr lang="en-US" dirty="0" smtClean="0"/>
              <a:t>:</a:t>
            </a:r>
          </a:p>
          <a:p>
            <a:pPr lvl="1"/>
            <a:r>
              <a:rPr lang="en-US" dirty="0" smtClean="0"/>
              <a:t>Here, we </a:t>
            </a:r>
            <a:r>
              <a:rPr lang="en-US" b="1" dirty="0" smtClean="0"/>
              <a:t>randomly select rows</a:t>
            </a:r>
            <a:r>
              <a:rPr lang="en-US" dirty="0" smtClean="0"/>
              <a:t> (examples from the dataset) to create different training sets for each tree. Some data points might appear more than once, and some might not appear at all. This is called </a:t>
            </a:r>
            <a:r>
              <a:rPr lang="en-US" b="1" dirty="0" smtClean="0"/>
              <a:t>sampling with replacement</a:t>
            </a:r>
            <a:r>
              <a:rPr lang="en-US" dirty="0" smtClean="0"/>
              <a:t>.</a:t>
            </a:r>
          </a:p>
          <a:p>
            <a:pPr lvl="1"/>
            <a:r>
              <a:rPr lang="en-US" dirty="0" smtClean="0"/>
              <a:t>Think of it like randomly picking students from a class to form study groups. Some students might be in more than one group, while some may not be picked in a particular group.</a:t>
            </a:r>
          </a:p>
          <a:p>
            <a:r>
              <a:rPr lang="en-US" b="1" dirty="0" smtClean="0"/>
              <a:t>Feature Sampling</a:t>
            </a:r>
            <a:r>
              <a:rPr lang="en-US" dirty="0" smtClean="0"/>
              <a:t> (Used in Random Forests):</a:t>
            </a:r>
          </a:p>
          <a:p>
            <a:pPr lvl="1"/>
            <a:r>
              <a:rPr lang="en-US" dirty="0" smtClean="0"/>
              <a:t>At each decision point in the tree (each "node"), instead of looking at all possible features (age, salary, etc.), we </a:t>
            </a:r>
            <a:r>
              <a:rPr lang="en-US" b="1" dirty="0" smtClean="0"/>
              <a:t>randomly pick a few features</a:t>
            </a:r>
            <a:r>
              <a:rPr lang="en-US" dirty="0" smtClean="0"/>
              <a:t> to decide the best split.</a:t>
            </a:r>
          </a:p>
          <a:p>
            <a:pPr lvl="1"/>
            <a:r>
              <a:rPr lang="en-US" dirty="0" smtClean="0"/>
              <a:t>This adds randomness to the model, making the final result more robust by reducing </a:t>
            </a:r>
            <a:r>
              <a:rPr lang="en-US" dirty="0" err="1" smtClean="0"/>
              <a:t>overfitting</a:t>
            </a:r>
            <a:r>
              <a:rPr lang="en-US" dirty="0" smtClean="0"/>
              <a:t>.</a:t>
            </a:r>
          </a:p>
          <a:p>
            <a:r>
              <a:rPr lang="en-US" b="1" dirty="0" smtClean="0"/>
              <a:t>Step 3:</a:t>
            </a:r>
          </a:p>
          <a:p>
            <a:r>
              <a:rPr lang="en-US" b="1" dirty="0" smtClean="0"/>
              <a:t>Classification -&gt; Majority Voting</a:t>
            </a:r>
          </a:p>
          <a:p>
            <a:r>
              <a:rPr lang="en-US" dirty="0" smtClean="0"/>
              <a:t>Once we’ve trained multiple decision trees (each on a different subset of the data), we need to combine their predictions.</a:t>
            </a:r>
          </a:p>
          <a:p>
            <a:r>
              <a:rPr lang="en-US" dirty="0" smtClean="0"/>
              <a:t>For </a:t>
            </a:r>
            <a:r>
              <a:rPr lang="en-US" b="1" dirty="0" smtClean="0"/>
              <a:t>classification</a:t>
            </a:r>
            <a:r>
              <a:rPr lang="en-US" dirty="0" smtClean="0"/>
              <a:t> tasks (where the output is a label, like "spam" or "not spam"), we use </a:t>
            </a:r>
            <a:r>
              <a:rPr lang="en-US" b="1" dirty="0" smtClean="0"/>
              <a:t>majority voting</a:t>
            </a:r>
            <a:r>
              <a:rPr lang="en-US" dirty="0" smtClean="0"/>
              <a:t>.</a:t>
            </a:r>
          </a:p>
          <a:p>
            <a:pPr lvl="1"/>
            <a:r>
              <a:rPr lang="en-US" dirty="0" smtClean="0"/>
              <a:t>This means each tree gives a prediction, and the final result is the one that gets the most votes from all the trees.</a:t>
            </a:r>
          </a:p>
          <a:p>
            <a:pPr lvl="1"/>
            <a:r>
              <a:rPr lang="en-US" dirty="0" smtClean="0"/>
              <a:t>For example, if 3 out of 5 trees say “spam” and 2 say “not spam,” the final decision will be “spam” because it has the majority vote.</a:t>
            </a:r>
          </a:p>
          <a:p>
            <a:r>
              <a:rPr lang="en-US" b="1" dirty="0" smtClean="0"/>
              <a:t>Summary:</a:t>
            </a:r>
          </a:p>
          <a:p>
            <a:r>
              <a:rPr lang="en-US" b="1" dirty="0" smtClean="0"/>
              <a:t>Step 1</a:t>
            </a:r>
            <a:r>
              <a:rPr lang="en-US" dirty="0" smtClean="0"/>
              <a:t>: Start with multiple </a:t>
            </a:r>
            <a:r>
              <a:rPr lang="en-US" b="1" dirty="0" smtClean="0"/>
              <a:t>Decision Trees</a:t>
            </a:r>
            <a:r>
              <a:rPr lang="en-US" dirty="0" smtClean="0"/>
              <a:t> as base models.</a:t>
            </a:r>
          </a:p>
          <a:p>
            <a:r>
              <a:rPr lang="en-US" b="1" dirty="0" smtClean="0"/>
              <a:t>Step 2</a:t>
            </a:r>
            <a:r>
              <a:rPr lang="en-US" dirty="0" smtClean="0"/>
              <a:t>: Use </a:t>
            </a:r>
            <a:r>
              <a:rPr lang="en-US" b="1" dirty="0" smtClean="0"/>
              <a:t>random sampling</a:t>
            </a:r>
            <a:r>
              <a:rPr lang="en-US" dirty="0" smtClean="0"/>
              <a:t> to create different training sets and build trees on these. You can either sample rows (data points) or features (variables) to make each tree a little different.</a:t>
            </a:r>
          </a:p>
          <a:p>
            <a:r>
              <a:rPr lang="en-US" b="1" dirty="0" smtClean="0"/>
              <a:t>Step 3</a:t>
            </a:r>
            <a:r>
              <a:rPr lang="en-US" dirty="0" smtClean="0"/>
              <a:t>: Once all the trees are built, we combine their predictions. For classification, we use </a:t>
            </a:r>
            <a:r>
              <a:rPr lang="en-US" b="1" dirty="0" smtClean="0"/>
              <a:t>majority voting</a:t>
            </a:r>
            <a:r>
              <a:rPr lang="en-US" dirty="0" smtClean="0"/>
              <a:t> to decide the final result.</a:t>
            </a:r>
          </a:p>
          <a:p>
            <a:r>
              <a:rPr lang="en-US" dirty="0" smtClean="0"/>
              <a:t>This process is key to improving the performance and stability of models like </a:t>
            </a:r>
            <a:r>
              <a:rPr lang="en-US" b="1" dirty="0" smtClean="0"/>
              <a:t>Random Forests</a:t>
            </a:r>
            <a:r>
              <a:rPr lang="en-US" dirty="0" smtClean="0"/>
              <a:t>.</a:t>
            </a:r>
          </a:p>
          <a:p>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22</a:t>
            </a:fld>
            <a:endParaRPr lang="en-US"/>
          </a:p>
        </p:txBody>
      </p:sp>
    </p:spTree>
    <p:extLst>
      <p:ext uri="{BB962C8B-B14F-4D97-AF65-F5344CB8AC3E}">
        <p14:creationId xmlns:p14="http://schemas.microsoft.com/office/powerpoint/2010/main" val="2210701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Instead of training a single model with all available features, feature bagging involves training multiple models (like decision trees) using </a:t>
            </a:r>
            <a:r>
              <a:rPr lang="en-US" sz="1200" b="1" i="0" u="none" strike="noStrike" kern="1200" dirty="0" smtClean="0">
                <a:solidFill>
                  <a:schemeClr val="tx1"/>
                </a:solidFill>
                <a:effectLst/>
                <a:latin typeface="+mn-lt"/>
                <a:ea typeface="+mn-ea"/>
                <a:cs typeface="+mn-cs"/>
              </a:rPr>
              <a:t>random subsets of features</a:t>
            </a:r>
            <a:r>
              <a:rPr lang="en-US" sz="1200" b="0" i="0" u="none" strike="noStrike" kern="1200" dirty="0" smtClean="0">
                <a:solidFill>
                  <a:schemeClr val="tx1"/>
                </a:solidFill>
                <a:effectLst/>
                <a:latin typeface="+mn-lt"/>
                <a:ea typeface="+mn-ea"/>
                <a:cs typeface="+mn-cs"/>
              </a:rPr>
              <a:t>.</a:t>
            </a:r>
            <a:endParaRPr lang="en-US" b="0" dirty="0" smtClean="0">
              <a:effectLst/>
            </a:endParaRPr>
          </a:p>
          <a:p>
            <a:pPr rtl="0"/>
            <a:r>
              <a:rPr lang="en-US" sz="1200" b="0" i="0" u="none" strike="noStrike" kern="1200" dirty="0" smtClean="0">
                <a:solidFill>
                  <a:schemeClr val="tx1"/>
                </a:solidFill>
                <a:effectLst/>
                <a:latin typeface="+mn-lt"/>
                <a:ea typeface="+mn-ea"/>
                <a:cs typeface="+mn-cs"/>
              </a:rPr>
              <a:t>Each model is trained on a different subset of features, meaning each tree sees a slightly different view of the data.</a:t>
            </a:r>
            <a:endParaRPr lang="en-US" b="0" dirty="0" smtClean="0">
              <a:effectLst/>
            </a:endParaRPr>
          </a:p>
          <a:p>
            <a:pPr rtl="0"/>
            <a:r>
              <a:rPr lang="en-US" b="0" dirty="0" smtClean="0">
                <a:effectLst/>
              </a:rPr>
              <a:t/>
            </a:r>
            <a:br>
              <a:rPr lang="en-US" b="0" dirty="0" smtClean="0">
                <a:effectLst/>
              </a:rPr>
            </a:br>
            <a:r>
              <a:rPr lang="en-US" sz="1200" b="0" i="0" u="none" strike="noStrike" kern="1200" dirty="0" smtClean="0">
                <a:solidFill>
                  <a:schemeClr val="tx1"/>
                </a:solidFill>
                <a:effectLst/>
                <a:latin typeface="+mn-lt"/>
                <a:ea typeface="+mn-ea"/>
                <a:cs typeface="+mn-cs"/>
              </a:rPr>
              <a:t>The models trained on feature subsets will each learn different patterns, some of which may complement or correct each other.</a:t>
            </a:r>
            <a:endParaRPr lang="en-US" b="0" dirty="0" smtClean="0">
              <a:effectLst/>
            </a:endParaRPr>
          </a:p>
          <a:p>
            <a:pPr rtl="0"/>
            <a:r>
              <a:rPr lang="en-US" sz="1200" b="0" i="0" u="none" strike="noStrike" kern="1200" dirty="0" smtClean="0">
                <a:solidFill>
                  <a:schemeClr val="tx1"/>
                </a:solidFill>
                <a:effectLst/>
                <a:latin typeface="+mn-lt"/>
                <a:ea typeface="+mn-ea"/>
                <a:cs typeface="+mn-cs"/>
              </a:rPr>
              <a:t>During prediction, the outputs from multiple models are </a:t>
            </a:r>
            <a:r>
              <a:rPr lang="en-US" sz="1200" b="1" i="0" u="none" strike="noStrike" kern="1200" dirty="0" smtClean="0">
                <a:solidFill>
                  <a:schemeClr val="tx1"/>
                </a:solidFill>
                <a:effectLst/>
                <a:latin typeface="+mn-lt"/>
                <a:ea typeface="+mn-ea"/>
                <a:cs typeface="+mn-cs"/>
              </a:rPr>
              <a:t>combined</a:t>
            </a:r>
            <a:r>
              <a:rPr lang="en-US" sz="1200" b="0" i="0" u="none" strike="noStrike" kern="1200" dirty="0" smtClean="0">
                <a:solidFill>
                  <a:schemeClr val="tx1"/>
                </a:solidFill>
                <a:effectLst/>
                <a:latin typeface="+mn-lt"/>
                <a:ea typeface="+mn-ea"/>
                <a:cs typeface="+mn-cs"/>
              </a:rPr>
              <a:t> (e.g., by averaging in regression or voting in classification). This ensemble approach helps reduce the variance and avoids reliance on any single, possibly </a:t>
            </a:r>
            <a:r>
              <a:rPr lang="en-US" sz="1200" b="0" i="0" u="none" strike="noStrike" kern="1200" dirty="0" err="1" smtClean="0">
                <a:solidFill>
                  <a:schemeClr val="tx1"/>
                </a:solidFill>
                <a:effectLst/>
                <a:latin typeface="+mn-lt"/>
                <a:ea typeface="+mn-ea"/>
                <a:cs typeface="+mn-cs"/>
              </a:rPr>
              <a:t>overfitted</a:t>
            </a:r>
            <a:r>
              <a:rPr lang="en-US" sz="1200" b="0" i="0" u="none" strike="noStrike" kern="1200" dirty="0" smtClean="0">
                <a:solidFill>
                  <a:schemeClr val="tx1"/>
                </a:solidFill>
                <a:effectLst/>
                <a:latin typeface="+mn-lt"/>
                <a:ea typeface="+mn-ea"/>
                <a:cs typeface="+mn-cs"/>
              </a:rPr>
              <a:t> model.</a:t>
            </a:r>
            <a:endParaRPr lang="en-US" b="0" dirty="0" smtClean="0">
              <a:effectLst/>
            </a:endParaRPr>
          </a:p>
          <a:p>
            <a:pPr rtl="0"/>
            <a:r>
              <a:rPr lang="en-US" sz="1200" b="0" i="0" u="none" strike="noStrike" kern="1200" dirty="0" smtClean="0">
                <a:solidFill>
                  <a:schemeClr val="tx1"/>
                </a:solidFill>
                <a:effectLst/>
                <a:latin typeface="+mn-lt"/>
                <a:ea typeface="+mn-ea"/>
                <a:cs typeface="+mn-cs"/>
              </a:rPr>
              <a:t>Even if individual models are </a:t>
            </a:r>
            <a:r>
              <a:rPr lang="en-US" sz="1200" b="0" i="0" u="none" strike="noStrike" kern="1200" dirty="0" err="1" smtClean="0">
                <a:solidFill>
                  <a:schemeClr val="tx1"/>
                </a:solidFill>
                <a:effectLst/>
                <a:latin typeface="+mn-lt"/>
                <a:ea typeface="+mn-ea"/>
                <a:cs typeface="+mn-cs"/>
              </a:rPr>
              <a:t>overfitted</a:t>
            </a:r>
            <a:r>
              <a:rPr lang="en-US" sz="1200" b="0" i="0" u="none" strike="noStrike" kern="1200" dirty="0" smtClean="0">
                <a:solidFill>
                  <a:schemeClr val="tx1"/>
                </a:solidFill>
                <a:effectLst/>
                <a:latin typeface="+mn-lt"/>
                <a:ea typeface="+mn-ea"/>
                <a:cs typeface="+mn-cs"/>
              </a:rPr>
              <a:t> to their specific feature subsets, their combined prediction is more robust and generalizable.</a:t>
            </a:r>
            <a:endParaRPr lang="en-US" b="0" dirty="0" smtClean="0">
              <a:effectLst/>
            </a:endParaRPr>
          </a:p>
          <a:p>
            <a:r>
              <a:rPr lang="en-US" smtClean="0"/>
              <a:t/>
            </a:r>
            <a:br>
              <a:rPr lang="en-US" smtClean="0"/>
            </a:br>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23</a:t>
            </a:fld>
            <a:endParaRPr lang="en-US"/>
          </a:p>
        </p:txBody>
      </p:sp>
    </p:spTree>
    <p:extLst>
      <p:ext uri="{BB962C8B-B14F-4D97-AF65-F5344CB8AC3E}">
        <p14:creationId xmlns:p14="http://schemas.microsoft.com/office/powerpoint/2010/main" val="2598664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(1,3),(4,5),(1,4)</a:t>
            </a:r>
            <a:r>
              <a:rPr lang="en-US" baseline="0" dirty="0" smtClean="0"/>
              <a:t> are data.</a:t>
            </a:r>
            <a:endParaRPr lang="en-US" dirty="0"/>
          </a:p>
        </p:txBody>
      </p:sp>
      <p:sp>
        <p:nvSpPr>
          <p:cNvPr id="4" name="Slide Number Placeholder 3"/>
          <p:cNvSpPr>
            <a:spLocks noGrp="1"/>
          </p:cNvSpPr>
          <p:nvPr>
            <p:ph type="sldNum" sz="quarter" idx="10"/>
          </p:nvPr>
        </p:nvSpPr>
        <p:spPr/>
        <p:txBody>
          <a:bodyPr/>
          <a:lstStyle/>
          <a:p>
            <a:fld id="{634DA34E-31FA-4215-856F-B3EDB1891228}" type="slidenum">
              <a:rPr lang="en-US" smtClean="0"/>
              <a:t>24</a:t>
            </a:fld>
            <a:endParaRPr lang="en-US"/>
          </a:p>
        </p:txBody>
      </p:sp>
    </p:spTree>
    <p:extLst>
      <p:ext uri="{BB962C8B-B14F-4D97-AF65-F5344CB8AC3E}">
        <p14:creationId xmlns:p14="http://schemas.microsoft.com/office/powerpoint/2010/main" val="3504582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ABEBF6-CCEE-7133-428B-80DE60D129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6E91E092-946C-E49D-20E0-7442644909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4E358307-447A-CEFA-E353-513FF41EFDCD}"/>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A5B824FA-9F98-CEF4-381E-E8F712BD40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CD019C4-7FDC-8B08-2D31-CC901BD11A23}"/>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473735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25F28F-CAE1-4942-017F-81800F6EE7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A5FBB54-F16F-5561-6C3D-FEDDBE6933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0F5803F-61FF-91BD-3FFF-2B3BC4615E76}"/>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C26F40F8-75CC-1790-8425-132EF9040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926E42D-BB13-2D20-D5A4-5E71F7B91C12}"/>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056151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C2B655-5ED4-B4EA-55A6-249452A29F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C8DC6077-20C9-B22A-526E-06A0C52CA4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A5AA3F8-0FB5-8DFE-572D-410F31E127C8}"/>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83F4C6C7-4905-E427-C56B-56E41C20E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EF53032-3025-F7DE-CA90-CD95E37A1B43}"/>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19235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737A96-45F2-8CDB-87C6-6667B385A9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B528CBD-72D7-29B6-8F16-C8F25FCDA2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BBE6CBB0-46EA-6C3E-B546-6904F005D5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C1D104DB-9ACB-EE08-2FA9-3ED8BD8713E2}"/>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6" name="Footer Placeholder 5">
            <a:extLst>
              <a:ext uri="{FF2B5EF4-FFF2-40B4-BE49-F238E27FC236}">
                <a16:creationId xmlns:a16="http://schemas.microsoft.com/office/drawing/2014/main" xmlns="" id="{BD98A4A4-3604-6AC1-3713-40277F9B98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A62B7A8A-53FE-99AC-842D-CA2BED4F2690}"/>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27628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F76CF4-A831-B43C-0807-833CCDE8B1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53D7DCA9-7681-6CE6-2B7D-C46C0E7D9B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FB003DE-375A-7C42-5038-10676D52F0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52DDA9F-DC89-1048-F8FD-E5CC7D4870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F7A542D-9CA1-0A4E-0B70-2BC43CAA38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68B61D1-7D13-1095-3075-853B9871661D}"/>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8" name="Footer Placeholder 7">
            <a:extLst>
              <a:ext uri="{FF2B5EF4-FFF2-40B4-BE49-F238E27FC236}">
                <a16:creationId xmlns:a16="http://schemas.microsoft.com/office/drawing/2014/main" xmlns="" id="{8F572D27-C062-5112-17B4-0CF9ED89ED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2635538B-44CA-9812-985B-B6AFABC8700C}"/>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78556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97DE51-1C7C-0620-60CD-52929EC9C3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A2C7314A-B9FE-E28F-7A28-84A015367D79}"/>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4" name="Footer Placeholder 3">
            <a:extLst>
              <a:ext uri="{FF2B5EF4-FFF2-40B4-BE49-F238E27FC236}">
                <a16:creationId xmlns:a16="http://schemas.microsoft.com/office/drawing/2014/main" xmlns="" id="{388BEF77-B252-E444-EA97-6977FB1307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5ADA495B-1579-C991-ACAF-2BD4A7E129E0}"/>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4227213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1D7569F-475D-967E-E517-392767F8C008}"/>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3" name="Footer Placeholder 2">
            <a:extLst>
              <a:ext uri="{FF2B5EF4-FFF2-40B4-BE49-F238E27FC236}">
                <a16:creationId xmlns:a16="http://schemas.microsoft.com/office/drawing/2014/main" xmlns="" id="{06D378F8-2972-94B2-B59F-DA8071F84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74E65EEB-88ED-3455-0B35-00DC1CDE05CB}"/>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1639983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D9A6DA-2813-D217-3535-EE3C793439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C9E565C-8A1A-8226-9E2A-2417C3FC13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B3A6288E-417A-1400-960B-461631BAE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DBFCEB7-3633-BAC3-7250-DC858BE0613F}"/>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6" name="Footer Placeholder 5">
            <a:extLst>
              <a:ext uri="{FF2B5EF4-FFF2-40B4-BE49-F238E27FC236}">
                <a16:creationId xmlns:a16="http://schemas.microsoft.com/office/drawing/2014/main" xmlns="" id="{0AED4D85-0847-A11B-3BE8-155B7EBC2C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B1D63D61-3B07-B5B7-8020-45535E374A03}"/>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12577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7A47FB-6CBE-29FC-5296-DBA1091E12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CC71E7FF-89CA-6DC6-8A61-426AF695AB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CC6855ED-86AE-622A-13AF-356D5D2691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BB7A9FB-A7A2-F9F7-030E-72BBABA76DA1}"/>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6" name="Footer Placeholder 5">
            <a:extLst>
              <a:ext uri="{FF2B5EF4-FFF2-40B4-BE49-F238E27FC236}">
                <a16:creationId xmlns:a16="http://schemas.microsoft.com/office/drawing/2014/main" xmlns="" id="{20FD79EB-417A-C7E0-49B8-D7AA537614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2DBAE0C-6F37-57DE-D044-C0CFF3C83946}"/>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410825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D1877B-F9D3-F2CB-A55E-B481838A8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D8934E4B-ECAE-1B4A-BAB5-722EE7FDE9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9EA9B50-212A-EA46-41A7-1B9CB343BF9B}"/>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9A448BF4-4923-F2CD-36D2-B9CAE167FC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AC5D363-7EFB-2853-09CD-FEF53BFB8111}"/>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543797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CD4834D-66D9-1538-2F82-75BA31E274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1CDA176F-48B7-48FF-5F4A-116EE77C14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7F92448-6633-E5A8-55EF-36145AFA141D}"/>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6F6190D9-75F0-C91E-3174-0F11536065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471AD56-938D-4FE4-076C-9CDBABDE72FC}"/>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853699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1C4BC2A-694C-34DE-E00D-81B366B3D9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2E0D3285-D902-9C7B-53EF-50AC7E0F0D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8AFBDDF-E0C7-FB68-DCDD-30C90A21A9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2D0C0CF3-AB81-1083-4691-292B1D038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635AA741-B990-BA38-691D-7C945FE49A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346625-0D45-4928-83BF-654EB4A53E21}" type="slidenum">
              <a:rPr lang="en-US" smtClean="0"/>
              <a:t>‹#›</a:t>
            </a:fld>
            <a:endParaRPr lang="en-US"/>
          </a:p>
        </p:txBody>
      </p:sp>
    </p:spTree>
    <p:extLst>
      <p:ext uri="{BB962C8B-B14F-4D97-AF65-F5344CB8AC3E}">
        <p14:creationId xmlns:p14="http://schemas.microsoft.com/office/powerpoint/2010/main" val="434931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humaira@cse.uiu.ac.bd"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6.png"/><Relationship Id="rId4" Type="http://schemas.openxmlformats.org/officeDocument/2006/relationships/customXml" Target="../ink/ink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bootstrap-aggregation-bagging.streamlit.app/"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hyperlink" Target="https://github.com/campusx-official/bagging-ensemble/blob/main/bagging-learning-tool.ipynb" TargetMode="External"/><Relationship Id="rId4" Type="http://schemas.openxmlformats.org/officeDocument/2006/relationships/hyperlink" Target="https://votingclassifier.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58240" y="3835400"/>
            <a:ext cx="9875520" cy="0"/>
          </a:xfrm>
          <a:custGeom>
            <a:avLst/>
            <a:gdLst/>
            <a:ahLst/>
            <a:cxnLst/>
            <a:rect l="l" t="t" r="r" b="b"/>
            <a:pathLst>
              <a:path w="7406640">
                <a:moveTo>
                  <a:pt x="0" y="0"/>
                </a:moveTo>
                <a:lnTo>
                  <a:pt x="7406640" y="0"/>
                </a:lnTo>
              </a:path>
            </a:pathLst>
          </a:custGeom>
          <a:ln w="9525">
            <a:solidFill>
              <a:srgbClr val="7E7E7E"/>
            </a:solidFill>
          </a:ln>
        </p:spPr>
        <p:txBody>
          <a:bodyPr wrap="square" lIns="0" tIns="0" rIns="0" bIns="0" rtlCol="0"/>
          <a:lstStyle/>
          <a:p>
            <a:endParaRPr sz="2400"/>
          </a:p>
        </p:txBody>
      </p:sp>
      <p:pic>
        <p:nvPicPr>
          <p:cNvPr id="3" name="object 3"/>
          <p:cNvPicPr/>
          <p:nvPr/>
        </p:nvPicPr>
        <p:blipFill>
          <a:blip r:embed="rId2" cstate="print"/>
          <a:stretch>
            <a:fillRect/>
          </a:stretch>
        </p:blipFill>
        <p:spPr>
          <a:xfrm>
            <a:off x="5212079" y="616374"/>
            <a:ext cx="1626259" cy="1479973"/>
          </a:xfrm>
          <a:prstGeom prst="rect">
            <a:avLst/>
          </a:prstGeom>
        </p:spPr>
      </p:pic>
      <p:sp>
        <p:nvSpPr>
          <p:cNvPr id="4" name="object 4"/>
          <p:cNvSpPr txBox="1"/>
          <p:nvPr/>
        </p:nvSpPr>
        <p:spPr>
          <a:xfrm>
            <a:off x="1828801" y="3041920"/>
            <a:ext cx="8760460" cy="673753"/>
          </a:xfrm>
          <a:prstGeom prst="rect">
            <a:avLst/>
          </a:prstGeom>
        </p:spPr>
        <p:txBody>
          <a:bodyPr vert="horz" wrap="square" lIns="0" tIns="16933" rIns="0" bIns="0" rtlCol="0">
            <a:spAutoFit/>
          </a:bodyPr>
          <a:lstStyle/>
          <a:p>
            <a:pPr marL="16933">
              <a:spcBef>
                <a:spcPts val="133"/>
              </a:spcBef>
            </a:pPr>
            <a:r>
              <a:rPr lang="en-US" sz="4267" dirty="0">
                <a:latin typeface="Calibri"/>
                <a:cs typeface="Calibri"/>
              </a:rPr>
              <a:t>Ensemble Methods – Part 1</a:t>
            </a:r>
            <a:endParaRPr sz="4267" dirty="0">
              <a:latin typeface="Calibri"/>
              <a:cs typeface="Calibri"/>
            </a:endParaRPr>
          </a:p>
        </p:txBody>
      </p:sp>
      <p:sp>
        <p:nvSpPr>
          <p:cNvPr id="5" name="object 5"/>
          <p:cNvSpPr txBox="1"/>
          <p:nvPr/>
        </p:nvSpPr>
        <p:spPr>
          <a:xfrm>
            <a:off x="1158241" y="3943929"/>
            <a:ext cx="7036647" cy="884131"/>
          </a:xfrm>
          <a:prstGeom prst="rect">
            <a:avLst/>
          </a:prstGeom>
        </p:spPr>
        <p:txBody>
          <a:bodyPr vert="horz" wrap="square" lIns="0" tIns="39793" rIns="0" bIns="0" rtlCol="0">
            <a:spAutoFit/>
          </a:bodyPr>
          <a:lstStyle/>
          <a:p>
            <a:pPr marL="16933">
              <a:spcBef>
                <a:spcPts val="313"/>
              </a:spcBef>
            </a:pPr>
            <a:r>
              <a:rPr lang="en-US" sz="2667" dirty="0">
                <a:solidFill>
                  <a:srgbClr val="3E3E3E"/>
                </a:solidFill>
                <a:latin typeface="Calibri"/>
                <a:cs typeface="Calibri"/>
              </a:rPr>
              <a:t>Data Mining</a:t>
            </a:r>
            <a:r>
              <a:rPr sz="2667" dirty="0">
                <a:solidFill>
                  <a:srgbClr val="3E3E3E"/>
                </a:solidFill>
                <a:latin typeface="Calibri"/>
                <a:cs typeface="Calibri"/>
              </a:rPr>
              <a:t>–</a:t>
            </a:r>
            <a:r>
              <a:rPr sz="2667" spc="-67" dirty="0">
                <a:solidFill>
                  <a:srgbClr val="3E3E3E"/>
                </a:solidFill>
                <a:latin typeface="Calibri"/>
                <a:cs typeface="Calibri"/>
              </a:rPr>
              <a:t> </a:t>
            </a:r>
            <a:r>
              <a:rPr sz="2667" dirty="0">
                <a:solidFill>
                  <a:srgbClr val="3E3E3E"/>
                </a:solidFill>
                <a:latin typeface="Calibri"/>
                <a:cs typeface="Calibri"/>
              </a:rPr>
              <a:t>Finals</a:t>
            </a:r>
            <a:r>
              <a:rPr sz="2667" spc="-47" dirty="0">
                <a:solidFill>
                  <a:srgbClr val="3E3E3E"/>
                </a:solidFill>
                <a:latin typeface="Calibri"/>
                <a:cs typeface="Calibri"/>
              </a:rPr>
              <a:t> </a:t>
            </a:r>
            <a:r>
              <a:rPr sz="2667" dirty="0">
                <a:solidFill>
                  <a:srgbClr val="3E3E3E"/>
                </a:solidFill>
                <a:latin typeface="Calibri"/>
                <a:cs typeface="Calibri"/>
              </a:rPr>
              <a:t>Week</a:t>
            </a:r>
            <a:r>
              <a:rPr sz="2667" spc="-53" dirty="0">
                <a:solidFill>
                  <a:srgbClr val="3E3E3E"/>
                </a:solidFill>
                <a:latin typeface="Calibri"/>
                <a:cs typeface="Calibri"/>
              </a:rPr>
              <a:t> </a:t>
            </a:r>
            <a:r>
              <a:rPr lang="en-US" sz="2667" spc="-67" dirty="0">
                <a:solidFill>
                  <a:srgbClr val="3E3E3E"/>
                </a:solidFill>
                <a:latin typeface="Calibri"/>
                <a:cs typeface="Calibri"/>
              </a:rPr>
              <a:t>1 </a:t>
            </a:r>
            <a:endParaRPr sz="2667" dirty="0">
              <a:latin typeface="Calibri"/>
              <a:cs typeface="Calibri"/>
            </a:endParaRPr>
          </a:p>
          <a:p>
            <a:pPr marL="16933" marR="4059665">
              <a:lnSpc>
                <a:spcPct val="90100"/>
              </a:lnSpc>
              <a:spcBef>
                <a:spcPts val="507"/>
              </a:spcBef>
            </a:pPr>
            <a:endParaRPr sz="2667" dirty="0">
              <a:latin typeface="Calibri"/>
              <a:cs typeface="Calibri"/>
            </a:endParaRPr>
          </a:p>
        </p:txBody>
      </p:sp>
      <p:sp>
        <p:nvSpPr>
          <p:cNvPr id="13" name="object 5">
            <a:extLst>
              <a:ext uri="{FF2B5EF4-FFF2-40B4-BE49-F238E27FC236}">
                <a16:creationId xmlns:a16="http://schemas.microsoft.com/office/drawing/2014/main" xmlns="" id="{36DBFFEF-B102-217A-056F-755C77016154}"/>
              </a:ext>
            </a:extLst>
          </p:cNvPr>
          <p:cNvSpPr txBox="1"/>
          <p:nvPr/>
        </p:nvSpPr>
        <p:spPr>
          <a:xfrm>
            <a:off x="1158240" y="4531500"/>
            <a:ext cx="8479536" cy="2032650"/>
          </a:xfrm>
          <a:prstGeom prst="rect">
            <a:avLst/>
          </a:prstGeom>
        </p:spPr>
        <p:txBody>
          <a:bodyPr vert="horz" wrap="square" lIns="0" tIns="39793" rIns="0" bIns="0" rtlCol="0">
            <a:spAutoFit/>
          </a:bodyPr>
          <a:lstStyle/>
          <a:p>
            <a:pPr marL="16933" marR="4059665">
              <a:lnSpc>
                <a:spcPct val="90100"/>
              </a:lnSpc>
              <a:spcBef>
                <a:spcPts val="507"/>
              </a:spcBef>
            </a:pPr>
            <a:r>
              <a:rPr lang="en-US" sz="2400" spc="-27" dirty="0">
                <a:solidFill>
                  <a:srgbClr val="6DAC1C"/>
                </a:solidFill>
                <a:uFill>
                  <a:solidFill>
                    <a:srgbClr val="6DAC1C"/>
                  </a:solidFill>
                </a:uFill>
                <a:latin typeface="Calibri"/>
                <a:cs typeface="Calibri"/>
              </a:rPr>
              <a:t>Humaira Anzum Neha</a:t>
            </a:r>
            <a:r>
              <a:rPr lang="en-US" sz="2400" spc="-13" dirty="0">
                <a:solidFill>
                  <a:srgbClr val="6DAC1C"/>
                </a:solidFill>
                <a:latin typeface="Calibri"/>
                <a:cs typeface="Calibri"/>
              </a:rPr>
              <a:t> </a:t>
            </a:r>
          </a:p>
          <a:p>
            <a:pPr marL="16933" marR="4059665">
              <a:lnSpc>
                <a:spcPct val="90100"/>
              </a:lnSpc>
              <a:spcBef>
                <a:spcPts val="507"/>
              </a:spcBef>
            </a:pPr>
            <a:r>
              <a:rPr lang="en-US" sz="2400" spc="-13" dirty="0">
                <a:latin typeface="Calibri"/>
                <a:cs typeface="Calibri"/>
              </a:rPr>
              <a:t>Lecturer</a:t>
            </a:r>
          </a:p>
          <a:p>
            <a:pPr marL="16933" marR="4059665">
              <a:lnSpc>
                <a:spcPct val="90100"/>
              </a:lnSpc>
              <a:spcBef>
                <a:spcPts val="507"/>
              </a:spcBef>
            </a:pPr>
            <a:r>
              <a:rPr lang="en-US" sz="2400" dirty="0">
                <a:solidFill>
                  <a:srgbClr val="3E3E3E"/>
                </a:solidFill>
                <a:latin typeface="Calibri"/>
                <a:cs typeface="Calibri"/>
              </a:rPr>
              <a:t>Dept</a:t>
            </a:r>
            <a:r>
              <a:rPr lang="en-US" sz="2400" spc="-60" dirty="0">
                <a:solidFill>
                  <a:srgbClr val="3E3E3E"/>
                </a:solidFill>
                <a:latin typeface="Calibri"/>
                <a:cs typeface="Calibri"/>
              </a:rPr>
              <a:t> </a:t>
            </a:r>
            <a:r>
              <a:rPr lang="en-US" sz="2400" dirty="0">
                <a:solidFill>
                  <a:srgbClr val="3E3E3E"/>
                </a:solidFill>
                <a:latin typeface="Calibri"/>
                <a:cs typeface="Calibri"/>
              </a:rPr>
              <a:t>of</a:t>
            </a:r>
            <a:r>
              <a:rPr lang="en-US" sz="2400" spc="-33" dirty="0">
                <a:solidFill>
                  <a:srgbClr val="3E3E3E"/>
                </a:solidFill>
                <a:latin typeface="Calibri"/>
                <a:cs typeface="Calibri"/>
              </a:rPr>
              <a:t> </a:t>
            </a:r>
            <a:r>
              <a:rPr lang="en-US" sz="2400" dirty="0">
                <a:solidFill>
                  <a:srgbClr val="3E3E3E"/>
                </a:solidFill>
                <a:latin typeface="Calibri"/>
                <a:cs typeface="Calibri"/>
              </a:rPr>
              <a:t>CSE,</a:t>
            </a:r>
            <a:r>
              <a:rPr lang="en-US" sz="2400" spc="-47" dirty="0">
                <a:solidFill>
                  <a:srgbClr val="3E3E3E"/>
                </a:solidFill>
                <a:latin typeface="Calibri"/>
                <a:cs typeface="Calibri"/>
              </a:rPr>
              <a:t> </a:t>
            </a:r>
            <a:r>
              <a:rPr lang="en-US" sz="2400" spc="-33" dirty="0">
                <a:solidFill>
                  <a:srgbClr val="3E3E3E"/>
                </a:solidFill>
                <a:latin typeface="Calibri"/>
                <a:cs typeface="Calibri"/>
              </a:rPr>
              <a:t>UIU </a:t>
            </a:r>
          </a:p>
          <a:p>
            <a:pPr marL="16933" marR="4059665">
              <a:lnSpc>
                <a:spcPct val="90100"/>
              </a:lnSpc>
              <a:spcBef>
                <a:spcPts val="507"/>
              </a:spcBef>
            </a:pPr>
            <a:r>
              <a:rPr lang="en-US" sz="2400" spc="-33" dirty="0">
                <a:solidFill>
                  <a:srgbClr val="3E3E3E"/>
                </a:solidFill>
                <a:latin typeface="Calibri"/>
                <a:cs typeface="Calibri"/>
                <a:hlinkClick r:id="rId3"/>
              </a:rPr>
              <a:t>humaira</a:t>
            </a:r>
            <a:r>
              <a:rPr lang="en-US" sz="2400" u="sng" spc="-13" dirty="0">
                <a:solidFill>
                  <a:srgbClr val="6DAC1C"/>
                </a:solidFill>
                <a:uFill>
                  <a:solidFill>
                    <a:srgbClr val="6DAC1C"/>
                  </a:solidFill>
                </a:uFill>
                <a:latin typeface="Calibri"/>
                <a:cs typeface="Calibri"/>
                <a:hlinkClick r:id="rId3"/>
              </a:rPr>
              <a:t>@cse.uiu.ac.bd</a:t>
            </a:r>
            <a:endParaRPr lang="en-US" sz="2400" u="sng" spc="-13" dirty="0">
              <a:solidFill>
                <a:srgbClr val="6DAC1C"/>
              </a:solidFill>
              <a:uFill>
                <a:solidFill>
                  <a:srgbClr val="6DAC1C"/>
                </a:solidFill>
              </a:uFill>
              <a:latin typeface="Calibri"/>
              <a:cs typeface="Calibri"/>
            </a:endParaRPr>
          </a:p>
          <a:p>
            <a:pPr marL="16933" marR="4059665">
              <a:lnSpc>
                <a:spcPct val="90100"/>
              </a:lnSpc>
              <a:spcBef>
                <a:spcPts val="507"/>
              </a:spcBef>
            </a:pPr>
            <a:endParaRPr sz="2667"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p:spPr>
        <p:txBody>
          <a:bodyPr vert="horz" wrap="square" lIns="0" tIns="0" rIns="0" bIns="0" rtlCol="0" anchor="ctr">
            <a:spAutoFit/>
          </a:bodyPr>
          <a:lstStyle/>
          <a:p>
            <a:pPr marR="85511" algn="ctr">
              <a:lnSpc>
                <a:spcPts val="4513"/>
              </a:lnSpc>
            </a:pPr>
            <a:r>
              <a:rPr lang="en-US" sz="4000" b="1" spc="-13" dirty="0">
                <a:solidFill>
                  <a:schemeClr val="bg1"/>
                </a:solidFill>
              </a:rPr>
              <a:t>Ensemble Methods</a:t>
            </a:r>
            <a:endParaRPr sz="4000" b="1" spc="-13" dirty="0">
              <a:solidFill>
                <a:schemeClr val="bg1"/>
              </a:solidFill>
            </a:endParaRP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50799">
              <a:lnSpc>
                <a:spcPts val="1753"/>
              </a:lnSpc>
            </a:pPr>
            <a:fld id="{81D60167-4931-47E6-BA6A-407CBD079E47}" type="slidenum">
              <a:rPr lang="en-US" spc="-50" smtClean="0"/>
              <a:pPr marL="38100">
                <a:lnSpc>
                  <a:spcPts val="1315"/>
                </a:lnSpc>
              </a:pPr>
              <a:t>2</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27027" y="1650168"/>
            <a:ext cx="14020800" cy="3259867"/>
          </a:xfrm>
          <a:prstGeom prst="rect">
            <a:avLst/>
          </a:prstGeom>
        </p:spPr>
        <p:txBody>
          <a:bodyPr vert="horz" wrap="square" lIns="0" tIns="231140" rIns="0" bIns="0" rtlCol="0">
            <a:spAutoFit/>
          </a:bodyPr>
          <a:lstStyle/>
          <a:p>
            <a:pPr marL="997348" indent="-514760">
              <a:lnSpc>
                <a:spcPct val="100000"/>
              </a:lnSpc>
              <a:spcBef>
                <a:spcPts val="1820"/>
              </a:spcBef>
              <a:buAutoNum type="arabicParenR"/>
              <a:tabLst>
                <a:tab pos="998195" algn="l"/>
              </a:tabLst>
            </a:pPr>
            <a:r>
              <a:rPr lang="en-US" spc="-13" dirty="0">
                <a:latin typeface="Constantia"/>
                <a:cs typeface="Constantia"/>
              </a:rPr>
              <a:t>Ensemble Methods Intuition?</a:t>
            </a:r>
            <a:endParaRPr lang="en-US" dirty="0">
              <a:latin typeface="Constantia"/>
              <a:cs typeface="Constantia"/>
            </a:endParaRPr>
          </a:p>
          <a:p>
            <a:pPr marL="997348" indent="-514760">
              <a:lnSpc>
                <a:spcPct val="100000"/>
              </a:lnSpc>
              <a:spcBef>
                <a:spcPts val="1687"/>
              </a:spcBef>
              <a:buAutoNum type="arabicParenR"/>
              <a:tabLst>
                <a:tab pos="998195" algn="l"/>
              </a:tabLst>
            </a:pPr>
            <a:r>
              <a:rPr lang="en-US" spc="-60" dirty="0">
                <a:latin typeface="Constantia"/>
                <a:cs typeface="Constantia"/>
              </a:rPr>
              <a:t>Types</a:t>
            </a:r>
            <a:r>
              <a:rPr lang="en-US" spc="-187" dirty="0">
                <a:latin typeface="Constantia"/>
                <a:cs typeface="Constantia"/>
              </a:rPr>
              <a:t> </a:t>
            </a:r>
            <a:r>
              <a:rPr lang="en-US" dirty="0">
                <a:latin typeface="Constantia"/>
                <a:cs typeface="Constantia"/>
              </a:rPr>
              <a:t>of</a:t>
            </a:r>
            <a:r>
              <a:rPr lang="en-US" spc="-7" dirty="0">
                <a:latin typeface="Constantia"/>
                <a:cs typeface="Constantia"/>
              </a:rPr>
              <a:t> Ensemble Methods</a:t>
            </a:r>
          </a:p>
          <a:p>
            <a:pPr marL="997348" indent="-514760">
              <a:lnSpc>
                <a:spcPct val="100000"/>
              </a:lnSpc>
              <a:spcBef>
                <a:spcPts val="1687"/>
              </a:spcBef>
              <a:buAutoNum type="arabicParenR"/>
              <a:tabLst>
                <a:tab pos="998195" algn="l"/>
              </a:tabLst>
            </a:pPr>
            <a:r>
              <a:rPr lang="en-US" spc="-7" dirty="0">
                <a:latin typeface="Constantia"/>
                <a:cs typeface="Constantia"/>
              </a:rPr>
              <a:t>Voting Ensemble</a:t>
            </a:r>
          </a:p>
          <a:p>
            <a:pPr marL="997348" indent="-514760">
              <a:lnSpc>
                <a:spcPct val="100000"/>
              </a:lnSpc>
              <a:spcBef>
                <a:spcPts val="1687"/>
              </a:spcBef>
              <a:buAutoNum type="arabicParenR"/>
              <a:tabLst>
                <a:tab pos="998195" algn="l"/>
              </a:tabLst>
            </a:pPr>
            <a:r>
              <a:rPr lang="en-US" spc="-7" dirty="0">
                <a:latin typeface="Constantia"/>
                <a:cs typeface="Constantia"/>
              </a:rPr>
              <a:t>Bagging</a:t>
            </a:r>
          </a:p>
          <a:p>
            <a:pPr marL="997348" indent="-514760">
              <a:lnSpc>
                <a:spcPct val="100000"/>
              </a:lnSpc>
              <a:spcBef>
                <a:spcPts val="1687"/>
              </a:spcBef>
              <a:buAutoNum type="arabicParenR"/>
              <a:tabLst>
                <a:tab pos="998195" algn="l"/>
              </a:tabLst>
            </a:pPr>
            <a:r>
              <a:rPr lang="en-US" spc="-7" dirty="0">
                <a:latin typeface="Constantia"/>
                <a:cs typeface="Constantia"/>
              </a:rPr>
              <a:t>Random Forest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a:solidFill>
                  <a:schemeClr val="bg1"/>
                </a:solidFill>
              </a:rPr>
              <a:t>What is Ensemble?</a:t>
            </a:r>
            <a:endParaRPr lang="en-US" sz="4000" b="1" spc="-13" dirty="0">
              <a:solidFill>
                <a:schemeClr val="bg1"/>
              </a:solidFill>
            </a:endParaRP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3</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102935" y="962780"/>
            <a:ext cx="9477012" cy="4634602"/>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400" spc="-7" dirty="0">
                <a:latin typeface="Constantia"/>
                <a:cs typeface="Constantia"/>
              </a:rPr>
              <a:t>Group / Collection</a:t>
            </a:r>
          </a:p>
          <a:p>
            <a:pPr marL="939788" indent="-457200">
              <a:lnSpc>
                <a:spcPct val="100000"/>
              </a:lnSpc>
              <a:spcBef>
                <a:spcPts val="1820"/>
              </a:spcBef>
              <a:buFont typeface="Wingdings" panose="05000000000000000000" pitchFamily="2" charset="2"/>
              <a:buChar char="q"/>
              <a:tabLst>
                <a:tab pos="998195" algn="l"/>
              </a:tabLst>
            </a:pPr>
            <a:r>
              <a:rPr lang="en-US" sz="2400" spc="-7" dirty="0">
                <a:latin typeface="Constantia"/>
                <a:cs typeface="Constantia"/>
              </a:rPr>
              <a:t>In Machine Learning, Ensemble signifies a collection of models.</a:t>
            </a:r>
          </a:p>
          <a:p>
            <a:pPr marL="939788" indent="-457200">
              <a:lnSpc>
                <a:spcPct val="100000"/>
              </a:lnSpc>
              <a:spcBef>
                <a:spcPts val="1820"/>
              </a:spcBef>
              <a:buFont typeface="Wingdings" panose="05000000000000000000" pitchFamily="2" charset="2"/>
              <a:buChar char="q"/>
              <a:tabLst>
                <a:tab pos="998195" algn="l"/>
              </a:tabLst>
            </a:pPr>
            <a:r>
              <a:rPr lang="en-US" sz="2400" spc="-7" dirty="0">
                <a:latin typeface="Constantia"/>
                <a:cs typeface="Constantia"/>
              </a:rPr>
              <a:t>Ensemble methods</a:t>
            </a:r>
          </a:p>
          <a:p>
            <a:pPr marL="1396988" lvl="1" indent="-457200">
              <a:lnSpc>
                <a:spcPct val="100000"/>
              </a:lnSpc>
              <a:spcBef>
                <a:spcPts val="1820"/>
              </a:spcBef>
              <a:buFont typeface="Wingdings" panose="05000000000000000000" pitchFamily="2" charset="2"/>
              <a:buChar char="q"/>
              <a:tabLst>
                <a:tab pos="998195" algn="l"/>
              </a:tabLst>
            </a:pPr>
            <a:r>
              <a:rPr lang="en-US" spc="-7" dirty="0">
                <a:latin typeface="Constantia"/>
                <a:cs typeface="Constantia"/>
              </a:rPr>
              <a:t>Use a combination of models to increase accuracy</a:t>
            </a:r>
          </a:p>
          <a:p>
            <a:pPr marL="1396988" lvl="1" indent="-457200">
              <a:lnSpc>
                <a:spcPct val="100000"/>
              </a:lnSpc>
              <a:spcBef>
                <a:spcPts val="1820"/>
              </a:spcBef>
              <a:buFont typeface="Wingdings" panose="05000000000000000000" pitchFamily="2" charset="2"/>
              <a:buChar char="q"/>
              <a:tabLst>
                <a:tab pos="998195" algn="l"/>
              </a:tabLst>
            </a:pPr>
            <a:r>
              <a:rPr lang="en-US" spc="-7" dirty="0">
                <a:latin typeface="Constantia"/>
                <a:cs typeface="Constantia"/>
              </a:rPr>
              <a:t>Combine a series of k learned models, M1, M2, …, Mk, with the aim of creating an improved model M*</a:t>
            </a:r>
          </a:p>
          <a:p>
            <a:pPr marL="1396988" lvl="1" indent="-457200">
              <a:lnSpc>
                <a:spcPct val="100000"/>
              </a:lnSpc>
              <a:spcBef>
                <a:spcPts val="1820"/>
              </a:spcBef>
              <a:buFont typeface="Wingdings" panose="05000000000000000000" pitchFamily="2" charset="2"/>
              <a:buChar char="q"/>
              <a:tabLst>
                <a:tab pos="998195" algn="l"/>
              </a:tabLst>
            </a:pPr>
            <a:endParaRPr lang="en-US" spc="-7" dirty="0">
              <a:latin typeface="Constantia"/>
              <a:cs typeface="Constantia"/>
            </a:endParaRPr>
          </a:p>
          <a:p>
            <a:pPr marL="939788" indent="-457200">
              <a:lnSpc>
                <a:spcPct val="100000"/>
              </a:lnSpc>
              <a:spcBef>
                <a:spcPts val="1820"/>
              </a:spcBef>
              <a:buFont typeface="Wingdings" panose="05000000000000000000" pitchFamily="2" charset="2"/>
              <a:buChar char="q"/>
              <a:tabLst>
                <a:tab pos="998195" algn="l"/>
              </a:tabLst>
            </a:pPr>
            <a:endParaRPr lang="en-US" spc="-7" dirty="0">
              <a:latin typeface="Constantia"/>
              <a:cs typeface="Constantia"/>
            </a:endParaRPr>
          </a:p>
        </p:txBody>
      </p:sp>
      <p:pic>
        <p:nvPicPr>
          <p:cNvPr id="2056" name="Picture 8">
            <a:extLst>
              <a:ext uri="{FF2B5EF4-FFF2-40B4-BE49-F238E27FC236}">
                <a16:creationId xmlns:a16="http://schemas.microsoft.com/office/drawing/2014/main" xmlns="" id="{C6DD3072-42A3-0F3D-8A7A-FB095CCCD0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3045" y="4375072"/>
            <a:ext cx="5500932" cy="2444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543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Analogy</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4</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9766170" cy="5188600"/>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400" spc="-7" dirty="0">
                <a:latin typeface="Constantia"/>
                <a:cs typeface="Constantia"/>
              </a:rPr>
              <a:t>Wisdom of the crowd</a:t>
            </a:r>
          </a:p>
          <a:p>
            <a:pPr marL="1396988" lvl="1" indent="-457200">
              <a:lnSpc>
                <a:spcPct val="100000"/>
              </a:lnSpc>
              <a:spcBef>
                <a:spcPts val="1820"/>
              </a:spcBef>
              <a:buFont typeface="Wingdings" panose="05000000000000000000" pitchFamily="2" charset="2"/>
              <a:buChar char="q"/>
              <a:tabLst>
                <a:tab pos="998195" algn="l"/>
              </a:tabLst>
            </a:pPr>
            <a:r>
              <a:rPr lang="en-US" sz="2000" spc="-7" dirty="0">
                <a:latin typeface="Constantia"/>
                <a:cs typeface="Constantia"/>
              </a:rPr>
              <a:t>Collective judgment or decision of a large group of people often more accurate or better than any individual within the group.</a:t>
            </a:r>
          </a:p>
          <a:p>
            <a:pPr marL="1396988" lvl="1" indent="-457200">
              <a:lnSpc>
                <a:spcPct val="100000"/>
              </a:lnSpc>
              <a:spcBef>
                <a:spcPts val="1820"/>
              </a:spcBef>
              <a:buFont typeface="Wingdings" panose="05000000000000000000" pitchFamily="2" charset="2"/>
              <a:buChar char="q"/>
              <a:tabLst>
                <a:tab pos="998195" algn="l"/>
              </a:tabLst>
            </a:pPr>
            <a:r>
              <a:rPr lang="en-US" sz="2000" spc="-7" dirty="0">
                <a:latin typeface="Constantia"/>
                <a:cs typeface="Constantia"/>
              </a:rPr>
              <a:t>Diversity of opinions, independent thinking, and the aggregation of individual knowledge into a single collective decision.</a:t>
            </a:r>
          </a:p>
          <a:p>
            <a:pPr marL="1396988" lvl="1" indent="-457200">
              <a:lnSpc>
                <a:spcPct val="100000"/>
              </a:lnSpc>
              <a:spcBef>
                <a:spcPts val="1820"/>
              </a:spcBef>
              <a:buFont typeface="Wingdings" panose="05000000000000000000" pitchFamily="2" charset="2"/>
              <a:buChar char="q"/>
              <a:tabLst>
                <a:tab pos="998195" algn="l"/>
              </a:tabLst>
            </a:pPr>
            <a:r>
              <a:rPr lang="en-US" sz="2000" spc="-7" dirty="0">
                <a:latin typeface="Constantia"/>
                <a:cs typeface="Constantia"/>
              </a:rPr>
              <a:t>Works when much diversity and accuracy.</a:t>
            </a:r>
          </a:p>
          <a:p>
            <a:pPr marL="939788" indent="-457200">
              <a:lnSpc>
                <a:spcPct val="100000"/>
              </a:lnSpc>
              <a:spcBef>
                <a:spcPts val="1820"/>
              </a:spcBef>
              <a:buFont typeface="Wingdings" panose="05000000000000000000" pitchFamily="2" charset="2"/>
              <a:buChar char="q"/>
              <a:tabLst>
                <a:tab pos="998195" algn="l"/>
              </a:tabLst>
            </a:pPr>
            <a:r>
              <a:rPr lang="en-US" sz="2400" spc="-7" dirty="0">
                <a:latin typeface="Constantia"/>
                <a:cs typeface="Constantia"/>
              </a:rPr>
              <a:t>Democracy (Majority Voting)</a:t>
            </a:r>
          </a:p>
          <a:p>
            <a:pPr marL="939788" indent="-457200">
              <a:lnSpc>
                <a:spcPct val="100000"/>
              </a:lnSpc>
              <a:spcBef>
                <a:spcPts val="1820"/>
              </a:spcBef>
              <a:buFont typeface="Wingdings" panose="05000000000000000000" pitchFamily="2" charset="2"/>
              <a:buChar char="q"/>
              <a:tabLst>
                <a:tab pos="998195" algn="l"/>
              </a:tabLst>
            </a:pPr>
            <a:r>
              <a:rPr lang="en-US" sz="2400" spc="-7" dirty="0">
                <a:latin typeface="Constantia"/>
                <a:cs typeface="Constantia"/>
              </a:rPr>
              <a:t>Real Incident: Estimating the Weight of an Ox</a:t>
            </a:r>
          </a:p>
          <a:p>
            <a:pPr marL="1396988" lvl="1" indent="-457200">
              <a:lnSpc>
                <a:spcPct val="100000"/>
              </a:lnSpc>
              <a:spcBef>
                <a:spcPts val="1820"/>
              </a:spcBef>
              <a:buFont typeface="Wingdings" panose="05000000000000000000" pitchFamily="2" charset="2"/>
              <a:buChar char="q"/>
              <a:tabLst>
                <a:tab pos="998195" algn="l"/>
              </a:tabLst>
            </a:pPr>
            <a:r>
              <a:rPr lang="en-US" sz="2000" spc="-7" dirty="0">
                <a:latin typeface="Constantia"/>
                <a:cs typeface="Constantia"/>
              </a:rPr>
              <a:t>Francis Galton at a livestock exhibition once asked people to guess the weight of an ox. Every individual guessed randomly. However the average of all the guesses was remarkably close to the actual weight!</a:t>
            </a:r>
          </a:p>
        </p:txBody>
      </p:sp>
    </p:spTree>
    <p:extLst>
      <p:ext uri="{BB962C8B-B14F-4D97-AF65-F5344CB8AC3E}">
        <p14:creationId xmlns:p14="http://schemas.microsoft.com/office/powerpoint/2010/main" val="3192976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Requirements to generate an improved model</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5</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7920413" cy="5988819"/>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400" b="1" spc="-7" dirty="0">
                <a:latin typeface="Calibri" panose="020F0502020204030204" pitchFamily="34" charset="0"/>
                <a:ea typeface="Calibri" panose="020F0502020204030204" pitchFamily="34" charset="0"/>
                <a:cs typeface="Calibri" panose="020F0502020204030204" pitchFamily="34" charset="0"/>
              </a:rPr>
              <a:t>Case 1</a:t>
            </a:r>
          </a:p>
          <a:p>
            <a:pPr marL="939788" indent="-457200">
              <a:lnSpc>
                <a:spcPct val="100000"/>
              </a:lnSpc>
              <a:spcBef>
                <a:spcPts val="1820"/>
              </a:spcBef>
              <a:buFont typeface="Wingdings" panose="05000000000000000000" pitchFamily="2" charset="2"/>
              <a:buChar char="q"/>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1225538" lvl="1" indent="-285750">
              <a:lnSpc>
                <a:spcPct val="100000"/>
              </a:lnSpc>
              <a:spcBef>
                <a:spcPts val="1820"/>
              </a:spcBef>
              <a:buFont typeface="Wingdings" panose="05000000000000000000" pitchFamily="2" charset="2"/>
              <a:buChar char="q"/>
              <a:tabLst>
                <a:tab pos="998195" algn="l"/>
              </a:tabLst>
            </a:pPr>
            <a:r>
              <a:rPr lang="en-US" spc="-7" dirty="0">
                <a:latin typeface="Calibri" panose="020F0502020204030204" pitchFamily="34" charset="0"/>
                <a:ea typeface="Calibri" panose="020F0502020204030204" pitchFamily="34" charset="0"/>
                <a:cs typeface="Calibri" panose="020F0502020204030204" pitchFamily="34" charset="0"/>
              </a:rPr>
              <a:t>Observations</a:t>
            </a:r>
          </a:p>
          <a:p>
            <a:pPr lvl="3" algn="just" fontAlgn="ctr">
              <a:spcBef>
                <a:spcPts val="0"/>
              </a:spcBef>
            </a:pPr>
            <a:r>
              <a:rPr lang="en-US" sz="2000" dirty="0">
                <a:effectLst/>
                <a:latin typeface="Calibri" panose="020F0502020204030204" pitchFamily="34" charset="0"/>
              </a:rPr>
              <a:t>Diversity: The models (M1, M2, M3) show diversity in their predictions. For each input (x1, x2, x3), at least one model predicts differently from the others.</a:t>
            </a:r>
          </a:p>
          <a:p>
            <a:pPr marL="1371600" lvl="3" indent="0" algn="just" fontAlgn="ctr">
              <a:spcBef>
                <a:spcPts val="0"/>
              </a:spcBef>
              <a:buNone/>
            </a:pPr>
            <a:endParaRPr lang="en-US" sz="2000" dirty="0">
              <a:effectLst/>
              <a:latin typeface="Calibri" panose="020F0502020204030204" pitchFamily="34" charset="0"/>
            </a:endParaRPr>
          </a:p>
          <a:p>
            <a:pPr lvl="3" algn="just" fontAlgn="ctr">
              <a:spcBef>
                <a:spcPts val="0"/>
              </a:spcBef>
            </a:pPr>
            <a:r>
              <a:rPr lang="en-US" sz="2000" dirty="0">
                <a:effectLst/>
                <a:latin typeface="Calibri" panose="020F0502020204030204" pitchFamily="34" charset="0"/>
              </a:rPr>
              <a:t>Moderate Accuracy</a:t>
            </a:r>
          </a:p>
          <a:p>
            <a:pPr marL="1371600" lvl="3" indent="0" algn="just" fontAlgn="ctr">
              <a:spcBef>
                <a:spcPts val="0"/>
              </a:spcBef>
              <a:buNone/>
            </a:pPr>
            <a:endParaRPr lang="en-US" sz="2000" dirty="0">
              <a:effectLst/>
              <a:latin typeface="Calibri" panose="020F0502020204030204" pitchFamily="34" charset="0"/>
            </a:endParaRPr>
          </a:p>
          <a:p>
            <a:pPr lvl="3" algn="just" fontAlgn="ctr">
              <a:spcBef>
                <a:spcPts val="0"/>
              </a:spcBef>
            </a:pPr>
            <a:r>
              <a:rPr lang="en-US" sz="2000" dirty="0">
                <a:effectLst/>
                <a:latin typeface="Calibri" panose="020F0502020204030204" pitchFamily="34" charset="0"/>
              </a:rPr>
              <a:t>Outcome: </a:t>
            </a:r>
            <a:r>
              <a:rPr lang="en-US" sz="2000" dirty="0">
                <a:solidFill>
                  <a:schemeClr val="accent2">
                    <a:lumMod val="75000"/>
                  </a:schemeClr>
                </a:solidFill>
                <a:effectLst/>
                <a:latin typeface="Calibri" panose="020F0502020204030204" pitchFamily="34" charset="0"/>
              </a:rPr>
              <a:t>Positive</a:t>
            </a:r>
            <a:r>
              <a:rPr lang="en-US" sz="2000" dirty="0">
                <a:effectLst/>
                <a:latin typeface="Calibri" panose="020F0502020204030204" pitchFamily="34" charset="0"/>
              </a:rPr>
              <a:t> Effect (The diversity among the models allows the ensemble to correct individual errors)</a:t>
            </a:r>
          </a:p>
          <a:p>
            <a:pPr marL="1396988" lvl="2" indent="0">
              <a:lnSpc>
                <a:spcPct val="100000"/>
              </a:lnSpc>
              <a:spcBef>
                <a:spcPts val="1820"/>
              </a:spcBef>
              <a:buNone/>
              <a:tabLst>
                <a:tab pos="998195" algn="l"/>
              </a:tabLst>
            </a:pPr>
            <a:r>
              <a:rPr lang="en-US" sz="1200" spc="-7" dirty="0">
                <a:latin typeface="Constantia"/>
                <a:cs typeface="Constantia"/>
              </a:rPr>
              <a:t> </a:t>
            </a:r>
          </a:p>
          <a:p>
            <a:pPr marL="482588" indent="0">
              <a:lnSpc>
                <a:spcPct val="100000"/>
              </a:lnSpc>
              <a:spcBef>
                <a:spcPts val="1820"/>
              </a:spcBef>
              <a:buNone/>
              <a:tabLst>
                <a:tab pos="998195" algn="l"/>
              </a:tabLst>
            </a:pPr>
            <a:endParaRPr lang="en-US" sz="2000" spc="-7" dirty="0">
              <a:latin typeface="Constantia"/>
              <a:cs typeface="Constantia"/>
            </a:endParaRPr>
          </a:p>
        </p:txBody>
      </p:sp>
      <p:graphicFrame>
        <p:nvGraphicFramePr>
          <p:cNvPr id="9" name="Table 8">
            <a:extLst>
              <a:ext uri="{FF2B5EF4-FFF2-40B4-BE49-F238E27FC236}">
                <a16:creationId xmlns:a16="http://schemas.microsoft.com/office/drawing/2014/main" xmlns="" id="{64FDD6DA-E442-712F-D535-51FCFEE59F65}"/>
              </a:ext>
            </a:extLst>
          </p:cNvPr>
          <p:cNvGraphicFramePr>
            <a:graphicFrameLocks noGrp="1"/>
          </p:cNvGraphicFramePr>
          <p:nvPr>
            <p:extLst>
              <p:ext uri="{D42A27DB-BD31-4B8C-83A1-F6EECF244321}">
                <p14:modId xmlns:p14="http://schemas.microsoft.com/office/powerpoint/2010/main" val="2161924189"/>
              </p:ext>
            </p:extLst>
          </p:nvPr>
        </p:nvGraphicFramePr>
        <p:xfrm>
          <a:off x="2118164" y="1677930"/>
          <a:ext cx="4870464" cy="1657865"/>
        </p:xfrm>
        <a:graphic>
          <a:graphicData uri="http://schemas.openxmlformats.org/drawingml/2006/table">
            <a:tbl>
              <a:tblPr/>
              <a:tblGrid>
                <a:gridCol w="633379">
                  <a:extLst>
                    <a:ext uri="{9D8B030D-6E8A-4147-A177-3AD203B41FA5}">
                      <a16:colId xmlns:a16="http://schemas.microsoft.com/office/drawing/2014/main" xmlns="" val="260970713"/>
                    </a:ext>
                  </a:extLst>
                </a:gridCol>
                <a:gridCol w="1031258">
                  <a:extLst>
                    <a:ext uri="{9D8B030D-6E8A-4147-A177-3AD203B41FA5}">
                      <a16:colId xmlns:a16="http://schemas.microsoft.com/office/drawing/2014/main" xmlns="" val="2893895310"/>
                    </a:ext>
                  </a:extLst>
                </a:gridCol>
                <a:gridCol w="1031258">
                  <a:extLst>
                    <a:ext uri="{9D8B030D-6E8A-4147-A177-3AD203B41FA5}">
                      <a16:colId xmlns:a16="http://schemas.microsoft.com/office/drawing/2014/main" xmlns="" val="1845019615"/>
                    </a:ext>
                  </a:extLst>
                </a:gridCol>
                <a:gridCol w="1031258">
                  <a:extLst>
                    <a:ext uri="{9D8B030D-6E8A-4147-A177-3AD203B41FA5}">
                      <a16:colId xmlns:a16="http://schemas.microsoft.com/office/drawing/2014/main" xmlns="" val="572071762"/>
                    </a:ext>
                  </a:extLst>
                </a:gridCol>
                <a:gridCol w="1143311">
                  <a:extLst>
                    <a:ext uri="{9D8B030D-6E8A-4147-A177-3AD203B41FA5}">
                      <a16:colId xmlns:a16="http://schemas.microsoft.com/office/drawing/2014/main" xmlns="" val="74343844"/>
                    </a:ext>
                  </a:extLst>
                </a:gridCol>
              </a:tblGrid>
              <a:tr h="376515">
                <a:tc>
                  <a:txBody>
                    <a:bodyPr/>
                    <a:lstStyle/>
                    <a:p>
                      <a:pPr marL="0" marR="0" fontAlgn="t">
                        <a:spcBef>
                          <a:spcPts val="0"/>
                        </a:spcBef>
                        <a:spcAft>
                          <a:spcPts val="0"/>
                        </a:spcAft>
                      </a:pPr>
                      <a:r>
                        <a:rPr lang="en-US" sz="1400" b="1" dirty="0">
                          <a:effectLst/>
                          <a:latin typeface="Calibri" panose="020F0502020204030204" pitchFamily="34" charset="0"/>
                        </a:rPr>
                        <a:t>Input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dirty="0">
                          <a:effectLst/>
                          <a:latin typeface="Calibri" panose="020F0502020204030204" pitchFamily="34" charset="0"/>
                        </a:rPr>
                        <a:t>Model 1 (M1)</a:t>
                      </a:r>
                      <a:endParaRPr lang="en-US" sz="1400" dirty="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a:effectLst/>
                          <a:latin typeface="Calibri" panose="020F0502020204030204" pitchFamily="34" charset="0"/>
                        </a:rPr>
                        <a:t>Model 2 (M2)</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a:effectLst/>
                          <a:latin typeface="Calibri" panose="020F0502020204030204" pitchFamily="34" charset="0"/>
                        </a:rPr>
                        <a:t>Model 3 (M3)</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dirty="0">
                          <a:effectLst/>
                          <a:latin typeface="Calibri" panose="020F0502020204030204" pitchFamily="34" charset="0"/>
                        </a:rPr>
                        <a:t>Voting Ensemble</a:t>
                      </a:r>
                      <a:endParaRPr lang="en-US" sz="1400" dirty="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1076066349"/>
                  </a:ext>
                </a:extLst>
              </a:tr>
              <a:tr h="376515">
                <a:tc>
                  <a:txBody>
                    <a:bodyPr/>
                    <a:lstStyle/>
                    <a:p>
                      <a:pPr marL="0" marR="0" fontAlgn="t">
                        <a:spcBef>
                          <a:spcPts val="0"/>
                        </a:spcBef>
                        <a:spcAft>
                          <a:spcPts val="0"/>
                        </a:spcAft>
                      </a:pPr>
                      <a:r>
                        <a:rPr lang="en-US" sz="1400" b="1">
                          <a:effectLst/>
                          <a:latin typeface="Calibri" panose="020F0502020204030204" pitchFamily="34" charset="0"/>
                        </a:rPr>
                        <a:t>x1</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638289580"/>
                  </a:ext>
                </a:extLst>
              </a:tr>
              <a:tr h="376515">
                <a:tc>
                  <a:txBody>
                    <a:bodyPr/>
                    <a:lstStyle/>
                    <a:p>
                      <a:pPr marL="0" marR="0" fontAlgn="t">
                        <a:spcBef>
                          <a:spcPts val="0"/>
                        </a:spcBef>
                        <a:spcAft>
                          <a:spcPts val="0"/>
                        </a:spcAft>
                      </a:pPr>
                      <a:r>
                        <a:rPr lang="en-US" sz="1400" b="1">
                          <a:effectLst/>
                          <a:latin typeface="Calibri" panose="020F0502020204030204" pitchFamily="34" charset="0"/>
                        </a:rPr>
                        <a:t>x2</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2906671806"/>
                  </a:ext>
                </a:extLst>
              </a:tr>
              <a:tr h="376515">
                <a:tc>
                  <a:txBody>
                    <a:bodyPr/>
                    <a:lstStyle/>
                    <a:p>
                      <a:pPr marL="0" marR="0" fontAlgn="t">
                        <a:spcBef>
                          <a:spcPts val="0"/>
                        </a:spcBef>
                        <a:spcAft>
                          <a:spcPts val="0"/>
                        </a:spcAft>
                      </a:pPr>
                      <a:r>
                        <a:rPr lang="en-US" sz="1400" b="1" dirty="0">
                          <a:effectLst/>
                          <a:latin typeface="Calibri" panose="020F0502020204030204" pitchFamily="34" charset="0"/>
                        </a:rPr>
                        <a:t>x3</a:t>
                      </a:r>
                      <a:endParaRPr lang="en-US" sz="1400" dirty="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dirty="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699104149"/>
                  </a:ext>
                </a:extLst>
              </a:tr>
            </a:tbl>
          </a:graphicData>
        </a:graphic>
      </p:graphicFrame>
    </p:spTree>
    <p:extLst>
      <p:ext uri="{BB962C8B-B14F-4D97-AF65-F5344CB8AC3E}">
        <p14:creationId xmlns:p14="http://schemas.microsoft.com/office/powerpoint/2010/main" val="2106941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pic>
        <p:nvPicPr>
          <p:cNvPr id="3" name="object 3"/>
          <p:cNvPicPr/>
          <p:nvPr/>
        </p:nvPicPr>
        <p:blipFill>
          <a:blip r:embed="rId4" cstate="print"/>
          <a:stretch>
            <a:fillRect/>
          </a:stretch>
        </p:blipFill>
        <p:spPr>
          <a:xfrm>
            <a:off x="11385974" y="121919"/>
            <a:ext cx="687493" cy="70781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Requirements to generate an improved model</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6</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7920413" cy="5296322"/>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400" b="1" spc="-7" dirty="0">
                <a:latin typeface="Calibri" panose="020F0502020204030204" pitchFamily="34" charset="0"/>
                <a:ea typeface="Calibri" panose="020F0502020204030204" pitchFamily="34" charset="0"/>
                <a:cs typeface="Calibri" panose="020F0502020204030204" pitchFamily="34" charset="0"/>
              </a:rPr>
              <a:t>Case 2</a:t>
            </a:r>
          </a:p>
          <a:p>
            <a:pPr marL="939788" indent="-457200">
              <a:lnSpc>
                <a:spcPct val="100000"/>
              </a:lnSpc>
              <a:spcBef>
                <a:spcPts val="1820"/>
              </a:spcBef>
              <a:buFont typeface="Wingdings" panose="05000000000000000000" pitchFamily="2" charset="2"/>
              <a:buChar char="q"/>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1225538" lvl="1" indent="-285750">
              <a:lnSpc>
                <a:spcPct val="100000"/>
              </a:lnSpc>
              <a:spcBef>
                <a:spcPts val="1820"/>
              </a:spcBef>
              <a:buFont typeface="Wingdings" panose="05000000000000000000" pitchFamily="2" charset="2"/>
              <a:buChar char="q"/>
              <a:tabLst>
                <a:tab pos="998195" algn="l"/>
              </a:tabLst>
            </a:pPr>
            <a:r>
              <a:rPr lang="en-US" spc="-7" dirty="0">
                <a:latin typeface="Calibri" panose="020F0502020204030204" pitchFamily="34" charset="0"/>
                <a:ea typeface="Calibri" panose="020F0502020204030204" pitchFamily="34" charset="0"/>
                <a:cs typeface="Calibri" panose="020F0502020204030204" pitchFamily="34" charset="0"/>
              </a:rPr>
              <a:t>Observations</a:t>
            </a:r>
          </a:p>
          <a:p>
            <a:pPr lvl="3" algn="just" fontAlgn="ctr">
              <a:spcBef>
                <a:spcPts val="0"/>
              </a:spcBef>
            </a:pPr>
            <a:r>
              <a:rPr lang="en-US" sz="2000" dirty="0">
                <a:effectLst/>
                <a:latin typeface="Calibri" panose="020F0502020204030204" pitchFamily="34" charset="0"/>
              </a:rPr>
              <a:t>No Diversity: All three models (M1, M2, M3) are making the exact same predictions for all inputs (x1, x2, x3). Model structure identical</a:t>
            </a:r>
          </a:p>
          <a:p>
            <a:pPr lvl="3" algn="just" fontAlgn="ctr">
              <a:spcBef>
                <a:spcPts val="0"/>
              </a:spcBef>
            </a:pPr>
            <a:endParaRPr lang="en-US" sz="2000" dirty="0">
              <a:effectLst/>
              <a:latin typeface="Calibri" panose="020F0502020204030204" pitchFamily="34" charset="0"/>
            </a:endParaRPr>
          </a:p>
          <a:p>
            <a:pPr lvl="3" algn="just" fontAlgn="ctr">
              <a:spcBef>
                <a:spcPts val="0"/>
              </a:spcBef>
            </a:pPr>
            <a:r>
              <a:rPr lang="en-US" sz="2000" dirty="0">
                <a:effectLst/>
                <a:latin typeface="Calibri" panose="020F0502020204030204" pitchFamily="34" charset="0"/>
              </a:rPr>
              <a:t>High Accuracy</a:t>
            </a:r>
          </a:p>
          <a:p>
            <a:pPr marL="1371600" lvl="3" indent="0" algn="just" fontAlgn="ctr">
              <a:spcBef>
                <a:spcPts val="0"/>
              </a:spcBef>
              <a:buNone/>
            </a:pPr>
            <a:endParaRPr lang="en-US" sz="2000" dirty="0">
              <a:effectLst/>
              <a:latin typeface="Calibri" panose="020F0502020204030204" pitchFamily="34" charset="0"/>
            </a:endParaRPr>
          </a:p>
          <a:p>
            <a:pPr lvl="3" algn="just" fontAlgn="ctr">
              <a:spcBef>
                <a:spcPts val="0"/>
              </a:spcBef>
            </a:pPr>
            <a:r>
              <a:rPr lang="en-US" sz="2000" dirty="0">
                <a:effectLst/>
                <a:latin typeface="Calibri" panose="020F0502020204030204" pitchFamily="34" charset="0"/>
              </a:rPr>
              <a:t>Outcome: No Effect (No need to ensemble)</a:t>
            </a:r>
            <a:r>
              <a:rPr lang="en-US" sz="2000" spc="-7" dirty="0">
                <a:latin typeface="Constantia"/>
                <a:cs typeface="Constantia"/>
              </a:rPr>
              <a:t> </a:t>
            </a:r>
          </a:p>
          <a:p>
            <a:pPr marL="482588" indent="0">
              <a:lnSpc>
                <a:spcPct val="100000"/>
              </a:lnSpc>
              <a:spcBef>
                <a:spcPts val="1820"/>
              </a:spcBef>
              <a:buNone/>
              <a:tabLst>
                <a:tab pos="998195" algn="l"/>
              </a:tabLst>
            </a:pPr>
            <a:endParaRPr lang="en-US" sz="2000" spc="-7" dirty="0">
              <a:latin typeface="Constantia"/>
              <a:cs typeface="Constantia"/>
            </a:endParaRPr>
          </a:p>
        </p:txBody>
      </p:sp>
      <p:graphicFrame>
        <p:nvGraphicFramePr>
          <p:cNvPr id="9" name="Table 8">
            <a:extLst>
              <a:ext uri="{FF2B5EF4-FFF2-40B4-BE49-F238E27FC236}">
                <a16:creationId xmlns:a16="http://schemas.microsoft.com/office/drawing/2014/main" xmlns="" id="{64FDD6DA-E442-712F-D535-51FCFEE59F65}"/>
              </a:ext>
            </a:extLst>
          </p:cNvPr>
          <p:cNvGraphicFramePr>
            <a:graphicFrameLocks noGrp="1"/>
          </p:cNvGraphicFramePr>
          <p:nvPr>
            <p:extLst>
              <p:ext uri="{D42A27DB-BD31-4B8C-83A1-F6EECF244321}">
                <p14:modId xmlns:p14="http://schemas.microsoft.com/office/powerpoint/2010/main" val="1004001160"/>
              </p:ext>
            </p:extLst>
          </p:nvPr>
        </p:nvGraphicFramePr>
        <p:xfrm>
          <a:off x="2112264" y="1705362"/>
          <a:ext cx="4895581" cy="1657865"/>
        </p:xfrm>
        <a:graphic>
          <a:graphicData uri="http://schemas.openxmlformats.org/drawingml/2006/table">
            <a:tbl>
              <a:tblPr/>
              <a:tblGrid>
                <a:gridCol w="536575">
                  <a:extLst>
                    <a:ext uri="{9D8B030D-6E8A-4147-A177-3AD203B41FA5}">
                      <a16:colId xmlns:a16="http://schemas.microsoft.com/office/drawing/2014/main" xmlns="" val="260970713"/>
                    </a:ext>
                  </a:extLst>
                </a:gridCol>
                <a:gridCol w="1060932">
                  <a:extLst>
                    <a:ext uri="{9D8B030D-6E8A-4147-A177-3AD203B41FA5}">
                      <a16:colId xmlns:a16="http://schemas.microsoft.com/office/drawing/2014/main" xmlns="" val="2893895310"/>
                    </a:ext>
                  </a:extLst>
                </a:gridCol>
                <a:gridCol w="1060932">
                  <a:extLst>
                    <a:ext uri="{9D8B030D-6E8A-4147-A177-3AD203B41FA5}">
                      <a16:colId xmlns:a16="http://schemas.microsoft.com/office/drawing/2014/main" xmlns="" val="1845019615"/>
                    </a:ext>
                  </a:extLst>
                </a:gridCol>
                <a:gridCol w="1060932">
                  <a:extLst>
                    <a:ext uri="{9D8B030D-6E8A-4147-A177-3AD203B41FA5}">
                      <a16:colId xmlns:a16="http://schemas.microsoft.com/office/drawing/2014/main" xmlns="" val="572071762"/>
                    </a:ext>
                  </a:extLst>
                </a:gridCol>
                <a:gridCol w="1176210">
                  <a:extLst>
                    <a:ext uri="{9D8B030D-6E8A-4147-A177-3AD203B41FA5}">
                      <a16:colId xmlns:a16="http://schemas.microsoft.com/office/drawing/2014/main" xmlns="" val="74343844"/>
                    </a:ext>
                  </a:extLst>
                </a:gridCol>
              </a:tblGrid>
              <a:tr h="376515">
                <a:tc>
                  <a:txBody>
                    <a:bodyPr/>
                    <a:lstStyle/>
                    <a:p>
                      <a:pPr marL="0" marR="0" fontAlgn="t">
                        <a:spcBef>
                          <a:spcPts val="0"/>
                        </a:spcBef>
                        <a:spcAft>
                          <a:spcPts val="0"/>
                        </a:spcAft>
                      </a:pPr>
                      <a:r>
                        <a:rPr lang="en-US" sz="1400">
                          <a:effectLst/>
                          <a:latin typeface="Calibri" panose="020F0502020204030204" pitchFamily="34" charset="0"/>
                        </a:rPr>
                        <a:t>I</a:t>
                      </a:r>
                      <a:r>
                        <a:rPr lang="en-US" sz="1400" b="1">
                          <a:effectLst/>
                          <a:latin typeface="Calibri" panose="020F0502020204030204" pitchFamily="34" charset="0"/>
                        </a:rPr>
                        <a:t>nput</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a:effectLst/>
                          <a:latin typeface="Calibri" panose="020F0502020204030204" pitchFamily="34" charset="0"/>
                        </a:rPr>
                        <a:t>Model 1 (M1)</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a:effectLst/>
                          <a:latin typeface="Calibri" panose="020F0502020204030204" pitchFamily="34" charset="0"/>
                        </a:rPr>
                        <a:t>Model 2 (M2)</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a:effectLst/>
                          <a:latin typeface="Calibri" panose="020F0502020204030204" pitchFamily="34" charset="0"/>
                        </a:rPr>
                        <a:t>Model 3 (M3)</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dirty="0">
                          <a:effectLst/>
                          <a:latin typeface="Calibri" panose="020F0502020204030204" pitchFamily="34" charset="0"/>
                        </a:rPr>
                        <a:t>Voting Ensemble</a:t>
                      </a:r>
                      <a:endParaRPr lang="en-US" sz="1400" dirty="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1076066349"/>
                  </a:ext>
                </a:extLst>
              </a:tr>
              <a:tr h="376515">
                <a:tc>
                  <a:txBody>
                    <a:bodyPr/>
                    <a:lstStyle/>
                    <a:p>
                      <a:pPr marL="0" marR="0" fontAlgn="t">
                        <a:spcBef>
                          <a:spcPts val="0"/>
                        </a:spcBef>
                        <a:spcAft>
                          <a:spcPts val="0"/>
                        </a:spcAft>
                      </a:pPr>
                      <a:r>
                        <a:rPr lang="en-US" sz="1400" b="1">
                          <a:effectLst/>
                          <a:latin typeface="Calibri" panose="020F0502020204030204" pitchFamily="34" charset="0"/>
                        </a:rPr>
                        <a:t>x1</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638289580"/>
                  </a:ext>
                </a:extLst>
              </a:tr>
              <a:tr h="376515">
                <a:tc>
                  <a:txBody>
                    <a:bodyPr/>
                    <a:lstStyle/>
                    <a:p>
                      <a:pPr marL="0" marR="0" fontAlgn="t">
                        <a:spcBef>
                          <a:spcPts val="0"/>
                        </a:spcBef>
                        <a:spcAft>
                          <a:spcPts val="0"/>
                        </a:spcAft>
                      </a:pPr>
                      <a:r>
                        <a:rPr lang="en-US" sz="1400" b="1">
                          <a:effectLst/>
                          <a:latin typeface="Calibri" panose="020F0502020204030204" pitchFamily="34" charset="0"/>
                        </a:rPr>
                        <a:t>x2</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2906671806"/>
                  </a:ext>
                </a:extLst>
              </a:tr>
              <a:tr h="376515">
                <a:tc>
                  <a:txBody>
                    <a:bodyPr/>
                    <a:lstStyle/>
                    <a:p>
                      <a:pPr marL="0" marR="0" fontAlgn="t">
                        <a:spcBef>
                          <a:spcPts val="0"/>
                        </a:spcBef>
                        <a:spcAft>
                          <a:spcPts val="0"/>
                        </a:spcAft>
                      </a:pPr>
                      <a:r>
                        <a:rPr lang="en-US" sz="1400" b="1" dirty="0">
                          <a:effectLst/>
                          <a:latin typeface="Calibri" panose="020F0502020204030204" pitchFamily="34" charset="0"/>
                        </a:rPr>
                        <a:t>x3</a:t>
                      </a:r>
                      <a:endParaRPr lang="en-US" sz="1400" dirty="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100" dirty="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699104149"/>
                  </a:ext>
                </a:extLst>
              </a:tr>
            </a:tbl>
          </a:graphicData>
        </a:graphic>
      </p:graphicFrame>
    </p:spTree>
    <p:extLst>
      <p:ext uri="{BB962C8B-B14F-4D97-AF65-F5344CB8AC3E}">
        <p14:creationId xmlns:p14="http://schemas.microsoft.com/office/powerpoint/2010/main" val="341529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Requirements to generate an improved model</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7</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10144185" cy="5601020"/>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400" b="1" spc="-7" dirty="0">
                <a:latin typeface="Calibri" panose="020F0502020204030204" pitchFamily="34" charset="0"/>
                <a:ea typeface="Calibri" panose="020F0502020204030204" pitchFamily="34" charset="0"/>
                <a:cs typeface="Calibri" panose="020F0502020204030204" pitchFamily="34" charset="0"/>
              </a:rPr>
              <a:t>Case </a:t>
            </a:r>
            <a:r>
              <a:rPr lang="en-US" sz="2400" b="1" spc="-7" dirty="0" smtClean="0">
                <a:latin typeface="Calibri" panose="020F0502020204030204" pitchFamily="34" charset="0"/>
                <a:ea typeface="Calibri" panose="020F0502020204030204" pitchFamily="34" charset="0"/>
                <a:cs typeface="Calibri" panose="020F0502020204030204" pitchFamily="34" charset="0"/>
              </a:rPr>
              <a:t>3</a:t>
            </a:r>
            <a:endParaRPr lang="en-US" sz="2400" b="1" spc="-7" dirty="0">
              <a:latin typeface="Calibri" panose="020F0502020204030204" pitchFamily="34" charset="0"/>
              <a:ea typeface="Calibri" panose="020F0502020204030204" pitchFamily="34" charset="0"/>
              <a:cs typeface="Calibri" panose="020F0502020204030204" pitchFamily="34" charset="0"/>
            </a:endParaRPr>
          </a:p>
          <a:p>
            <a:pPr marL="939788" indent="-457200">
              <a:lnSpc>
                <a:spcPct val="100000"/>
              </a:lnSpc>
              <a:spcBef>
                <a:spcPts val="1820"/>
              </a:spcBef>
              <a:buFont typeface="Wingdings" panose="05000000000000000000" pitchFamily="2" charset="2"/>
              <a:buChar char="q"/>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1225538" lvl="1" indent="-285750">
              <a:lnSpc>
                <a:spcPct val="100000"/>
              </a:lnSpc>
              <a:spcBef>
                <a:spcPts val="1820"/>
              </a:spcBef>
              <a:buFont typeface="Wingdings" panose="05000000000000000000" pitchFamily="2" charset="2"/>
              <a:buChar char="q"/>
              <a:tabLst>
                <a:tab pos="998195" algn="l"/>
              </a:tabLst>
            </a:pPr>
            <a:r>
              <a:rPr lang="en-US" spc="-7" dirty="0">
                <a:latin typeface="Calibri" panose="020F0502020204030204" pitchFamily="34" charset="0"/>
                <a:ea typeface="Calibri" panose="020F0502020204030204" pitchFamily="34" charset="0"/>
                <a:cs typeface="Calibri" panose="020F0502020204030204" pitchFamily="34" charset="0"/>
              </a:rPr>
              <a:t>Observations</a:t>
            </a:r>
          </a:p>
          <a:p>
            <a:pPr lvl="3" fontAlgn="ctr">
              <a:spcBef>
                <a:spcPts val="0"/>
              </a:spcBef>
            </a:pPr>
            <a:r>
              <a:rPr lang="en-US" dirty="0">
                <a:effectLst/>
                <a:latin typeface="Calibri" panose="020F0502020204030204" pitchFamily="34" charset="0"/>
              </a:rPr>
              <a:t>Diversity: The models (M1, M2, M3) show high diversity in their predictions for each input. Each model predicts differently for every case.</a:t>
            </a:r>
          </a:p>
          <a:p>
            <a:pPr lvl="3" fontAlgn="ctr">
              <a:spcBef>
                <a:spcPts val="0"/>
              </a:spcBef>
            </a:pPr>
            <a:r>
              <a:rPr lang="en-US" dirty="0">
                <a:effectLst/>
                <a:latin typeface="Calibri" panose="020F0502020204030204" pitchFamily="34" charset="0"/>
              </a:rPr>
              <a:t>Low Accuracy</a:t>
            </a:r>
          </a:p>
          <a:p>
            <a:pPr lvl="3" fontAlgn="ctr">
              <a:spcBef>
                <a:spcPts val="0"/>
              </a:spcBef>
            </a:pPr>
            <a:r>
              <a:rPr lang="en-US" dirty="0">
                <a:effectLst/>
                <a:latin typeface="Calibri" panose="020F0502020204030204" pitchFamily="34" charset="0"/>
              </a:rPr>
              <a:t>Outcome: </a:t>
            </a:r>
            <a:r>
              <a:rPr lang="en-US" dirty="0">
                <a:solidFill>
                  <a:schemeClr val="accent2">
                    <a:lumMod val="75000"/>
                  </a:schemeClr>
                </a:solidFill>
                <a:effectLst/>
                <a:latin typeface="Calibri" panose="020F0502020204030204" pitchFamily="34" charset="0"/>
              </a:rPr>
              <a:t>Negative Effect</a:t>
            </a:r>
            <a:r>
              <a:rPr lang="en-US" dirty="0">
                <a:solidFill>
                  <a:schemeClr val="accent2">
                    <a:lumMod val="75000"/>
                  </a:schemeClr>
                </a:solidFill>
                <a:latin typeface="Calibri" panose="020F0502020204030204" pitchFamily="34" charset="0"/>
              </a:rPr>
              <a:t>,</a:t>
            </a:r>
            <a:r>
              <a:rPr lang="en-US" dirty="0">
                <a:effectLst/>
                <a:latin typeface="Calibri" panose="020F0502020204030204" pitchFamily="34" charset="0"/>
              </a:rPr>
              <a:t> the ensemble method (majority voting) results in incorrect predictions for all inputs (x1, x2, x3).  The diversity is high, but since each model's prediction is incorrect.</a:t>
            </a:r>
          </a:p>
          <a:p>
            <a:pPr marL="1714500" lvl="3">
              <a:spcBef>
                <a:spcPts val="0"/>
              </a:spcBef>
            </a:pPr>
            <a:r>
              <a:rPr lang="en-US" b="1" dirty="0">
                <a:effectLst/>
                <a:latin typeface="Calibri" panose="020F0502020204030204" pitchFamily="34" charset="0"/>
              </a:rPr>
              <a:t>Error Propagation:</a:t>
            </a:r>
            <a:r>
              <a:rPr lang="en-US" dirty="0">
                <a:effectLst/>
                <a:latin typeface="Calibri" panose="020F0502020204030204" pitchFamily="34" charset="0"/>
              </a:rPr>
              <a:t> If all models have significant errors or if their predictions do not complement each other effectively, the ensemble’s performance can degrade, showing that </a:t>
            </a:r>
            <a:r>
              <a:rPr lang="en-US" b="1" dirty="0">
                <a:effectLst/>
                <a:latin typeface="Calibri" panose="020F0502020204030204" pitchFamily="34" charset="0"/>
              </a:rPr>
              <a:t>diversity alone is not enough; models also need to be reasonably accurate</a:t>
            </a:r>
            <a:r>
              <a:rPr lang="en-US" dirty="0">
                <a:effectLst/>
                <a:latin typeface="Calibri" panose="020F0502020204030204" pitchFamily="34" charset="0"/>
              </a:rPr>
              <a:t>.</a:t>
            </a:r>
          </a:p>
          <a:p>
            <a:pPr marL="482588" indent="0">
              <a:lnSpc>
                <a:spcPct val="100000"/>
              </a:lnSpc>
              <a:spcBef>
                <a:spcPts val="1820"/>
              </a:spcBef>
              <a:buNone/>
              <a:tabLst>
                <a:tab pos="998195" algn="l"/>
              </a:tabLst>
            </a:pPr>
            <a:endParaRPr lang="en-US" sz="2000" spc="-7" dirty="0">
              <a:latin typeface="Constantia"/>
              <a:cs typeface="Constantia"/>
            </a:endParaRPr>
          </a:p>
        </p:txBody>
      </p:sp>
      <p:graphicFrame>
        <p:nvGraphicFramePr>
          <p:cNvPr id="9" name="Table 8">
            <a:extLst>
              <a:ext uri="{FF2B5EF4-FFF2-40B4-BE49-F238E27FC236}">
                <a16:creationId xmlns:a16="http://schemas.microsoft.com/office/drawing/2014/main" xmlns="" id="{64FDD6DA-E442-712F-D535-51FCFEE59F65}"/>
              </a:ext>
            </a:extLst>
          </p:cNvPr>
          <p:cNvGraphicFramePr>
            <a:graphicFrameLocks noGrp="1"/>
          </p:cNvGraphicFramePr>
          <p:nvPr>
            <p:extLst>
              <p:ext uri="{D42A27DB-BD31-4B8C-83A1-F6EECF244321}">
                <p14:modId xmlns:p14="http://schemas.microsoft.com/office/powerpoint/2010/main" val="398072096"/>
              </p:ext>
            </p:extLst>
          </p:nvPr>
        </p:nvGraphicFramePr>
        <p:xfrm>
          <a:off x="2130552" y="1705362"/>
          <a:ext cx="4877293" cy="1657865"/>
        </p:xfrm>
        <a:graphic>
          <a:graphicData uri="http://schemas.openxmlformats.org/drawingml/2006/table">
            <a:tbl>
              <a:tblPr/>
              <a:tblGrid>
                <a:gridCol w="518287">
                  <a:extLst>
                    <a:ext uri="{9D8B030D-6E8A-4147-A177-3AD203B41FA5}">
                      <a16:colId xmlns:a16="http://schemas.microsoft.com/office/drawing/2014/main" xmlns="" val="260970713"/>
                    </a:ext>
                  </a:extLst>
                </a:gridCol>
                <a:gridCol w="1060932">
                  <a:extLst>
                    <a:ext uri="{9D8B030D-6E8A-4147-A177-3AD203B41FA5}">
                      <a16:colId xmlns:a16="http://schemas.microsoft.com/office/drawing/2014/main" xmlns="" val="2893895310"/>
                    </a:ext>
                  </a:extLst>
                </a:gridCol>
                <a:gridCol w="1060932">
                  <a:extLst>
                    <a:ext uri="{9D8B030D-6E8A-4147-A177-3AD203B41FA5}">
                      <a16:colId xmlns:a16="http://schemas.microsoft.com/office/drawing/2014/main" xmlns="" val="1845019615"/>
                    </a:ext>
                  </a:extLst>
                </a:gridCol>
                <a:gridCol w="1060932">
                  <a:extLst>
                    <a:ext uri="{9D8B030D-6E8A-4147-A177-3AD203B41FA5}">
                      <a16:colId xmlns:a16="http://schemas.microsoft.com/office/drawing/2014/main" xmlns="" val="572071762"/>
                    </a:ext>
                  </a:extLst>
                </a:gridCol>
                <a:gridCol w="1176210">
                  <a:extLst>
                    <a:ext uri="{9D8B030D-6E8A-4147-A177-3AD203B41FA5}">
                      <a16:colId xmlns:a16="http://schemas.microsoft.com/office/drawing/2014/main" xmlns="" val="74343844"/>
                    </a:ext>
                  </a:extLst>
                </a:gridCol>
              </a:tblGrid>
              <a:tr h="376515">
                <a:tc>
                  <a:txBody>
                    <a:bodyPr/>
                    <a:lstStyle/>
                    <a:p>
                      <a:pPr marL="0" marR="0" fontAlgn="t">
                        <a:spcBef>
                          <a:spcPts val="0"/>
                        </a:spcBef>
                        <a:spcAft>
                          <a:spcPts val="0"/>
                        </a:spcAft>
                      </a:pPr>
                      <a:r>
                        <a:rPr lang="en-US" sz="1400" dirty="0">
                          <a:effectLst/>
                          <a:latin typeface="Calibri" panose="020F0502020204030204" pitchFamily="34" charset="0"/>
                        </a:rPr>
                        <a:t>I</a:t>
                      </a:r>
                      <a:r>
                        <a:rPr lang="en-US" sz="1400" b="1" dirty="0">
                          <a:effectLst/>
                          <a:latin typeface="Calibri" panose="020F0502020204030204" pitchFamily="34" charset="0"/>
                        </a:rPr>
                        <a:t>nput</a:t>
                      </a:r>
                      <a:endParaRPr lang="en-US" sz="1400" dirty="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a:effectLst/>
                          <a:latin typeface="Calibri" panose="020F0502020204030204" pitchFamily="34" charset="0"/>
                        </a:rPr>
                        <a:t>Model 1 (M1)</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a:effectLst/>
                          <a:latin typeface="Calibri" panose="020F0502020204030204" pitchFamily="34" charset="0"/>
                        </a:rPr>
                        <a:t>Model 2 (M2)</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a:effectLst/>
                          <a:latin typeface="Calibri" panose="020F0502020204030204" pitchFamily="34" charset="0"/>
                        </a:rPr>
                        <a:t>Model 3 (M3)</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b="1">
                          <a:effectLst/>
                          <a:latin typeface="Calibri" panose="020F0502020204030204" pitchFamily="34" charset="0"/>
                        </a:rPr>
                        <a:t>Voting Ensemble</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1076066349"/>
                  </a:ext>
                </a:extLst>
              </a:tr>
              <a:tr h="376515">
                <a:tc>
                  <a:txBody>
                    <a:bodyPr/>
                    <a:lstStyle/>
                    <a:p>
                      <a:pPr marL="0" marR="0" fontAlgn="t">
                        <a:spcBef>
                          <a:spcPts val="0"/>
                        </a:spcBef>
                        <a:spcAft>
                          <a:spcPts val="0"/>
                        </a:spcAft>
                      </a:pPr>
                      <a:r>
                        <a:rPr lang="en-US" sz="1400" b="1">
                          <a:effectLst/>
                          <a:latin typeface="Calibri" panose="020F0502020204030204" pitchFamily="34" charset="0"/>
                        </a:rPr>
                        <a:t>x1</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638289580"/>
                  </a:ext>
                </a:extLst>
              </a:tr>
              <a:tr h="376515">
                <a:tc>
                  <a:txBody>
                    <a:bodyPr/>
                    <a:lstStyle/>
                    <a:p>
                      <a:pPr marL="0" marR="0" fontAlgn="t">
                        <a:spcBef>
                          <a:spcPts val="0"/>
                        </a:spcBef>
                        <a:spcAft>
                          <a:spcPts val="0"/>
                        </a:spcAft>
                      </a:pPr>
                      <a:r>
                        <a:rPr lang="en-US" sz="1400" b="1">
                          <a:effectLst/>
                          <a:latin typeface="Calibri" panose="020F0502020204030204" pitchFamily="34" charset="0"/>
                        </a:rPr>
                        <a:t>x2</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2906671806"/>
                  </a:ext>
                </a:extLst>
              </a:tr>
              <a:tr h="376515">
                <a:tc>
                  <a:txBody>
                    <a:bodyPr/>
                    <a:lstStyle/>
                    <a:p>
                      <a:pPr marL="0" marR="0" fontAlgn="t">
                        <a:spcBef>
                          <a:spcPts val="0"/>
                        </a:spcBef>
                        <a:spcAft>
                          <a:spcPts val="0"/>
                        </a:spcAft>
                      </a:pPr>
                      <a:r>
                        <a:rPr lang="en-US" sz="1400" b="1">
                          <a:effectLst/>
                          <a:latin typeface="Calibri" panose="020F0502020204030204" pitchFamily="34" charset="0"/>
                        </a:rPr>
                        <a:t>x3</a:t>
                      </a:r>
                      <a:endParaRPr lang="en-US" sz="140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dirty="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spcBef>
                          <a:spcPts val="0"/>
                        </a:spcBef>
                        <a:spcAft>
                          <a:spcPts val="0"/>
                        </a:spcAft>
                      </a:pPr>
                      <a:r>
                        <a:rPr lang="en-US" sz="1400" dirty="0">
                          <a:effectLst/>
                          <a:latin typeface="Segoe UI Symbol" panose="020B0502040204020203" pitchFamily="34" charset="0"/>
                        </a:rPr>
                        <a: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xmlns="" val="699104149"/>
                  </a:ext>
                </a:extLst>
              </a:tr>
            </a:tbl>
          </a:graphicData>
        </a:graphic>
      </p:graphicFrame>
    </p:spTree>
    <p:extLst>
      <p:ext uri="{BB962C8B-B14F-4D97-AF65-F5344CB8AC3E}">
        <p14:creationId xmlns:p14="http://schemas.microsoft.com/office/powerpoint/2010/main" val="651607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Requirements to generate an improved model</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8</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9477012" cy="5311711"/>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000" b="1" spc="-7" dirty="0">
                <a:latin typeface="Calibri" panose="020F0502020204030204" pitchFamily="34" charset="0"/>
                <a:ea typeface="Calibri" panose="020F0502020204030204" pitchFamily="34" charset="0"/>
                <a:cs typeface="Calibri" panose="020F0502020204030204" pitchFamily="34" charset="0"/>
              </a:rPr>
              <a:t>Takeaways</a:t>
            </a:r>
          </a:p>
          <a:p>
            <a:pPr marL="1396988" lvl="1" indent="-457200">
              <a:lnSpc>
                <a:spcPct val="100000"/>
              </a:lnSpc>
              <a:spcBef>
                <a:spcPts val="1820"/>
              </a:spcBef>
              <a:buFont typeface="Wingdings" panose="05000000000000000000" pitchFamily="2" charset="2"/>
              <a:buChar char="q"/>
              <a:tabLst>
                <a:tab pos="998195" algn="l"/>
              </a:tabLst>
            </a:pPr>
            <a:r>
              <a:rPr lang="en-US" sz="2000" b="1" spc="-7" smtClean="0">
                <a:latin typeface="Calibri" panose="020F0502020204030204" pitchFamily="34" charset="0"/>
                <a:ea typeface="Calibri" panose="020F0502020204030204" pitchFamily="34" charset="0"/>
                <a:cs typeface="Calibri" panose="020F0502020204030204" pitchFamily="34" charset="0"/>
              </a:rPr>
              <a:t>Positive </a:t>
            </a:r>
            <a:r>
              <a:rPr lang="en-US" sz="2000" b="1" spc="-7" dirty="0">
                <a:latin typeface="Calibri" panose="020F0502020204030204" pitchFamily="34" charset="0"/>
                <a:ea typeface="Calibri" panose="020F0502020204030204" pitchFamily="34" charset="0"/>
                <a:cs typeface="Calibri" panose="020F0502020204030204" pitchFamily="34" charset="0"/>
              </a:rPr>
              <a:t>Effect</a:t>
            </a:r>
            <a:r>
              <a:rPr lang="en-US" sz="2000" spc="-7" dirty="0">
                <a:latin typeface="Calibri" panose="020F0502020204030204" pitchFamily="34" charset="0"/>
                <a:ea typeface="Calibri" panose="020F0502020204030204" pitchFamily="34" charset="0"/>
                <a:cs typeface="Calibri" panose="020F0502020204030204" pitchFamily="34" charset="0"/>
              </a:rPr>
              <a:t>:  When models are </a:t>
            </a:r>
            <a:r>
              <a:rPr lang="en-US" sz="2000" spc="-7"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diverse and individually accurate</a:t>
            </a:r>
            <a:r>
              <a:rPr lang="en-US" sz="2000" spc="-7" dirty="0">
                <a:latin typeface="Calibri" panose="020F0502020204030204" pitchFamily="34" charset="0"/>
                <a:ea typeface="Calibri" panose="020F0502020204030204" pitchFamily="34" charset="0"/>
                <a:cs typeface="Calibri" panose="020F0502020204030204" pitchFamily="34" charset="0"/>
              </a:rPr>
              <a:t>, the ensemble can correct errors and improve overall performance.</a:t>
            </a:r>
          </a:p>
          <a:p>
            <a:pPr marL="1396988" lvl="1" indent="-457200">
              <a:lnSpc>
                <a:spcPct val="100000"/>
              </a:lnSpc>
              <a:spcBef>
                <a:spcPts val="1820"/>
              </a:spcBef>
              <a:buFont typeface="Wingdings" panose="05000000000000000000" pitchFamily="2" charset="2"/>
              <a:buChar char="q"/>
              <a:tabLst>
                <a:tab pos="998195" algn="l"/>
              </a:tabLst>
            </a:pPr>
            <a:r>
              <a:rPr lang="en-US" sz="2000" b="1" spc="-7" dirty="0">
                <a:latin typeface="Calibri" panose="020F0502020204030204" pitchFamily="34" charset="0"/>
                <a:ea typeface="Calibri" panose="020F0502020204030204" pitchFamily="34" charset="0"/>
                <a:cs typeface="Calibri" panose="020F0502020204030204" pitchFamily="34" charset="0"/>
              </a:rPr>
              <a:t>No Effect</a:t>
            </a:r>
            <a:r>
              <a:rPr lang="en-US" sz="2000" spc="-7" dirty="0">
                <a:latin typeface="Calibri" panose="020F0502020204030204" pitchFamily="34" charset="0"/>
                <a:ea typeface="Calibri" panose="020F0502020204030204" pitchFamily="34" charset="0"/>
                <a:cs typeface="Calibri" panose="020F0502020204030204" pitchFamily="34" charset="0"/>
              </a:rPr>
              <a:t>: When models are </a:t>
            </a:r>
            <a:r>
              <a:rPr lang="en-US" sz="2000" spc="-7"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too similar (lack diversity) and already highly accurate</a:t>
            </a:r>
            <a:r>
              <a:rPr lang="en-US" sz="2000" spc="-7" dirty="0">
                <a:latin typeface="Calibri" panose="020F0502020204030204" pitchFamily="34" charset="0"/>
                <a:ea typeface="Calibri" panose="020F0502020204030204" pitchFamily="34" charset="0"/>
                <a:cs typeface="Calibri" panose="020F0502020204030204" pitchFamily="34" charset="0"/>
              </a:rPr>
              <a:t>, the ensemble adds little value, resulting in no significant improvement.</a:t>
            </a:r>
          </a:p>
          <a:p>
            <a:pPr marL="1396988" lvl="1" indent="-457200">
              <a:lnSpc>
                <a:spcPct val="100000"/>
              </a:lnSpc>
              <a:spcBef>
                <a:spcPts val="1820"/>
              </a:spcBef>
              <a:buFont typeface="Wingdings" panose="05000000000000000000" pitchFamily="2" charset="2"/>
              <a:buChar char="q"/>
              <a:tabLst>
                <a:tab pos="998195" algn="l"/>
              </a:tabLst>
            </a:pPr>
            <a:r>
              <a:rPr lang="en-US" sz="2000" b="1" spc="-7" dirty="0">
                <a:latin typeface="Calibri" panose="020F0502020204030204" pitchFamily="34" charset="0"/>
                <a:ea typeface="Calibri" panose="020F0502020204030204" pitchFamily="34" charset="0"/>
                <a:cs typeface="Calibri" panose="020F0502020204030204" pitchFamily="34" charset="0"/>
              </a:rPr>
              <a:t>Negative Effect</a:t>
            </a:r>
            <a:r>
              <a:rPr lang="en-US" sz="2000" spc="-7" dirty="0">
                <a:latin typeface="Calibri" panose="020F0502020204030204" pitchFamily="34" charset="0"/>
                <a:ea typeface="Calibri" panose="020F0502020204030204" pitchFamily="34" charset="0"/>
                <a:cs typeface="Calibri" panose="020F0502020204030204" pitchFamily="34" charset="0"/>
              </a:rPr>
              <a:t>: When an ensemble includes a model with </a:t>
            </a:r>
            <a:r>
              <a:rPr lang="en-US" sz="2000" spc="-7"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low accuracy</a:t>
            </a:r>
            <a:r>
              <a:rPr lang="en-US" sz="2000" spc="-7" dirty="0">
                <a:latin typeface="Calibri" panose="020F0502020204030204" pitchFamily="34" charset="0"/>
                <a:ea typeface="Calibri" panose="020F0502020204030204" pitchFamily="34" charset="0"/>
                <a:cs typeface="Calibri" panose="020F0502020204030204" pitchFamily="34" charset="0"/>
              </a:rPr>
              <a:t>, even if other models are </a:t>
            </a:r>
            <a:r>
              <a:rPr lang="en-US" sz="2000" spc="-7"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diverse</a:t>
            </a:r>
            <a:r>
              <a:rPr lang="en-US" sz="2000" spc="-7" dirty="0">
                <a:latin typeface="Calibri" panose="020F0502020204030204" pitchFamily="34" charset="0"/>
                <a:ea typeface="Calibri" panose="020F0502020204030204" pitchFamily="34" charset="0"/>
                <a:cs typeface="Calibri" panose="020F0502020204030204" pitchFamily="34" charset="0"/>
              </a:rPr>
              <a:t>, the overall performance can suffer, leading to a decline in accuracy.</a:t>
            </a: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p:txBody>
      </p:sp>
    </p:spTree>
    <p:extLst>
      <p:ext uri="{BB962C8B-B14F-4D97-AF65-F5344CB8AC3E}">
        <p14:creationId xmlns:p14="http://schemas.microsoft.com/office/powerpoint/2010/main" val="2683649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Requirements to generate an improved model</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9</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9477012" cy="5804153"/>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000" dirty="0">
                <a:effectLst/>
                <a:latin typeface="Calibri" panose="020F0502020204030204" pitchFamily="34" charset="0"/>
                <a:ea typeface="Calibri" panose="020F0502020204030204" pitchFamily="34" charset="0"/>
                <a:cs typeface="Calibri" panose="020F0502020204030204" pitchFamily="34" charset="0"/>
              </a:rPr>
              <a:t>What are the requirements to achieve an improved model?</a:t>
            </a:r>
          </a:p>
          <a:p>
            <a:pPr marL="939788" lvl="1" indent="0">
              <a:lnSpc>
                <a:spcPct val="100000"/>
              </a:lnSpc>
              <a:spcBef>
                <a:spcPts val="1820"/>
              </a:spcBef>
              <a:buNone/>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Base models should be </a:t>
            </a:r>
          </a:p>
          <a:p>
            <a:pPr marL="1739888" lvl="2" indent="-342900">
              <a:lnSpc>
                <a:spcPct val="100000"/>
              </a:lnSpc>
              <a:spcBef>
                <a:spcPts val="1820"/>
              </a:spcBef>
              <a:buFont typeface="Wingdings" panose="05000000000000000000" pitchFamily="2" charset="2"/>
              <a:buChar char="ü"/>
              <a:tabLst>
                <a:tab pos="998195" algn="l"/>
              </a:tabLst>
            </a:pPr>
            <a:r>
              <a:rPr lang="en-US" sz="1800" spc="-7" dirty="0">
                <a:latin typeface="Calibri" panose="020F0502020204030204" pitchFamily="34" charset="0"/>
                <a:ea typeface="Calibri" panose="020F0502020204030204" pitchFamily="34" charset="0"/>
                <a:cs typeface="Calibri" panose="020F0502020204030204" pitchFamily="34" charset="0"/>
              </a:rPr>
              <a:t>Accurate</a:t>
            </a:r>
          </a:p>
          <a:p>
            <a:pPr marL="1739888" lvl="2" indent="-342900">
              <a:lnSpc>
                <a:spcPct val="100000"/>
              </a:lnSpc>
              <a:spcBef>
                <a:spcPts val="1820"/>
              </a:spcBef>
              <a:buFont typeface="Wingdings" panose="05000000000000000000" pitchFamily="2" charset="2"/>
              <a:buChar char="ü"/>
              <a:tabLst>
                <a:tab pos="998195" algn="l"/>
              </a:tabLst>
            </a:pPr>
            <a:r>
              <a:rPr lang="en-US" sz="1800" spc="-7" dirty="0">
                <a:latin typeface="Calibri" panose="020F0502020204030204" pitchFamily="34" charset="0"/>
                <a:ea typeface="Calibri" panose="020F0502020204030204" pitchFamily="34" charset="0"/>
                <a:cs typeface="Calibri" panose="020F0502020204030204" pitchFamily="34" charset="0"/>
              </a:rPr>
              <a:t>Diverse</a:t>
            </a:r>
          </a:p>
          <a:p>
            <a:pPr marL="825488" indent="-342900">
              <a:lnSpc>
                <a:spcPct val="100000"/>
              </a:lnSpc>
              <a:spcBef>
                <a:spcPts val="1820"/>
              </a:spcBef>
              <a:buFont typeface="Wingdings" panose="05000000000000000000" pitchFamily="2" charset="2"/>
              <a:buChar char="q"/>
              <a:tabLst>
                <a:tab pos="998195" algn="l"/>
              </a:tabLst>
            </a:pPr>
            <a:r>
              <a:rPr lang="en-US" sz="2000" spc="-13" dirty="0">
                <a:latin typeface="Calibri" panose="020F0502020204030204" pitchFamily="34" charset="0"/>
                <a:ea typeface="Calibri" panose="020F0502020204030204" pitchFamily="34" charset="0"/>
                <a:cs typeface="Calibri" panose="020F0502020204030204" pitchFamily="34" charset="0"/>
              </a:rPr>
              <a:t>How to introduce diversity among models?</a:t>
            </a:r>
          </a:p>
          <a:p>
            <a:pPr marL="1282688" lvl="1" indent="-342900">
              <a:lnSpc>
                <a:spcPct val="100000"/>
              </a:lnSpc>
              <a:spcBef>
                <a:spcPts val="1820"/>
              </a:spcBef>
              <a:buFont typeface="Wingdings" panose="05000000000000000000" pitchFamily="2" charset="2"/>
              <a:buChar char="§"/>
              <a:tabLst>
                <a:tab pos="998195" algn="l"/>
              </a:tabLst>
            </a:pPr>
            <a:r>
              <a:rPr lang="en-US" sz="2000" dirty="0">
                <a:effectLst/>
                <a:latin typeface="Calibri" panose="020F0502020204030204" pitchFamily="34" charset="0"/>
              </a:rPr>
              <a:t>By using Different Algorithms</a:t>
            </a:r>
          </a:p>
          <a:p>
            <a:pPr marL="1282688" lvl="1" indent="-342900">
              <a:lnSpc>
                <a:spcPct val="100000"/>
              </a:lnSpc>
              <a:spcBef>
                <a:spcPts val="1820"/>
              </a:spcBef>
              <a:buFont typeface="Wingdings" panose="05000000000000000000" pitchFamily="2" charset="2"/>
              <a:buChar char="§"/>
              <a:tabLst>
                <a:tab pos="998195" algn="l"/>
              </a:tabLst>
            </a:pPr>
            <a:r>
              <a:rPr lang="en-US" sz="2000" dirty="0">
                <a:effectLst/>
                <a:latin typeface="Calibri" panose="020F0502020204030204" pitchFamily="34" charset="0"/>
              </a:rPr>
              <a:t> Same Algorithms but training the models on different subsets of data.</a:t>
            </a:r>
            <a:endParaRPr lang="en-US" sz="2000" dirty="0">
              <a:latin typeface="Calibri" panose="020F0502020204030204" pitchFamily="34" charset="0"/>
            </a:endParaRPr>
          </a:p>
          <a:p>
            <a:pPr marL="1282688" lvl="1" indent="-342900">
              <a:lnSpc>
                <a:spcPct val="100000"/>
              </a:lnSpc>
              <a:spcBef>
                <a:spcPts val="1820"/>
              </a:spcBef>
              <a:buFont typeface="Wingdings" panose="05000000000000000000" pitchFamily="2" charset="2"/>
              <a:buChar char="§"/>
              <a:tabLst>
                <a:tab pos="998195" algn="l"/>
              </a:tabLst>
            </a:pPr>
            <a:r>
              <a:rPr lang="en-US" sz="2000" dirty="0">
                <a:effectLst/>
                <a:latin typeface="Calibri" panose="020F0502020204030204" pitchFamily="34" charset="0"/>
              </a:rPr>
              <a:t>Combination of both</a:t>
            </a:r>
            <a:endParaRPr lang="en-US" sz="20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endParaRPr lang="en-US" sz="2000" spc="-13" dirty="0">
              <a:latin typeface="Calibri" panose="020F0502020204030204" pitchFamily="34" charset="0"/>
              <a:ea typeface="Calibri" panose="020F0502020204030204" pitchFamily="34" charset="0"/>
              <a:cs typeface="Calibri" panose="020F0502020204030204" pitchFamily="34" charset="0"/>
            </a:endParaRPr>
          </a:p>
          <a:p>
            <a:pPr marL="1282688" lvl="1" indent="-342900">
              <a:lnSpc>
                <a:spcPct val="100000"/>
              </a:lnSpc>
              <a:spcBef>
                <a:spcPts val="1820"/>
              </a:spcBef>
              <a:buFont typeface="Wingdings" panose="05000000000000000000" pitchFamily="2" charset="2"/>
              <a:buChar char="q"/>
              <a:tabLst>
                <a:tab pos="998195" algn="l"/>
              </a:tabLst>
            </a:pPr>
            <a:endParaRPr lang="en-US" sz="16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endParaRPr lang="en-US" sz="2000" spc="-7" dirty="0">
              <a:latin typeface="Constantia"/>
              <a:cs typeface="Constantia"/>
            </a:endParaRPr>
          </a:p>
        </p:txBody>
      </p:sp>
    </p:spTree>
    <p:extLst>
      <p:ext uri="{BB962C8B-B14F-4D97-AF65-F5344CB8AC3E}">
        <p14:creationId xmlns:p14="http://schemas.microsoft.com/office/powerpoint/2010/main" val="2795793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Ensemble Learning</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10</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9477012" cy="6265818"/>
          </a:xfrm>
          <a:prstGeom prst="rect">
            <a:avLst/>
          </a:prstGeom>
        </p:spPr>
        <p:txBody>
          <a:bodyPr vert="horz" wrap="square" lIns="0" tIns="231140" rIns="0" bIns="0" rtlCol="0">
            <a:spAutoFit/>
          </a:bodyPr>
          <a:lstStyle/>
          <a:p>
            <a:pPr marL="768338" indent="-285750">
              <a:lnSpc>
                <a:spcPct val="100000"/>
              </a:lnSpc>
              <a:spcBef>
                <a:spcPts val="1820"/>
              </a:spcBef>
              <a:buFont typeface="Wingdings" panose="05000000000000000000" pitchFamily="2" charset="2"/>
              <a:buChar char="q"/>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Prediction phase of ensemble learning </a:t>
            </a:r>
          </a:p>
          <a:p>
            <a:pPr marL="1282688" lvl="1" indent="-342900">
              <a:lnSpc>
                <a:spcPct val="100000"/>
              </a:lnSpc>
              <a:spcBef>
                <a:spcPts val="1820"/>
              </a:spcBef>
              <a:buFont typeface="Wingdings" panose="05000000000000000000" pitchFamily="2" charset="2"/>
              <a:buChar char="§"/>
              <a:tabLst>
                <a:tab pos="998195" algn="l"/>
              </a:tabLst>
            </a:pPr>
            <a:r>
              <a:rPr lang="en-US" sz="2000" spc="-13" dirty="0">
                <a:latin typeface="Calibri" panose="020F0502020204030204" pitchFamily="34" charset="0"/>
                <a:ea typeface="Calibri" panose="020F0502020204030204" pitchFamily="34" charset="0"/>
                <a:cs typeface="Calibri" panose="020F0502020204030204" pitchFamily="34" charset="0"/>
              </a:rPr>
              <a:t> For classification problem : Majority </a:t>
            </a:r>
            <a:r>
              <a:rPr lang="en-US" sz="2000" spc="-13" dirty="0" smtClean="0">
                <a:latin typeface="Calibri" panose="020F0502020204030204" pitchFamily="34" charset="0"/>
                <a:ea typeface="Calibri" panose="020F0502020204030204" pitchFamily="34" charset="0"/>
                <a:cs typeface="Calibri" panose="020F0502020204030204" pitchFamily="34" charset="0"/>
              </a:rPr>
              <a:t>Count</a:t>
            </a:r>
          </a:p>
          <a:p>
            <a:pPr marL="939788" lvl="1" indent="0">
              <a:lnSpc>
                <a:spcPct val="100000"/>
              </a:lnSpc>
              <a:spcBef>
                <a:spcPts val="1820"/>
              </a:spcBef>
              <a:buNone/>
              <a:tabLst>
                <a:tab pos="998195" algn="l"/>
              </a:tabLst>
            </a:pPr>
            <a:r>
              <a:rPr lang="en-US" sz="2000" dirty="0"/>
              <a:t>For example, if three models predict a binary classification (e.g., Class A or Class B) and two models predict Class A while one predicts Class B, the ensemble will output Class A (the majority prediction</a:t>
            </a:r>
            <a:r>
              <a:rPr lang="en-US" sz="2000" dirty="0" smtClean="0"/>
              <a:t>).</a:t>
            </a:r>
            <a:endParaRPr lang="en-US" sz="2000" spc="-13" dirty="0">
              <a:latin typeface="Calibri" panose="020F0502020204030204" pitchFamily="34" charset="0"/>
              <a:ea typeface="Calibri" panose="020F0502020204030204" pitchFamily="34" charset="0"/>
              <a:cs typeface="Calibri" panose="020F0502020204030204" pitchFamily="34" charset="0"/>
            </a:endParaRPr>
          </a:p>
          <a:p>
            <a:pPr marL="1282688" lvl="1" indent="-342900">
              <a:lnSpc>
                <a:spcPct val="100000"/>
              </a:lnSpc>
              <a:spcBef>
                <a:spcPts val="1820"/>
              </a:spcBef>
              <a:buFont typeface="Wingdings" panose="05000000000000000000" pitchFamily="2" charset="2"/>
              <a:buChar char="§"/>
              <a:tabLst>
                <a:tab pos="998195" algn="l"/>
              </a:tabLst>
            </a:pPr>
            <a:r>
              <a:rPr lang="en-US" sz="2000" spc="-13" dirty="0">
                <a:latin typeface="Calibri" panose="020F0502020204030204" pitchFamily="34" charset="0"/>
                <a:ea typeface="Calibri" panose="020F0502020204030204" pitchFamily="34" charset="0"/>
                <a:cs typeface="Calibri" panose="020F0502020204030204" pitchFamily="34" charset="0"/>
              </a:rPr>
              <a:t>For Regression Problem : </a:t>
            </a:r>
            <a:r>
              <a:rPr lang="en-US" sz="2000" spc="-13" dirty="0" smtClean="0">
                <a:latin typeface="Calibri" panose="020F0502020204030204" pitchFamily="34" charset="0"/>
                <a:ea typeface="Calibri" panose="020F0502020204030204" pitchFamily="34" charset="0"/>
                <a:cs typeface="Calibri" panose="020F0502020204030204" pitchFamily="34" charset="0"/>
              </a:rPr>
              <a:t>Average</a:t>
            </a:r>
          </a:p>
          <a:p>
            <a:pPr marL="939788" lvl="1" indent="0">
              <a:lnSpc>
                <a:spcPct val="100000"/>
              </a:lnSpc>
              <a:spcBef>
                <a:spcPts val="1820"/>
              </a:spcBef>
              <a:buNone/>
              <a:tabLst>
                <a:tab pos="998195" algn="l"/>
              </a:tabLst>
            </a:pPr>
            <a:r>
              <a:rPr lang="en-US" sz="2000" dirty="0"/>
              <a:t>For example, if three models predict values 5.2, 5.8, and 6.0, the ensemble would output the average of these predictions: </a:t>
            </a:r>
            <a:r>
              <a:rPr lang="en-US" sz="2000" dirty="0" smtClean="0"/>
              <a:t>5.2+5.8+6.0/3=5.67</a:t>
            </a:r>
          </a:p>
          <a:p>
            <a:pPr marL="939788" lvl="1" indent="0">
              <a:lnSpc>
                <a:spcPct val="100000"/>
              </a:lnSpc>
              <a:spcBef>
                <a:spcPts val="1820"/>
              </a:spcBef>
              <a:buNone/>
              <a:tabLst>
                <a:tab pos="998195" algn="l"/>
              </a:tabLst>
            </a:pPr>
            <a:endParaRPr lang="en-US" sz="2000" dirty="0" smtClean="0"/>
          </a:p>
          <a:p>
            <a:pPr marL="939788" lvl="1" indent="0">
              <a:lnSpc>
                <a:spcPct val="100000"/>
              </a:lnSpc>
              <a:spcBef>
                <a:spcPts val="1820"/>
              </a:spcBef>
              <a:buNone/>
              <a:tabLst>
                <a:tab pos="998195" algn="l"/>
              </a:tabLst>
            </a:pPr>
            <a:endParaRPr lang="en-US" sz="1600" b="1" spc="-13" dirty="0">
              <a:latin typeface="Calibri" panose="020F0502020204030204" pitchFamily="34" charset="0"/>
              <a:ea typeface="Calibri" panose="020F0502020204030204" pitchFamily="34" charset="0"/>
              <a:cs typeface="Calibri" panose="020F0502020204030204" pitchFamily="34" charset="0"/>
            </a:endParaRPr>
          </a:p>
          <a:p>
            <a:pPr marL="1282688" lvl="1" indent="-342900">
              <a:lnSpc>
                <a:spcPct val="100000"/>
              </a:lnSpc>
              <a:spcBef>
                <a:spcPts val="1820"/>
              </a:spcBef>
              <a:buFont typeface="Wingdings" panose="05000000000000000000" pitchFamily="2" charset="2"/>
              <a:buChar char="q"/>
              <a:tabLst>
                <a:tab pos="998195" algn="l"/>
              </a:tabLst>
            </a:pPr>
            <a:endParaRPr lang="en-US" sz="16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endParaRPr lang="en-US" sz="2000" spc="-7" dirty="0">
              <a:latin typeface="Constantia"/>
              <a:cs typeface="Constantia"/>
            </a:endParaRPr>
          </a:p>
        </p:txBody>
      </p:sp>
    </p:spTree>
    <p:extLst>
      <p:ext uri="{BB962C8B-B14F-4D97-AF65-F5344CB8AC3E}">
        <p14:creationId xmlns:p14="http://schemas.microsoft.com/office/powerpoint/2010/main" val="4216098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Types of Ensemble Learning</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11</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88347" y="1037425"/>
            <a:ext cx="8991599" cy="4773102"/>
          </a:xfrm>
          <a:prstGeom prst="rect">
            <a:avLst/>
          </a:prstGeom>
        </p:spPr>
        <p:txBody>
          <a:bodyPr vert="horz" wrap="square" lIns="0" tIns="231140" rIns="0" bIns="0" rtlCol="0">
            <a:spAutoFit/>
          </a:bodyPr>
          <a:lstStyle/>
          <a:p>
            <a:pPr rtl="0" fontAlgn="ctr">
              <a:spcBef>
                <a:spcPts val="0"/>
              </a:spcBef>
              <a:spcAft>
                <a:spcPts val="0"/>
              </a:spcAft>
              <a:buFont typeface="Wingdings" panose="05000000000000000000" pitchFamily="2" charset="2"/>
              <a:buChar char="q"/>
            </a:pPr>
            <a:r>
              <a:rPr lang="en-US" sz="2000" dirty="0">
                <a:effectLst/>
                <a:latin typeface="Calibri" panose="020F0502020204030204" pitchFamily="34" charset="0"/>
              </a:rPr>
              <a:t>Voting Ensemble</a:t>
            </a:r>
          </a:p>
          <a:p>
            <a:pPr marL="0" indent="0" rtl="0" fontAlgn="ctr">
              <a:spcBef>
                <a:spcPts val="0"/>
              </a:spcBef>
              <a:spcAft>
                <a:spcPts val="0"/>
              </a:spcAft>
              <a:buNone/>
            </a:pPr>
            <a:endParaRPr lang="en-US" sz="2000" dirty="0">
              <a:effectLst/>
              <a:latin typeface="Calibri" panose="020F0502020204030204" pitchFamily="34" charset="0"/>
            </a:endParaRPr>
          </a:p>
          <a:p>
            <a:pPr rtl="0" fontAlgn="ctr">
              <a:spcBef>
                <a:spcPts val="0"/>
              </a:spcBef>
              <a:spcAft>
                <a:spcPts val="0"/>
              </a:spcAft>
              <a:buFont typeface="Wingdings" panose="05000000000000000000" pitchFamily="2" charset="2"/>
              <a:buChar char="q"/>
            </a:pPr>
            <a:r>
              <a:rPr lang="en-US" sz="2000" dirty="0">
                <a:effectLst/>
                <a:latin typeface="Calibri" panose="020F0502020204030204" pitchFamily="34" charset="0"/>
              </a:rPr>
              <a:t>Bagging</a:t>
            </a:r>
          </a:p>
          <a:p>
            <a:pPr marL="0" indent="0" rtl="0" fontAlgn="ctr">
              <a:spcBef>
                <a:spcPts val="0"/>
              </a:spcBef>
              <a:spcAft>
                <a:spcPts val="0"/>
              </a:spcAft>
              <a:buNone/>
            </a:pPr>
            <a:endParaRPr lang="en-US" sz="2000" dirty="0">
              <a:effectLst/>
              <a:latin typeface="Calibri" panose="020F0502020204030204" pitchFamily="34" charset="0"/>
            </a:endParaRPr>
          </a:p>
          <a:p>
            <a:pPr lvl="1" fontAlgn="ctr">
              <a:spcBef>
                <a:spcPts val="0"/>
              </a:spcBef>
              <a:buFont typeface="Wingdings" panose="05000000000000000000" pitchFamily="2" charset="2"/>
              <a:buChar char="§"/>
            </a:pPr>
            <a:r>
              <a:rPr lang="en-US" sz="2000" dirty="0">
                <a:effectLst/>
                <a:latin typeface="Calibri" panose="020F0502020204030204" pitchFamily="34" charset="0"/>
              </a:rPr>
              <a:t>Random Forest</a:t>
            </a:r>
          </a:p>
          <a:p>
            <a:pPr marL="457200" lvl="1" indent="0" fontAlgn="ctr">
              <a:spcBef>
                <a:spcPts val="0"/>
              </a:spcBef>
              <a:buNone/>
            </a:pPr>
            <a:endParaRPr lang="en-US" sz="2000" dirty="0">
              <a:effectLst/>
              <a:latin typeface="Calibri" panose="020F0502020204030204" pitchFamily="34" charset="0"/>
            </a:endParaRPr>
          </a:p>
          <a:p>
            <a:pPr rtl="0" fontAlgn="ctr">
              <a:spcBef>
                <a:spcPts val="0"/>
              </a:spcBef>
              <a:spcAft>
                <a:spcPts val="0"/>
              </a:spcAft>
              <a:buFont typeface="Wingdings" panose="05000000000000000000" pitchFamily="2" charset="2"/>
              <a:buChar char="q"/>
            </a:pPr>
            <a:r>
              <a:rPr lang="en-US" sz="2000" dirty="0">
                <a:effectLst/>
                <a:latin typeface="Calibri" panose="020F0502020204030204" pitchFamily="34" charset="0"/>
              </a:rPr>
              <a:t>Boosting</a:t>
            </a:r>
          </a:p>
          <a:p>
            <a:pPr marL="0" indent="0" rtl="0" fontAlgn="ctr">
              <a:spcBef>
                <a:spcPts val="0"/>
              </a:spcBef>
              <a:spcAft>
                <a:spcPts val="0"/>
              </a:spcAft>
              <a:buNone/>
            </a:pPr>
            <a:endParaRPr lang="en-US" sz="2000" dirty="0">
              <a:effectLst/>
              <a:latin typeface="Calibri" panose="020F0502020204030204" pitchFamily="34" charset="0"/>
            </a:endParaRPr>
          </a:p>
          <a:p>
            <a:pPr lvl="1" rtl="0" fontAlgn="ctr">
              <a:spcBef>
                <a:spcPts val="0"/>
              </a:spcBef>
              <a:spcAft>
                <a:spcPts val="0"/>
              </a:spcAft>
              <a:buFont typeface="Wingdings" panose="05000000000000000000" pitchFamily="2" charset="2"/>
              <a:buChar char="§"/>
            </a:pPr>
            <a:r>
              <a:rPr lang="en-US" sz="2000" dirty="0" err="1">
                <a:effectLst/>
                <a:latin typeface="Calibri" panose="020F0502020204030204" pitchFamily="34" charset="0"/>
              </a:rPr>
              <a:t>Adaboost</a:t>
            </a:r>
            <a:endParaRPr lang="en-US" sz="2000" dirty="0">
              <a:effectLst/>
              <a:latin typeface="Calibri" panose="020F0502020204030204" pitchFamily="34" charset="0"/>
            </a:endParaRPr>
          </a:p>
          <a:p>
            <a:pPr lvl="1" rtl="0" fontAlgn="ctr">
              <a:spcBef>
                <a:spcPts val="0"/>
              </a:spcBef>
              <a:spcAft>
                <a:spcPts val="0"/>
              </a:spcAft>
              <a:buFont typeface="Wingdings" panose="05000000000000000000" pitchFamily="2" charset="2"/>
              <a:buChar char="§"/>
            </a:pPr>
            <a:r>
              <a:rPr lang="en-US" sz="2000" dirty="0">
                <a:effectLst/>
                <a:latin typeface="Calibri" panose="020F0502020204030204" pitchFamily="34" charset="0"/>
              </a:rPr>
              <a:t>Gradient Boosting</a:t>
            </a:r>
          </a:p>
          <a:p>
            <a:pPr lvl="1" rtl="0" fontAlgn="ctr">
              <a:spcBef>
                <a:spcPts val="0"/>
              </a:spcBef>
              <a:spcAft>
                <a:spcPts val="0"/>
              </a:spcAft>
              <a:buFont typeface="Wingdings" panose="05000000000000000000" pitchFamily="2" charset="2"/>
              <a:buChar char="§"/>
            </a:pPr>
            <a:r>
              <a:rPr lang="en-US" sz="2000" dirty="0" err="1">
                <a:effectLst/>
                <a:latin typeface="Calibri" panose="020F0502020204030204" pitchFamily="34" charset="0"/>
              </a:rPr>
              <a:t>XgBoost</a:t>
            </a:r>
            <a:endParaRPr lang="en-US" sz="2000" dirty="0">
              <a:effectLst/>
              <a:latin typeface="Calibri" panose="020F0502020204030204" pitchFamily="34" charset="0"/>
            </a:endParaRPr>
          </a:p>
          <a:p>
            <a:pPr marL="1225538" lvl="1" indent="-285750">
              <a:lnSpc>
                <a:spcPct val="100000"/>
              </a:lnSpc>
              <a:spcBef>
                <a:spcPts val="1820"/>
              </a:spcBef>
              <a:buFont typeface="Wingdings" panose="05000000000000000000" pitchFamily="2" charset="2"/>
              <a:buChar char="q"/>
              <a:tabLst>
                <a:tab pos="998195" algn="l"/>
              </a:tabLst>
            </a:pPr>
            <a:endParaRPr lang="en-US" sz="1600" spc="-13" dirty="0">
              <a:latin typeface="Calibri" panose="020F0502020204030204" pitchFamily="34" charset="0"/>
              <a:ea typeface="Calibri" panose="020F0502020204030204" pitchFamily="34" charset="0"/>
              <a:cs typeface="Calibri" panose="020F0502020204030204" pitchFamily="34" charset="0"/>
            </a:endParaRPr>
          </a:p>
          <a:p>
            <a:pPr marL="1282688" lvl="1" indent="-342900">
              <a:lnSpc>
                <a:spcPct val="100000"/>
              </a:lnSpc>
              <a:spcBef>
                <a:spcPts val="1820"/>
              </a:spcBef>
              <a:buFont typeface="Wingdings" panose="05000000000000000000" pitchFamily="2" charset="2"/>
              <a:buChar char="q"/>
              <a:tabLst>
                <a:tab pos="998195" algn="l"/>
              </a:tabLst>
            </a:pPr>
            <a:endParaRPr lang="en-US" sz="16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endParaRPr lang="en-US" sz="2000" spc="-7" dirty="0">
              <a:latin typeface="Constantia"/>
              <a:cs typeface="Constantia"/>
            </a:endParaRPr>
          </a:p>
        </p:txBody>
      </p:sp>
    </p:spTree>
    <p:extLst>
      <p:ext uri="{BB962C8B-B14F-4D97-AF65-F5344CB8AC3E}">
        <p14:creationId xmlns:p14="http://schemas.microsoft.com/office/powerpoint/2010/main" val="4220491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Voting Ensemble</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12</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88347" y="1037425"/>
            <a:ext cx="8991599" cy="4052904"/>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effectLst/>
              <a:latin typeface="Calibri" panose="020F0502020204030204" pitchFamily="34" charset="0"/>
            </a:endParaRPr>
          </a:p>
          <a:p>
            <a:pPr rtl="0" fontAlgn="ctr">
              <a:spcBef>
                <a:spcPts val="0"/>
              </a:spcBef>
              <a:spcAft>
                <a:spcPts val="0"/>
              </a:spcAft>
              <a:buFont typeface="Wingdings" panose="05000000000000000000" pitchFamily="2" charset="2"/>
              <a:buChar char="q"/>
            </a:pPr>
            <a:r>
              <a:rPr lang="en-US" sz="2000" dirty="0">
                <a:effectLst/>
                <a:latin typeface="Calibri" panose="020F0502020204030204" pitchFamily="34" charset="0"/>
              </a:rPr>
              <a:t>Base Models: Different Algorithms but trained with the same dataset</a:t>
            </a:r>
          </a:p>
          <a:p>
            <a:pPr marL="0" indent="0" rtl="0" fontAlgn="ctr">
              <a:spcBef>
                <a:spcPts val="0"/>
              </a:spcBef>
              <a:spcAft>
                <a:spcPts val="0"/>
              </a:spcAft>
              <a:buNone/>
            </a:pPr>
            <a:endParaRPr lang="en-US" sz="2000" dirty="0">
              <a:effectLst/>
              <a:latin typeface="Calibri" panose="020F0502020204030204" pitchFamily="34" charset="0"/>
            </a:endParaRPr>
          </a:p>
          <a:p>
            <a:pPr rtl="0" fontAlgn="ctr">
              <a:spcBef>
                <a:spcPts val="0"/>
              </a:spcBef>
              <a:spcAft>
                <a:spcPts val="0"/>
              </a:spcAft>
              <a:buFont typeface="Wingdings" panose="05000000000000000000" pitchFamily="2" charset="2"/>
              <a:buChar char="q"/>
            </a:pPr>
            <a:r>
              <a:rPr lang="en-US" sz="2000" dirty="0">
                <a:latin typeface="Calibri" panose="020F0502020204030204" pitchFamily="34" charset="0"/>
              </a:rPr>
              <a:t>Prediction</a:t>
            </a:r>
          </a:p>
          <a:p>
            <a:pPr marL="0" indent="0" rtl="0" fontAlgn="ctr">
              <a:spcBef>
                <a:spcPts val="0"/>
              </a:spcBef>
              <a:spcAft>
                <a:spcPts val="0"/>
              </a:spcAft>
              <a:buNone/>
            </a:pPr>
            <a:endParaRPr lang="en-US" sz="2000" dirty="0">
              <a:latin typeface="Calibri" panose="020F0502020204030204" pitchFamily="34" charset="0"/>
            </a:endParaRPr>
          </a:p>
          <a:p>
            <a:pPr lvl="1" fontAlgn="ctr">
              <a:spcBef>
                <a:spcPts val="0"/>
              </a:spcBef>
              <a:buFont typeface="Wingdings" panose="05000000000000000000" pitchFamily="2" charset="2"/>
              <a:buChar char="§"/>
            </a:pPr>
            <a:r>
              <a:rPr lang="en-US" sz="1600" dirty="0">
                <a:effectLst/>
                <a:latin typeface="Calibri" panose="020F0502020204030204" pitchFamily="34" charset="0"/>
              </a:rPr>
              <a:t>For classification: Majority Voting</a:t>
            </a:r>
          </a:p>
          <a:p>
            <a:pPr lvl="1" fontAlgn="ctr">
              <a:spcBef>
                <a:spcPts val="0"/>
              </a:spcBef>
              <a:buFont typeface="Wingdings" panose="05000000000000000000" pitchFamily="2" charset="2"/>
              <a:buChar char="§"/>
            </a:pPr>
            <a:endParaRPr lang="en-US" sz="1600" dirty="0">
              <a:effectLst/>
              <a:latin typeface="Calibri" panose="020F0502020204030204" pitchFamily="34" charset="0"/>
            </a:endParaRPr>
          </a:p>
          <a:p>
            <a:pPr lvl="1" fontAlgn="ctr">
              <a:spcBef>
                <a:spcPts val="0"/>
              </a:spcBef>
              <a:buFont typeface="Wingdings" panose="05000000000000000000" pitchFamily="2" charset="2"/>
              <a:buChar char="§"/>
            </a:pPr>
            <a:r>
              <a:rPr lang="en-US" sz="1600" dirty="0">
                <a:latin typeface="Calibri" panose="020F0502020204030204" pitchFamily="34" charset="0"/>
              </a:rPr>
              <a:t>For regression : Average</a:t>
            </a:r>
            <a:endParaRPr lang="en-US" sz="1600" dirty="0">
              <a:effectLst/>
              <a:latin typeface="Calibri" panose="020F0502020204030204" pitchFamily="34" charset="0"/>
            </a:endParaRPr>
          </a:p>
          <a:p>
            <a:pPr marL="0" indent="0" rtl="0" fontAlgn="ctr">
              <a:spcBef>
                <a:spcPts val="0"/>
              </a:spcBef>
              <a:spcAft>
                <a:spcPts val="0"/>
              </a:spcAft>
              <a:buNone/>
            </a:pPr>
            <a:endParaRPr lang="en-US" sz="2000" dirty="0">
              <a:effectLst/>
              <a:latin typeface="Calibri" panose="020F0502020204030204" pitchFamily="34" charset="0"/>
            </a:endParaRPr>
          </a:p>
          <a:p>
            <a:pPr marL="939788" lvl="1" indent="0">
              <a:lnSpc>
                <a:spcPct val="100000"/>
              </a:lnSpc>
              <a:spcBef>
                <a:spcPts val="1820"/>
              </a:spcBef>
              <a:buNone/>
              <a:tabLst>
                <a:tab pos="998195" algn="l"/>
              </a:tabLst>
            </a:pPr>
            <a:endParaRPr lang="en-US" sz="1600" spc="-13" dirty="0">
              <a:latin typeface="Calibri" panose="020F0502020204030204" pitchFamily="34" charset="0"/>
              <a:ea typeface="Calibri" panose="020F0502020204030204" pitchFamily="34" charset="0"/>
              <a:cs typeface="Calibri" panose="020F0502020204030204" pitchFamily="34" charset="0"/>
            </a:endParaRPr>
          </a:p>
          <a:p>
            <a:pPr marL="1282688" lvl="1" indent="-342900">
              <a:lnSpc>
                <a:spcPct val="100000"/>
              </a:lnSpc>
              <a:spcBef>
                <a:spcPts val="1820"/>
              </a:spcBef>
              <a:buFont typeface="Wingdings" panose="05000000000000000000" pitchFamily="2" charset="2"/>
              <a:buChar char="q"/>
              <a:tabLst>
                <a:tab pos="998195" algn="l"/>
              </a:tabLst>
            </a:pPr>
            <a:endParaRPr lang="en-US" sz="16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endParaRPr lang="en-US" sz="2000" spc="-7" dirty="0">
              <a:latin typeface="Constantia"/>
              <a:cs typeface="Constantia"/>
            </a:endParaRPr>
          </a:p>
        </p:txBody>
      </p:sp>
      <p:pic>
        <p:nvPicPr>
          <p:cNvPr id="8" name="Picture 7">
            <a:extLst>
              <a:ext uri="{FF2B5EF4-FFF2-40B4-BE49-F238E27FC236}">
                <a16:creationId xmlns:a16="http://schemas.microsoft.com/office/drawing/2014/main" xmlns="" id="{2679F8E8-AFC0-E9C4-2A44-D249B36E6CB7}"/>
              </a:ext>
            </a:extLst>
          </p:cNvPr>
          <p:cNvPicPr>
            <a:picLocks noChangeAspect="1"/>
          </p:cNvPicPr>
          <p:nvPr/>
        </p:nvPicPr>
        <p:blipFill rotWithShape="1">
          <a:blip r:embed="rId3"/>
          <a:srcRect r="51817"/>
          <a:stretch/>
        </p:blipFill>
        <p:spPr>
          <a:xfrm>
            <a:off x="5848095" y="2245603"/>
            <a:ext cx="3724317" cy="3509984"/>
          </a:xfrm>
          <a:prstGeom prst="rect">
            <a:avLst/>
          </a:prstGeom>
        </p:spPr>
      </p:pic>
    </p:spTree>
    <p:extLst>
      <p:ext uri="{BB962C8B-B14F-4D97-AF65-F5344CB8AC3E}">
        <p14:creationId xmlns:p14="http://schemas.microsoft.com/office/powerpoint/2010/main" val="1418681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Why Voting Works?</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13</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06051" y="1018247"/>
            <a:ext cx="10161693" cy="5216300"/>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effectLst/>
              <a:latin typeface="Calibri" panose="020F0502020204030204" pitchFamily="34" charset="0"/>
            </a:endParaRPr>
          </a:p>
          <a:p>
            <a:pPr marL="57150" marR="0" indent="-285750">
              <a:spcBef>
                <a:spcPts val="0"/>
              </a:spcBef>
              <a:spcAft>
                <a:spcPts val="0"/>
              </a:spcAft>
              <a:buFont typeface="Wingdings" panose="05000000000000000000" pitchFamily="2" charset="2"/>
              <a:buChar char="q"/>
            </a:pPr>
            <a:r>
              <a:rPr lang="en-US" sz="1800" dirty="0">
                <a:effectLst/>
                <a:latin typeface="Calibri" panose="020F0502020204030204" pitchFamily="34" charset="0"/>
              </a:rPr>
              <a:t>Requirements</a:t>
            </a:r>
          </a:p>
          <a:p>
            <a:pPr lvl="1" fontAlgn="ctr">
              <a:lnSpc>
                <a:spcPct val="150000"/>
              </a:lnSpc>
              <a:spcBef>
                <a:spcPts val="0"/>
              </a:spcBef>
              <a:buFont typeface="Wingdings" panose="05000000000000000000" pitchFamily="2" charset="2"/>
              <a:buChar char="q"/>
            </a:pPr>
            <a:r>
              <a:rPr lang="en-US" sz="1600" b="0" i="0" dirty="0">
                <a:effectLst/>
                <a:latin typeface="Calibri" panose="020F0502020204030204" pitchFamily="34" charset="0"/>
              </a:rPr>
              <a:t>All the base models should  be independent. High diversity </a:t>
            </a:r>
          </a:p>
          <a:p>
            <a:pPr lvl="1" fontAlgn="ctr">
              <a:lnSpc>
                <a:spcPct val="150000"/>
              </a:lnSpc>
              <a:spcBef>
                <a:spcPts val="0"/>
              </a:spcBef>
              <a:buFont typeface="Wingdings" panose="05000000000000000000" pitchFamily="2" charset="2"/>
              <a:buChar char="q"/>
            </a:pPr>
            <a:r>
              <a:rPr lang="en-US" sz="1600" b="0" i="0" dirty="0">
                <a:effectLst/>
                <a:latin typeface="Calibri" panose="020F0502020204030204" pitchFamily="34" charset="0"/>
              </a:rPr>
              <a:t>Minimum Accuracy of each individual model should be 50%.</a:t>
            </a:r>
          </a:p>
          <a:p>
            <a:pPr marL="0" indent="0" rtl="0" fontAlgn="ctr">
              <a:spcBef>
                <a:spcPts val="0"/>
              </a:spcBef>
              <a:spcAft>
                <a:spcPts val="0"/>
              </a:spcAft>
              <a:buNone/>
            </a:pPr>
            <a:endParaRPr lang="en-US" sz="2000" dirty="0">
              <a:effectLst/>
              <a:latin typeface="Calibri" panose="020F0502020204030204" pitchFamily="34" charset="0"/>
            </a:endParaRPr>
          </a:p>
          <a:p>
            <a:pPr marL="0" indent="0" rtl="0" fontAlgn="ctr">
              <a:spcBef>
                <a:spcPts val="0"/>
              </a:spcBef>
              <a:spcAft>
                <a:spcPts val="0"/>
              </a:spcAft>
              <a:buNone/>
            </a:pPr>
            <a:r>
              <a:rPr lang="en-US" sz="2400" dirty="0">
                <a:effectLst/>
                <a:latin typeface="Calibri" panose="020F0502020204030204" pitchFamily="34" charset="0"/>
              </a:rPr>
              <a:t>Let's walk through an example of how it actually works. (Follow class Lecture)</a:t>
            </a:r>
          </a:p>
          <a:p>
            <a:pPr marL="939788" lvl="1" indent="0">
              <a:lnSpc>
                <a:spcPct val="100000"/>
              </a:lnSpc>
              <a:spcBef>
                <a:spcPts val="1820"/>
              </a:spcBef>
              <a:buNone/>
              <a:tabLst>
                <a:tab pos="998195" algn="l"/>
              </a:tabLst>
            </a:pPr>
            <a:endParaRPr lang="en-US" sz="1600" spc="-13" dirty="0">
              <a:latin typeface="Calibri" panose="020F0502020204030204" pitchFamily="34" charset="0"/>
              <a:ea typeface="Calibri" panose="020F0502020204030204" pitchFamily="34" charset="0"/>
              <a:cs typeface="Calibri" panose="020F0502020204030204" pitchFamily="34" charset="0"/>
            </a:endParaRPr>
          </a:p>
          <a:p>
            <a:pPr marL="1282688" lvl="1" indent="-342900">
              <a:lnSpc>
                <a:spcPct val="100000"/>
              </a:lnSpc>
              <a:spcBef>
                <a:spcPts val="1820"/>
              </a:spcBef>
              <a:buFont typeface="Wingdings" panose="05000000000000000000" pitchFamily="2" charset="2"/>
              <a:buChar char="q"/>
              <a:tabLst>
                <a:tab pos="998195" algn="l"/>
              </a:tabLst>
            </a:pPr>
            <a:endParaRPr lang="en-US" sz="16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r>
              <a:rPr lang="en-US" sz="2000" spc="-7" dirty="0">
                <a:latin typeface="Constantia"/>
                <a:cs typeface="Constantia"/>
              </a:rPr>
              <a:t>   Accuracy:   70%            70%            70% = 0.7                             </a:t>
            </a:r>
          </a:p>
          <a:p>
            <a:pPr marL="482588" indent="0">
              <a:lnSpc>
                <a:spcPct val="100000"/>
              </a:lnSpc>
              <a:spcBef>
                <a:spcPts val="1820"/>
              </a:spcBef>
              <a:buNone/>
              <a:tabLst>
                <a:tab pos="998195" algn="l"/>
              </a:tabLst>
            </a:pPr>
            <a:r>
              <a:rPr lang="en-US" sz="2000" spc="-7" dirty="0">
                <a:latin typeface="Constantia"/>
                <a:cs typeface="Constantia"/>
              </a:rPr>
              <a:t>                                                                                        </a:t>
            </a:r>
          </a:p>
          <a:p>
            <a:pPr marL="825488" indent="-342900">
              <a:lnSpc>
                <a:spcPct val="100000"/>
              </a:lnSpc>
              <a:spcBef>
                <a:spcPts val="1820"/>
              </a:spcBef>
              <a:buFont typeface="Wingdings" panose="05000000000000000000" pitchFamily="2" charset="2"/>
              <a:buChar char="q"/>
              <a:tabLst>
                <a:tab pos="998195" algn="l"/>
              </a:tabLst>
            </a:pPr>
            <a:r>
              <a:rPr lang="en-US" sz="2000" spc="-7" dirty="0">
                <a:latin typeface="Constantia"/>
                <a:cs typeface="Constantia"/>
              </a:rPr>
              <a:t>What is the observation?</a:t>
            </a:r>
          </a:p>
          <a:p>
            <a:pPr marL="825488" indent="-342900">
              <a:lnSpc>
                <a:spcPct val="100000"/>
              </a:lnSpc>
              <a:spcBef>
                <a:spcPts val="1820"/>
              </a:spcBef>
              <a:buFont typeface="Wingdings" panose="05000000000000000000" pitchFamily="2" charset="2"/>
              <a:buChar char="q"/>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What happens if each  model has accuracy 30%?</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xmlns="" id="{8C089A4E-6696-804E-A8E4-168C0746F7F2}"/>
                  </a:ext>
                </a:extLst>
              </p14:cNvPr>
              <p14:cNvContentPartPr/>
              <p14:nvPr/>
            </p14:nvContentPartPr>
            <p14:xfrm>
              <a:off x="3491427" y="3523296"/>
              <a:ext cx="527050" cy="527050"/>
            </p14:xfrm>
          </p:contentPart>
        </mc:Choice>
        <mc:Fallback xmlns="">
          <p:pic>
            <p:nvPicPr>
              <p:cNvPr id="3" name="Ink 2">
                <a:extLst>
                  <a:ext uri="{FF2B5EF4-FFF2-40B4-BE49-F238E27FC236}">
                    <a16:creationId xmlns:a16="http://schemas.microsoft.com/office/drawing/2014/main" id="{8C089A4E-6696-804E-A8E4-168C0746F7F2}"/>
                  </a:ext>
                </a:extLst>
              </p:cNvPr>
              <p:cNvPicPr/>
              <p:nvPr/>
            </p:nvPicPr>
            <p:blipFill>
              <a:blip r:embed="rId5"/>
              <a:stretch>
                <a:fillRect/>
              </a:stretch>
            </p:blipFill>
            <p:spPr>
              <a:xfrm>
                <a:off x="3473414" y="3505283"/>
                <a:ext cx="562715" cy="56271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xmlns="" id="{56DC6B21-5750-9332-81C9-8BF9E2ABAEE8}"/>
                  </a:ext>
                </a:extLst>
              </p14:cNvPr>
              <p14:cNvContentPartPr/>
              <p14:nvPr/>
            </p14:nvContentPartPr>
            <p14:xfrm>
              <a:off x="4623773" y="3526536"/>
              <a:ext cx="527050" cy="527050"/>
            </p14:xfrm>
          </p:contentPart>
        </mc:Choice>
        <mc:Fallback xmlns="">
          <p:pic>
            <p:nvPicPr>
              <p:cNvPr id="9" name="Ink 8">
                <a:extLst>
                  <a:ext uri="{FF2B5EF4-FFF2-40B4-BE49-F238E27FC236}">
                    <a16:creationId xmlns:a16="http://schemas.microsoft.com/office/drawing/2014/main" id="{56DC6B21-5750-9332-81C9-8BF9E2ABAEE8}"/>
                  </a:ext>
                </a:extLst>
              </p:cNvPr>
              <p:cNvPicPr/>
              <p:nvPr/>
            </p:nvPicPr>
            <p:blipFill>
              <a:blip r:embed="rId5"/>
              <a:stretch>
                <a:fillRect/>
              </a:stretch>
            </p:blipFill>
            <p:spPr>
              <a:xfrm>
                <a:off x="4605760" y="3508523"/>
                <a:ext cx="562715" cy="562715"/>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xmlns="" id="{487152C0-0F22-D734-8E68-5A7EC729E2EF}"/>
                  </a:ext>
                </a:extLst>
              </p14:cNvPr>
              <p14:cNvContentPartPr/>
              <p14:nvPr/>
            </p14:nvContentPartPr>
            <p14:xfrm>
              <a:off x="5774224" y="3523296"/>
              <a:ext cx="527050" cy="527050"/>
            </p14:xfrm>
          </p:contentPart>
        </mc:Choice>
        <mc:Fallback xmlns="">
          <p:pic>
            <p:nvPicPr>
              <p:cNvPr id="10" name="Ink 9">
                <a:extLst>
                  <a:ext uri="{FF2B5EF4-FFF2-40B4-BE49-F238E27FC236}">
                    <a16:creationId xmlns:a16="http://schemas.microsoft.com/office/drawing/2014/main" id="{487152C0-0F22-D734-8E68-5A7EC729E2EF}"/>
                  </a:ext>
                </a:extLst>
              </p:cNvPr>
              <p:cNvPicPr/>
              <p:nvPr/>
            </p:nvPicPr>
            <p:blipFill>
              <a:blip r:embed="rId5"/>
              <a:stretch>
                <a:fillRect/>
              </a:stretch>
            </p:blipFill>
            <p:spPr>
              <a:xfrm>
                <a:off x="5756211" y="3505283"/>
                <a:ext cx="562715" cy="562715"/>
              </a:xfrm>
              <a:prstGeom prst="rect">
                <a:avLst/>
              </a:prstGeom>
            </p:spPr>
          </p:pic>
        </mc:Fallback>
      </mc:AlternateContent>
      <p:sp>
        <p:nvSpPr>
          <p:cNvPr id="11" name="TextBox 10">
            <a:extLst>
              <a:ext uri="{FF2B5EF4-FFF2-40B4-BE49-F238E27FC236}">
                <a16:creationId xmlns:a16="http://schemas.microsoft.com/office/drawing/2014/main" xmlns="" id="{CE9F2E52-79C1-0AA8-C077-C939074A5BB3}"/>
              </a:ext>
            </a:extLst>
          </p:cNvPr>
          <p:cNvSpPr txBox="1">
            <a:spLocks noGrp="1" noRot="1" noMove="1" noResize="1" noEditPoints="1" noAdjustHandles="1" noChangeArrowheads="1" noChangeShapeType="1"/>
          </p:cNvSpPr>
          <p:nvPr/>
        </p:nvSpPr>
        <p:spPr>
          <a:xfrm>
            <a:off x="3509532" y="3600950"/>
            <a:ext cx="490840" cy="369332"/>
          </a:xfrm>
          <a:prstGeom prst="rect">
            <a:avLst/>
          </a:prstGeom>
          <a:noFill/>
        </p:spPr>
        <p:txBody>
          <a:bodyPr wrap="none" rtlCol="0">
            <a:spAutoFit/>
          </a:bodyPr>
          <a:lstStyle/>
          <a:p>
            <a:r>
              <a:rPr lang="en-US" dirty="0"/>
              <a:t>M1</a:t>
            </a:r>
          </a:p>
        </p:txBody>
      </p:sp>
      <p:sp>
        <p:nvSpPr>
          <p:cNvPr id="12" name="TextBox 11">
            <a:extLst>
              <a:ext uri="{FF2B5EF4-FFF2-40B4-BE49-F238E27FC236}">
                <a16:creationId xmlns:a16="http://schemas.microsoft.com/office/drawing/2014/main" xmlns="" id="{958E4EF0-1D07-5906-507F-D9E18A8D1A47}"/>
              </a:ext>
            </a:extLst>
          </p:cNvPr>
          <p:cNvSpPr txBox="1"/>
          <p:nvPr/>
        </p:nvSpPr>
        <p:spPr>
          <a:xfrm>
            <a:off x="4636812" y="3600950"/>
            <a:ext cx="490840" cy="369332"/>
          </a:xfrm>
          <a:prstGeom prst="rect">
            <a:avLst/>
          </a:prstGeom>
          <a:noFill/>
        </p:spPr>
        <p:txBody>
          <a:bodyPr wrap="none" rtlCol="0">
            <a:spAutoFit/>
          </a:bodyPr>
          <a:lstStyle/>
          <a:p>
            <a:r>
              <a:rPr lang="en-US" dirty="0"/>
              <a:t>M2</a:t>
            </a:r>
          </a:p>
        </p:txBody>
      </p:sp>
      <p:sp>
        <p:nvSpPr>
          <p:cNvPr id="13" name="TextBox 12">
            <a:extLst>
              <a:ext uri="{FF2B5EF4-FFF2-40B4-BE49-F238E27FC236}">
                <a16:creationId xmlns:a16="http://schemas.microsoft.com/office/drawing/2014/main" xmlns="" id="{850F8690-98F5-ACD0-7EFB-2B858ACAF864}"/>
              </a:ext>
            </a:extLst>
          </p:cNvPr>
          <p:cNvSpPr txBox="1"/>
          <p:nvPr/>
        </p:nvSpPr>
        <p:spPr>
          <a:xfrm>
            <a:off x="5810434" y="3584448"/>
            <a:ext cx="490840" cy="369332"/>
          </a:xfrm>
          <a:prstGeom prst="rect">
            <a:avLst/>
          </a:prstGeom>
          <a:noFill/>
        </p:spPr>
        <p:txBody>
          <a:bodyPr wrap="none" rtlCol="0">
            <a:spAutoFit/>
          </a:bodyPr>
          <a:lstStyle/>
          <a:p>
            <a:r>
              <a:rPr lang="en-US" dirty="0"/>
              <a:t>M3</a:t>
            </a:r>
          </a:p>
        </p:txBody>
      </p:sp>
    </p:spTree>
    <p:extLst>
      <p:ext uri="{BB962C8B-B14F-4D97-AF65-F5344CB8AC3E}">
        <p14:creationId xmlns:p14="http://schemas.microsoft.com/office/powerpoint/2010/main" val="112907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Hard Voting vs Soft Voting</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14</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pic>
        <p:nvPicPr>
          <p:cNvPr id="3074" name="Picture 2">
            <a:extLst>
              <a:ext uri="{FF2B5EF4-FFF2-40B4-BE49-F238E27FC236}">
                <a16:creationId xmlns:a16="http://schemas.microsoft.com/office/drawing/2014/main" xmlns="" id="{306098F3-8DCA-E670-FF84-E9085272A5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84" y="1366837"/>
            <a:ext cx="4530947" cy="412432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xmlns="" id="{3F61D080-FB79-886E-D558-560A949C32BE}"/>
              </a:ext>
            </a:extLst>
          </p:cNvPr>
          <p:cNvPicPr>
            <a:picLocks noChangeAspect="1"/>
          </p:cNvPicPr>
          <p:nvPr/>
        </p:nvPicPr>
        <p:blipFill>
          <a:blip r:embed="rId5"/>
          <a:stretch>
            <a:fillRect/>
          </a:stretch>
        </p:blipFill>
        <p:spPr>
          <a:xfrm>
            <a:off x="6320870" y="1366837"/>
            <a:ext cx="4562475" cy="4124325"/>
          </a:xfrm>
          <a:prstGeom prst="rect">
            <a:avLst/>
          </a:prstGeom>
        </p:spPr>
      </p:pic>
    </p:spTree>
    <p:extLst>
      <p:ext uri="{BB962C8B-B14F-4D97-AF65-F5344CB8AC3E}">
        <p14:creationId xmlns:p14="http://schemas.microsoft.com/office/powerpoint/2010/main" val="23577570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Bagging (Bootstrap Algorithm)</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15</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pic>
        <p:nvPicPr>
          <p:cNvPr id="3" name="Picture 2">
            <a:extLst>
              <a:ext uri="{FF2B5EF4-FFF2-40B4-BE49-F238E27FC236}">
                <a16:creationId xmlns:a16="http://schemas.microsoft.com/office/drawing/2014/main" xmlns="" id="{982117C4-604D-C279-AB7C-7D016667F8AA}"/>
              </a:ext>
            </a:extLst>
          </p:cNvPr>
          <p:cNvPicPr>
            <a:picLocks noChangeAspect="1"/>
          </p:cNvPicPr>
          <p:nvPr/>
        </p:nvPicPr>
        <p:blipFill>
          <a:blip r:embed="rId4"/>
          <a:stretch>
            <a:fillRect/>
          </a:stretch>
        </p:blipFill>
        <p:spPr>
          <a:xfrm>
            <a:off x="1214030" y="2412515"/>
            <a:ext cx="6378032" cy="3997429"/>
          </a:xfrm>
          <a:prstGeom prst="rect">
            <a:avLst/>
          </a:prstGeom>
        </p:spPr>
      </p:pic>
      <p:sp>
        <p:nvSpPr>
          <p:cNvPr id="9" name="TextBox 8">
            <a:extLst>
              <a:ext uri="{FF2B5EF4-FFF2-40B4-BE49-F238E27FC236}">
                <a16:creationId xmlns:a16="http://schemas.microsoft.com/office/drawing/2014/main" xmlns="" id="{54554F3C-E8A4-098E-D935-8CF30FAA493B}"/>
              </a:ext>
            </a:extLst>
          </p:cNvPr>
          <p:cNvSpPr txBox="1"/>
          <p:nvPr/>
        </p:nvSpPr>
        <p:spPr>
          <a:xfrm>
            <a:off x="1688505" y="1093128"/>
            <a:ext cx="8131726" cy="923330"/>
          </a:xfrm>
          <a:prstGeom prst="rect">
            <a:avLst/>
          </a:prstGeom>
          <a:noFill/>
        </p:spPr>
        <p:txBody>
          <a:bodyPr wrap="square">
            <a:spAutoFit/>
          </a:bodyPr>
          <a:lstStyle/>
          <a:p>
            <a:pPr marL="285750" marR="0" indent="-285750">
              <a:spcBef>
                <a:spcPts val="0"/>
              </a:spcBef>
              <a:spcAft>
                <a:spcPts val="0"/>
              </a:spcAft>
              <a:buFont typeface="Wingdings" panose="05000000000000000000" pitchFamily="2" charset="2"/>
              <a:buChar char="q"/>
            </a:pPr>
            <a:r>
              <a:rPr lang="en-US" sz="1800" dirty="0">
                <a:effectLst/>
                <a:latin typeface="Calibri" panose="020F0502020204030204" pitchFamily="34" charset="0"/>
              </a:rPr>
              <a:t>Base Models: Same</a:t>
            </a:r>
          </a:p>
          <a:p>
            <a:pPr marL="285750" marR="0" indent="-285750">
              <a:spcBef>
                <a:spcPts val="0"/>
              </a:spcBef>
              <a:spcAft>
                <a:spcPts val="0"/>
              </a:spcAft>
              <a:buFont typeface="Wingdings" panose="05000000000000000000" pitchFamily="2" charset="2"/>
              <a:buChar char="q"/>
            </a:pPr>
            <a:r>
              <a:rPr lang="en-US" sz="1800" dirty="0">
                <a:effectLst/>
                <a:latin typeface="Calibri" panose="020F0502020204030204" pitchFamily="34" charset="0"/>
              </a:rPr>
              <a:t>Dataset: Bootstrap Sampling - Randomly selecting samples from the original dataset with replacement</a:t>
            </a:r>
          </a:p>
        </p:txBody>
      </p:sp>
      <p:pic>
        <p:nvPicPr>
          <p:cNvPr id="10" name="Picture 9">
            <a:extLst>
              <a:ext uri="{FF2B5EF4-FFF2-40B4-BE49-F238E27FC236}">
                <a16:creationId xmlns:a16="http://schemas.microsoft.com/office/drawing/2014/main" xmlns="" id="{BFC1F0ED-B681-70C3-EAED-0C8C08CE5C6C}"/>
              </a:ext>
            </a:extLst>
          </p:cNvPr>
          <p:cNvPicPr>
            <a:picLocks noChangeAspect="1"/>
          </p:cNvPicPr>
          <p:nvPr/>
        </p:nvPicPr>
        <p:blipFill rotWithShape="1">
          <a:blip r:embed="rId5"/>
          <a:srcRect l="1445" t="15326" r="37006" b="3807"/>
          <a:stretch/>
        </p:blipFill>
        <p:spPr>
          <a:xfrm>
            <a:off x="7806510" y="2921324"/>
            <a:ext cx="3892492" cy="3157717"/>
          </a:xfrm>
          <a:prstGeom prst="rect">
            <a:avLst/>
          </a:prstGeom>
        </p:spPr>
      </p:pic>
    </p:spTree>
    <p:extLst>
      <p:ext uri="{BB962C8B-B14F-4D97-AF65-F5344CB8AC3E}">
        <p14:creationId xmlns:p14="http://schemas.microsoft.com/office/powerpoint/2010/main" val="35714733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Bagging (Bootstrap Algorithm)</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16</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28927"/>
            <a:ext cx="9429327" cy="5290359"/>
          </a:xfrm>
          <a:prstGeom prst="rect">
            <a:avLst/>
          </a:prstGeom>
          <a:noFill/>
        </p:spPr>
        <p:txBody>
          <a:bodyPr wrap="square">
            <a:spAutoFit/>
          </a:bodyPr>
          <a:lstStyle/>
          <a:p>
            <a:pPr marL="342900" indent="-342900" rtl="0" fontAlgn="base">
              <a:lnSpc>
                <a:spcPct val="150000"/>
              </a:lnSpc>
              <a:spcBef>
                <a:spcPts val="300"/>
              </a:spcBef>
              <a:spcAft>
                <a:spcPts val="0"/>
              </a:spcAft>
              <a:buFont typeface="Wingdings" panose="05000000000000000000" pitchFamily="2" charset="2"/>
              <a:buChar char="q"/>
            </a:pPr>
            <a:r>
              <a:rPr lang="en-US" sz="2400" b="0" i="0" u="none" strike="noStrike" dirty="0">
                <a:solidFill>
                  <a:srgbClr val="000000"/>
                </a:solidFill>
                <a:effectLst/>
                <a:latin typeface="Calibri" panose="020F0502020204030204" pitchFamily="34" charset="0"/>
              </a:rPr>
              <a:t>Training</a:t>
            </a:r>
            <a:endParaRPr lang="en-US" sz="1920" b="0" i="0" u="none" strike="noStrike" dirty="0">
              <a:solidFill>
                <a:srgbClr val="0000CC"/>
              </a:solidFill>
              <a:effectLst/>
              <a:latin typeface="Noto Sans Symbols"/>
            </a:endParaRPr>
          </a:p>
          <a:p>
            <a:pPr marL="800100" lvl="1" indent="-342900" rtl="0" fontAlgn="base">
              <a:lnSpc>
                <a:spcPct val="150000"/>
              </a:lnSpc>
              <a:spcBef>
                <a:spcPts val="300"/>
              </a:spcBef>
              <a:spcAft>
                <a:spcPts val="0"/>
              </a:spcAft>
              <a:buFont typeface="Wingdings" panose="05000000000000000000" pitchFamily="2" charset="2"/>
              <a:buChar char="q"/>
            </a:pPr>
            <a:r>
              <a:rPr lang="en-US" sz="2400" b="0" i="0" u="none" strike="noStrike" dirty="0">
                <a:solidFill>
                  <a:srgbClr val="000000"/>
                </a:solidFill>
                <a:effectLst/>
                <a:latin typeface="Calibri" panose="020F0502020204030204" pitchFamily="34" charset="0"/>
              </a:rPr>
              <a:t>For </a:t>
            </a:r>
            <a:r>
              <a:rPr lang="en-US" sz="2400" b="0" i="0" u="none" strike="noStrike" dirty="0" err="1">
                <a:solidFill>
                  <a:srgbClr val="000000"/>
                </a:solidFill>
                <a:effectLst/>
                <a:latin typeface="Calibri" panose="020F0502020204030204" pitchFamily="34" charset="0"/>
              </a:rPr>
              <a:t>i</a:t>
            </a:r>
            <a:r>
              <a:rPr lang="en-US" sz="2400" b="0" i="0" u="none" strike="noStrike" dirty="0">
                <a:solidFill>
                  <a:srgbClr val="000000"/>
                </a:solidFill>
                <a:effectLst/>
                <a:latin typeface="Calibri" panose="020F0502020204030204" pitchFamily="34" charset="0"/>
              </a:rPr>
              <a:t> = 1 to k</a:t>
            </a:r>
            <a:endParaRPr lang="en-US" sz="1920" b="0" i="0" u="none" strike="noStrike" dirty="0">
              <a:solidFill>
                <a:srgbClr val="BD582C"/>
              </a:solidFill>
              <a:effectLst/>
              <a:latin typeface="Noto Sans Symbols"/>
            </a:endParaRPr>
          </a:p>
          <a:p>
            <a:pPr marL="1257300" lvl="2" indent="-342900" rtl="0" fontAlgn="base">
              <a:lnSpc>
                <a:spcPct val="150000"/>
              </a:lnSpc>
              <a:spcBef>
                <a:spcPts val="300"/>
              </a:spcBef>
              <a:spcAft>
                <a:spcPts val="0"/>
              </a:spcAft>
              <a:buFont typeface="Wingdings" panose="05000000000000000000" pitchFamily="2" charset="2"/>
              <a:buChar char="q"/>
            </a:pPr>
            <a:r>
              <a:rPr lang="en-US" sz="2400" b="0" i="0" u="none" strike="noStrike" dirty="0">
                <a:solidFill>
                  <a:srgbClr val="000000"/>
                </a:solidFill>
                <a:effectLst/>
                <a:latin typeface="Calibri" panose="020F0502020204030204" pitchFamily="34" charset="0"/>
              </a:rPr>
              <a:t>create bootstrap sample, D</a:t>
            </a:r>
            <a:r>
              <a:rPr lang="en-US" sz="2400" b="0" i="0" u="none" strike="noStrike" baseline="-25000" dirty="0">
                <a:solidFill>
                  <a:srgbClr val="000000"/>
                </a:solidFill>
                <a:effectLst/>
                <a:latin typeface="Calibri" panose="020F0502020204030204" pitchFamily="34" charset="0"/>
              </a:rPr>
              <a:t>i</a:t>
            </a:r>
            <a:r>
              <a:rPr lang="en-US" sz="2400" b="0" i="0" u="none" strike="noStrike" dirty="0">
                <a:solidFill>
                  <a:srgbClr val="000000"/>
                </a:solidFill>
                <a:effectLst/>
                <a:latin typeface="Calibri" panose="020F0502020204030204" pitchFamily="34" charset="0"/>
              </a:rPr>
              <a:t>, by sampling D with replacement;</a:t>
            </a:r>
            <a:endParaRPr lang="en-US" sz="1920" b="0" i="0" u="none" strike="noStrike" dirty="0">
              <a:solidFill>
                <a:srgbClr val="008080"/>
              </a:solidFill>
              <a:effectLst/>
              <a:latin typeface="Noto Sans Symbols"/>
            </a:endParaRPr>
          </a:p>
          <a:p>
            <a:pPr marL="1257300" lvl="2" indent="-342900" rtl="0" fontAlgn="base">
              <a:lnSpc>
                <a:spcPct val="150000"/>
              </a:lnSpc>
              <a:spcBef>
                <a:spcPts val="300"/>
              </a:spcBef>
              <a:spcAft>
                <a:spcPts val="0"/>
              </a:spcAft>
              <a:buFont typeface="Wingdings" panose="05000000000000000000" pitchFamily="2" charset="2"/>
              <a:buChar char="q"/>
            </a:pPr>
            <a:r>
              <a:rPr lang="en-US" sz="2400" b="0" i="0" u="none" strike="noStrike" dirty="0">
                <a:solidFill>
                  <a:srgbClr val="000000"/>
                </a:solidFill>
                <a:effectLst/>
                <a:latin typeface="Calibri" panose="020F0502020204030204" pitchFamily="34" charset="0"/>
              </a:rPr>
              <a:t>use D</a:t>
            </a:r>
            <a:r>
              <a:rPr lang="en-US" sz="2400" b="0" i="0" u="none" strike="noStrike" baseline="-25000" dirty="0">
                <a:solidFill>
                  <a:srgbClr val="000000"/>
                </a:solidFill>
                <a:effectLst/>
                <a:latin typeface="Calibri" panose="020F0502020204030204" pitchFamily="34" charset="0"/>
              </a:rPr>
              <a:t>i</a:t>
            </a:r>
            <a:r>
              <a:rPr lang="en-US" sz="2400" b="0" i="0" u="none" strike="noStrike" dirty="0">
                <a:solidFill>
                  <a:srgbClr val="000000"/>
                </a:solidFill>
                <a:effectLst/>
                <a:latin typeface="Calibri" panose="020F0502020204030204" pitchFamily="34" charset="0"/>
              </a:rPr>
              <a:t> and the learning scheme to derive a model, M</a:t>
            </a:r>
            <a:r>
              <a:rPr lang="en-US" sz="2400" b="0" i="0" u="none" strike="noStrike" baseline="-25000" dirty="0">
                <a:solidFill>
                  <a:srgbClr val="000000"/>
                </a:solidFill>
                <a:effectLst/>
                <a:latin typeface="Calibri" panose="020F0502020204030204" pitchFamily="34" charset="0"/>
              </a:rPr>
              <a:t>i</a:t>
            </a:r>
            <a:r>
              <a:rPr lang="en-US" sz="2400" b="0" i="0" u="none" strike="noStrike" dirty="0">
                <a:solidFill>
                  <a:srgbClr val="000000"/>
                </a:solidFill>
                <a:effectLst/>
                <a:latin typeface="Calibri" panose="020F0502020204030204" pitchFamily="34" charset="0"/>
              </a:rPr>
              <a:t> ;</a:t>
            </a:r>
            <a:endParaRPr lang="en-US" sz="1920" b="0" i="0" u="none" strike="noStrike" dirty="0">
              <a:solidFill>
                <a:srgbClr val="008080"/>
              </a:solidFill>
              <a:effectLst/>
              <a:latin typeface="Noto Sans Symbols"/>
            </a:endParaRPr>
          </a:p>
          <a:p>
            <a:pPr marL="285750" indent="-285750" rtl="0" fontAlgn="base">
              <a:lnSpc>
                <a:spcPct val="150000"/>
              </a:lnSpc>
              <a:spcBef>
                <a:spcPts val="300"/>
              </a:spcBef>
              <a:spcAft>
                <a:spcPts val="0"/>
              </a:spcAft>
              <a:buFont typeface="Wingdings" panose="05000000000000000000" pitchFamily="2" charset="2"/>
              <a:buChar char="q"/>
            </a:pPr>
            <a:r>
              <a:rPr lang="en-US" sz="2400" b="0" i="0" u="none" strike="noStrike" dirty="0">
                <a:solidFill>
                  <a:srgbClr val="000000"/>
                </a:solidFill>
                <a:effectLst/>
                <a:latin typeface="Calibri" panose="020F0502020204030204" pitchFamily="34" charset="0"/>
              </a:rPr>
              <a:t>Classification: classify an unknown sample</a:t>
            </a:r>
            <a:r>
              <a:rPr lang="en-US" sz="2400" b="1" i="0" u="none" strike="noStrike" dirty="0">
                <a:solidFill>
                  <a:srgbClr val="000000"/>
                </a:solidFill>
                <a:effectLst/>
                <a:latin typeface="Calibri" panose="020F0502020204030204" pitchFamily="34" charset="0"/>
              </a:rPr>
              <a:t> X</a:t>
            </a:r>
            <a:r>
              <a:rPr lang="en-US" sz="2400" b="0" i="0" u="none" strike="noStrike" dirty="0">
                <a:solidFill>
                  <a:srgbClr val="000000"/>
                </a:solidFill>
                <a:effectLst/>
                <a:latin typeface="Calibri" panose="020F0502020204030204" pitchFamily="34" charset="0"/>
              </a:rPr>
              <a:t> </a:t>
            </a:r>
            <a:endParaRPr lang="en-US" sz="1920" b="0" i="0" u="none" strike="noStrike" dirty="0">
              <a:solidFill>
                <a:srgbClr val="0000CC"/>
              </a:solidFill>
              <a:effectLst/>
              <a:latin typeface="Noto Sans Symbols"/>
            </a:endParaRPr>
          </a:p>
          <a:p>
            <a:pPr marL="800100" lvl="1" indent="-342900" rtl="0" fontAlgn="base">
              <a:lnSpc>
                <a:spcPct val="150000"/>
              </a:lnSpc>
              <a:spcBef>
                <a:spcPts val="300"/>
              </a:spcBef>
              <a:spcAft>
                <a:spcPts val="0"/>
              </a:spcAft>
              <a:buFont typeface="Wingdings" panose="05000000000000000000" pitchFamily="2" charset="2"/>
              <a:buChar char="q"/>
            </a:pPr>
            <a:r>
              <a:rPr lang="en-US" sz="2400" b="0" i="0" u="none" strike="noStrike" dirty="0">
                <a:solidFill>
                  <a:srgbClr val="000000"/>
                </a:solidFill>
                <a:effectLst/>
                <a:latin typeface="Calibri" panose="020F0502020204030204" pitchFamily="34" charset="0"/>
              </a:rPr>
              <a:t>let each of the k models classify X and return the majority vote</a:t>
            </a:r>
            <a:endParaRPr lang="en-US" sz="1920" b="0" i="0" u="none" strike="noStrike" dirty="0">
              <a:solidFill>
                <a:srgbClr val="BD582C"/>
              </a:solidFill>
              <a:effectLst/>
              <a:latin typeface="Noto Sans Symbols"/>
            </a:endParaRPr>
          </a:p>
          <a:p>
            <a:pPr marL="285750" indent="-285750" rtl="0" fontAlgn="base">
              <a:lnSpc>
                <a:spcPct val="150000"/>
              </a:lnSpc>
              <a:spcBef>
                <a:spcPts val="300"/>
              </a:spcBef>
              <a:spcAft>
                <a:spcPts val="0"/>
              </a:spcAft>
              <a:buFont typeface="Wingdings" panose="05000000000000000000" pitchFamily="2" charset="2"/>
              <a:buChar char="q"/>
            </a:pPr>
            <a:r>
              <a:rPr lang="en-US" sz="2400" b="0" i="0" u="none" strike="noStrike" dirty="0">
                <a:solidFill>
                  <a:srgbClr val="000000"/>
                </a:solidFill>
                <a:effectLst/>
                <a:latin typeface="Calibri" panose="020F0502020204030204" pitchFamily="34" charset="0"/>
              </a:rPr>
              <a:t>Prediction:</a:t>
            </a:r>
            <a:endParaRPr lang="en-US" sz="1920" b="0" i="0" u="none" strike="noStrike" dirty="0">
              <a:solidFill>
                <a:srgbClr val="0000CC"/>
              </a:solidFill>
              <a:effectLst/>
              <a:latin typeface="Noto Sans Symbols"/>
            </a:endParaRPr>
          </a:p>
          <a:p>
            <a:pPr marL="800100" lvl="1" indent="-342900" rtl="0" fontAlgn="base">
              <a:lnSpc>
                <a:spcPct val="150000"/>
              </a:lnSpc>
              <a:spcBef>
                <a:spcPts val="300"/>
              </a:spcBef>
              <a:spcAft>
                <a:spcPts val="0"/>
              </a:spcAft>
              <a:buFont typeface="Wingdings" panose="05000000000000000000" pitchFamily="2" charset="2"/>
              <a:buChar char="q"/>
            </a:pPr>
            <a:r>
              <a:rPr lang="en-US" sz="2400" b="0" i="0" u="none" strike="noStrike" dirty="0">
                <a:solidFill>
                  <a:srgbClr val="000000"/>
                </a:solidFill>
                <a:effectLst/>
                <a:latin typeface="Calibri" panose="020F0502020204030204" pitchFamily="34" charset="0"/>
              </a:rPr>
              <a:t>To predict continuous variables, use average prediction instead of vote</a:t>
            </a:r>
            <a:endParaRPr lang="en-US" sz="1920" b="0" i="0" u="none" strike="noStrike" dirty="0">
              <a:solidFill>
                <a:srgbClr val="BD582C"/>
              </a:solidFill>
              <a:effectLst/>
              <a:latin typeface="Noto Sans Symbols"/>
            </a:endParaRPr>
          </a:p>
        </p:txBody>
      </p:sp>
    </p:spTree>
    <p:extLst>
      <p:ext uri="{BB962C8B-B14F-4D97-AF65-F5344CB8AC3E}">
        <p14:creationId xmlns:p14="http://schemas.microsoft.com/office/powerpoint/2010/main" val="22579462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Bias-Variance tradeoff</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17</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8515773" cy="5375702"/>
          </a:xfrm>
          <a:prstGeom prst="rect">
            <a:avLst/>
          </a:prstGeom>
          <a:noFill/>
        </p:spPr>
        <p:txBody>
          <a:bodyPr wrap="square">
            <a:spAutoFit/>
          </a:bodyPr>
          <a:lstStyle/>
          <a:p>
            <a:pPr marL="342900" indent="-342900" algn="just" rtl="0" fontAlgn="base">
              <a:lnSpc>
                <a:spcPct val="150000"/>
              </a:lnSpc>
              <a:spcBef>
                <a:spcPts val="300"/>
              </a:spcBef>
              <a:spcAft>
                <a:spcPts val="0"/>
              </a:spcAft>
              <a:buFont typeface="Wingdings" panose="05000000000000000000" pitchFamily="2" charset="2"/>
              <a:buChar char="q"/>
            </a:pPr>
            <a:r>
              <a:rPr lang="en-US" sz="2400" dirty="0">
                <a:solidFill>
                  <a:srgbClr val="000000"/>
                </a:solidFill>
                <a:latin typeface="Calibri" panose="020F0502020204030204" pitchFamily="34" charset="0"/>
              </a:rPr>
              <a:t>Bias</a:t>
            </a:r>
          </a:p>
          <a:p>
            <a:pPr marL="0" marR="0" algn="just">
              <a:lnSpc>
                <a:spcPct val="150000"/>
              </a:lnSpc>
              <a:spcBef>
                <a:spcPts val="0"/>
              </a:spcBef>
              <a:spcAft>
                <a:spcPts val="0"/>
              </a:spcAft>
            </a:pPr>
            <a:r>
              <a:rPr lang="en-US" sz="2400" b="0" i="0" u="none" strike="noStrike" dirty="0">
                <a:solidFill>
                  <a:srgbClr val="000000"/>
                </a:solidFill>
                <a:effectLst/>
                <a:latin typeface="Calibri" panose="020F0502020204030204" pitchFamily="34" charset="0"/>
              </a:rPr>
              <a:t>    - </a:t>
            </a:r>
            <a:r>
              <a:rPr lang="en-US" sz="1800" dirty="0">
                <a:effectLst/>
                <a:latin typeface="Calibri" panose="020F0502020204030204" pitchFamily="34" charset="0"/>
              </a:rPr>
              <a:t>The inability of the model to truly capture the relationship in the training data .</a:t>
            </a:r>
          </a:p>
          <a:p>
            <a:pPr marL="0" marR="0" algn="just">
              <a:lnSpc>
                <a:spcPct val="150000"/>
              </a:lnSpc>
              <a:spcBef>
                <a:spcPts val="0"/>
              </a:spcBef>
              <a:spcAft>
                <a:spcPts val="0"/>
              </a:spcAft>
            </a:pPr>
            <a:r>
              <a:rPr lang="en-US" sz="1800" dirty="0">
                <a:effectLst/>
                <a:latin typeface="Calibri" panose="020F0502020204030204" pitchFamily="34" charset="0"/>
              </a:rPr>
              <a:t>So , if a model can not perform well on the training data, then the model is highly biased.</a:t>
            </a:r>
          </a:p>
          <a:p>
            <a:pPr marL="0" marR="0" algn="just">
              <a:lnSpc>
                <a:spcPct val="150000"/>
              </a:lnSpc>
              <a:spcBef>
                <a:spcPts val="0"/>
              </a:spcBef>
              <a:spcAft>
                <a:spcPts val="0"/>
              </a:spcAft>
            </a:pPr>
            <a:endParaRPr lang="en-US" dirty="0">
              <a:latin typeface="Calibri" panose="020F0502020204030204" pitchFamily="34" charset="0"/>
            </a:endParaRPr>
          </a:p>
          <a:p>
            <a:pPr marL="285750" marR="0" indent="-285750" algn="just">
              <a:lnSpc>
                <a:spcPct val="150000"/>
              </a:lnSpc>
              <a:spcBef>
                <a:spcPts val="0"/>
              </a:spcBef>
              <a:spcAft>
                <a:spcPts val="0"/>
              </a:spcAft>
              <a:buFont typeface="Wingdings" panose="05000000000000000000" pitchFamily="2" charset="2"/>
              <a:buChar char="q"/>
            </a:pPr>
            <a:r>
              <a:rPr lang="en-US" sz="2400" dirty="0">
                <a:effectLst/>
                <a:latin typeface="Calibri" panose="020F0502020204030204" pitchFamily="34" charset="0"/>
              </a:rPr>
              <a:t>Variance</a:t>
            </a:r>
          </a:p>
          <a:p>
            <a:pPr marR="0" algn="just">
              <a:lnSpc>
                <a:spcPct val="150000"/>
              </a:lnSpc>
              <a:spcBef>
                <a:spcPts val="0"/>
              </a:spcBef>
              <a:spcAft>
                <a:spcPts val="0"/>
              </a:spcAft>
            </a:pPr>
            <a:r>
              <a:rPr lang="en-US" sz="1800" dirty="0">
                <a:effectLst/>
                <a:latin typeface="Calibri" panose="020F0502020204030204" pitchFamily="34" charset="0"/>
              </a:rPr>
              <a:t>     - Measure of the change in the model’s predictions when trained on different subsets of the data.</a:t>
            </a:r>
          </a:p>
          <a:p>
            <a:pPr marR="0" algn="just">
              <a:lnSpc>
                <a:spcPct val="150000"/>
              </a:lnSpc>
              <a:spcBef>
                <a:spcPts val="0"/>
              </a:spcBef>
              <a:spcAft>
                <a:spcPts val="0"/>
              </a:spcAft>
            </a:pPr>
            <a:r>
              <a:rPr lang="en-US" sz="1800" dirty="0">
                <a:effectLst/>
                <a:latin typeface="Calibri" panose="020F0502020204030204" pitchFamily="34" charset="0"/>
              </a:rPr>
              <a:t>For say training error is 10.</a:t>
            </a:r>
          </a:p>
          <a:p>
            <a:pPr marR="0" algn="just">
              <a:lnSpc>
                <a:spcPct val="150000"/>
              </a:lnSpc>
              <a:spcBef>
                <a:spcPts val="0"/>
              </a:spcBef>
              <a:spcAft>
                <a:spcPts val="0"/>
              </a:spcAft>
            </a:pPr>
            <a:r>
              <a:rPr lang="en-US" sz="1800" dirty="0">
                <a:effectLst/>
                <a:latin typeface="Calibri" panose="020F0502020204030204" pitchFamily="34" charset="0"/>
              </a:rPr>
              <a:t>But the testing error is 100.</a:t>
            </a:r>
          </a:p>
          <a:p>
            <a:pPr marR="0" algn="just">
              <a:lnSpc>
                <a:spcPct val="150000"/>
              </a:lnSpc>
              <a:spcBef>
                <a:spcPts val="0"/>
              </a:spcBef>
              <a:spcAft>
                <a:spcPts val="0"/>
              </a:spcAft>
            </a:pPr>
            <a:r>
              <a:rPr lang="en-US" sz="1800" dirty="0">
                <a:effectLst/>
                <a:latin typeface="Calibri" panose="020F0502020204030204" pitchFamily="34" charset="0"/>
              </a:rPr>
              <a:t>So, Variance is high.</a:t>
            </a:r>
          </a:p>
          <a:p>
            <a:pPr marR="0" algn="just">
              <a:spcBef>
                <a:spcPts val="0"/>
              </a:spcBef>
              <a:spcAft>
                <a:spcPts val="0"/>
              </a:spcAft>
            </a:pPr>
            <a:endParaRPr lang="en-US" sz="1800" dirty="0">
              <a:effectLst/>
              <a:latin typeface="Calibri" panose="020F0502020204030204" pitchFamily="34" charset="0"/>
            </a:endParaRPr>
          </a:p>
          <a:p>
            <a:pPr algn="just"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Tree>
    <p:extLst>
      <p:ext uri="{BB962C8B-B14F-4D97-AF65-F5344CB8AC3E}">
        <p14:creationId xmlns:p14="http://schemas.microsoft.com/office/powerpoint/2010/main" val="23959312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Bias-Variance tradeoff</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18</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9210717" cy="805220"/>
          </a:xfrm>
          <a:prstGeom prst="rect">
            <a:avLst/>
          </a:prstGeom>
          <a:noFill/>
        </p:spPr>
        <p:txBody>
          <a:bodyPr wrap="square">
            <a:spAutoFit/>
          </a:bodyPr>
          <a:lstStyle/>
          <a:p>
            <a:pPr marR="0">
              <a:spcBef>
                <a:spcPts val="0"/>
              </a:spcBef>
              <a:spcAft>
                <a:spcPts val="0"/>
              </a:spcAft>
            </a:pPr>
            <a:endParaRPr lang="en-US" sz="1800" dirty="0">
              <a:effectLst/>
              <a:latin typeface="Calibri" panose="020F0502020204030204" pitchFamily="34" charset="0"/>
            </a:endParaRPr>
          </a:p>
          <a:p>
            <a:pPr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pic>
        <p:nvPicPr>
          <p:cNvPr id="8" name="Picture 7">
            <a:extLst>
              <a:ext uri="{FF2B5EF4-FFF2-40B4-BE49-F238E27FC236}">
                <a16:creationId xmlns:a16="http://schemas.microsoft.com/office/drawing/2014/main" xmlns="" id="{4DE58B9F-4DDB-127C-0559-23DFF76C1769}"/>
              </a:ext>
            </a:extLst>
          </p:cNvPr>
          <p:cNvPicPr>
            <a:picLocks noChangeAspect="1"/>
          </p:cNvPicPr>
          <p:nvPr/>
        </p:nvPicPr>
        <p:blipFill>
          <a:blip r:embed="rId3"/>
          <a:stretch>
            <a:fillRect/>
          </a:stretch>
        </p:blipFill>
        <p:spPr>
          <a:xfrm>
            <a:off x="891623" y="1946263"/>
            <a:ext cx="5192524" cy="3390847"/>
          </a:xfrm>
          <a:prstGeom prst="rect">
            <a:avLst/>
          </a:prstGeom>
        </p:spPr>
      </p:pic>
      <p:pic>
        <p:nvPicPr>
          <p:cNvPr id="11" name="Picture 10">
            <a:extLst>
              <a:ext uri="{FF2B5EF4-FFF2-40B4-BE49-F238E27FC236}">
                <a16:creationId xmlns:a16="http://schemas.microsoft.com/office/drawing/2014/main" xmlns="" id="{546EBC76-A18B-C7BE-7836-7D538983007C}"/>
              </a:ext>
            </a:extLst>
          </p:cNvPr>
          <p:cNvPicPr>
            <a:picLocks noChangeAspect="1"/>
          </p:cNvPicPr>
          <p:nvPr/>
        </p:nvPicPr>
        <p:blipFill>
          <a:blip r:embed="rId4"/>
          <a:stretch>
            <a:fillRect/>
          </a:stretch>
        </p:blipFill>
        <p:spPr>
          <a:xfrm>
            <a:off x="6559420" y="800479"/>
            <a:ext cx="4736460" cy="2968040"/>
          </a:xfrm>
          <a:prstGeom prst="rect">
            <a:avLst/>
          </a:prstGeom>
        </p:spPr>
      </p:pic>
      <p:pic>
        <p:nvPicPr>
          <p:cNvPr id="13" name="Picture 12">
            <a:extLst>
              <a:ext uri="{FF2B5EF4-FFF2-40B4-BE49-F238E27FC236}">
                <a16:creationId xmlns:a16="http://schemas.microsoft.com/office/drawing/2014/main" xmlns="" id="{2BC1F734-F1AC-AA50-D257-ECDB7989B706}"/>
              </a:ext>
            </a:extLst>
          </p:cNvPr>
          <p:cNvPicPr>
            <a:picLocks noChangeAspect="1"/>
          </p:cNvPicPr>
          <p:nvPr/>
        </p:nvPicPr>
        <p:blipFill>
          <a:blip r:embed="rId5"/>
          <a:stretch>
            <a:fillRect/>
          </a:stretch>
        </p:blipFill>
        <p:spPr>
          <a:xfrm>
            <a:off x="6649360" y="3811560"/>
            <a:ext cx="4672802" cy="2940172"/>
          </a:xfrm>
          <a:prstGeom prst="rect">
            <a:avLst/>
          </a:prstGeom>
        </p:spPr>
      </p:pic>
    </p:spTree>
    <p:extLst>
      <p:ext uri="{BB962C8B-B14F-4D97-AF65-F5344CB8AC3E}">
        <p14:creationId xmlns:p14="http://schemas.microsoft.com/office/powerpoint/2010/main" val="18807050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Bias-Variance tradeoff</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19</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9210717" cy="805220"/>
          </a:xfrm>
          <a:prstGeom prst="rect">
            <a:avLst/>
          </a:prstGeom>
          <a:noFill/>
        </p:spPr>
        <p:txBody>
          <a:bodyPr wrap="square">
            <a:spAutoFit/>
          </a:bodyPr>
          <a:lstStyle/>
          <a:p>
            <a:pPr marR="0">
              <a:spcBef>
                <a:spcPts val="0"/>
              </a:spcBef>
              <a:spcAft>
                <a:spcPts val="0"/>
              </a:spcAft>
            </a:pPr>
            <a:endParaRPr lang="en-US" sz="1800" dirty="0">
              <a:effectLst/>
              <a:latin typeface="Calibri" panose="020F0502020204030204" pitchFamily="34" charset="0"/>
            </a:endParaRPr>
          </a:p>
          <a:p>
            <a:pPr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3" name="TextBox 2">
            <a:extLst>
              <a:ext uri="{FF2B5EF4-FFF2-40B4-BE49-F238E27FC236}">
                <a16:creationId xmlns:a16="http://schemas.microsoft.com/office/drawing/2014/main" xmlns="" id="{7DF7DD2A-632D-12D0-2C25-966CD6856BDF}"/>
              </a:ext>
            </a:extLst>
          </p:cNvPr>
          <p:cNvSpPr txBox="1"/>
          <p:nvPr/>
        </p:nvSpPr>
        <p:spPr>
          <a:xfrm>
            <a:off x="1588347" y="901495"/>
            <a:ext cx="8515773" cy="6283643"/>
          </a:xfrm>
          <a:prstGeom prst="rect">
            <a:avLst/>
          </a:prstGeom>
          <a:noFill/>
        </p:spPr>
        <p:txBody>
          <a:bodyPr wrap="square">
            <a:spAutoFit/>
          </a:bodyPr>
          <a:lstStyle/>
          <a:p>
            <a:pPr marL="342900" indent="-342900" algn="just" fontAlgn="base">
              <a:lnSpc>
                <a:spcPct val="150000"/>
              </a:lnSpc>
              <a:spcBef>
                <a:spcPts val="300"/>
              </a:spcBef>
              <a:buFont typeface="Wingdings" panose="05000000000000000000" pitchFamily="2" charset="2"/>
              <a:buChar char="q"/>
            </a:pPr>
            <a:r>
              <a:rPr lang="en-US" sz="2200" dirty="0">
                <a:effectLst/>
                <a:latin typeface="Calibri" panose="020F0502020204030204" pitchFamily="34" charset="0"/>
              </a:rPr>
              <a:t>Overfitting:</a:t>
            </a:r>
            <a:endParaRPr lang="en-US" sz="2200" dirty="0">
              <a:solidFill>
                <a:srgbClr val="000000"/>
              </a:solidFill>
              <a:latin typeface="Calibri" panose="020F0502020204030204" pitchFamily="34" charset="0"/>
            </a:endParaRPr>
          </a:p>
          <a:p>
            <a:pPr marL="742950" lvl="1" indent="-285750">
              <a:lnSpc>
                <a:spcPct val="150000"/>
              </a:lnSpc>
              <a:buFont typeface="Wingdings" panose="05000000000000000000" pitchFamily="2" charset="2"/>
              <a:buChar char="§"/>
            </a:pPr>
            <a:r>
              <a:rPr lang="en-US" dirty="0">
                <a:effectLst/>
                <a:latin typeface="Calibri" panose="020F0502020204030204" pitchFamily="34" charset="0"/>
              </a:rPr>
              <a:t>Too complex model</a:t>
            </a:r>
          </a:p>
          <a:p>
            <a:pPr marL="742950" lvl="1" indent="-285750">
              <a:lnSpc>
                <a:spcPct val="150000"/>
              </a:lnSpc>
              <a:buFont typeface="Wingdings" panose="05000000000000000000" pitchFamily="2" charset="2"/>
              <a:buChar char="§"/>
            </a:pPr>
            <a:r>
              <a:rPr lang="en-US" dirty="0">
                <a:effectLst/>
                <a:latin typeface="Calibri" panose="020F0502020204030204" pitchFamily="34" charset="0"/>
              </a:rPr>
              <a:t>Performs too well for training data (Low Bias)</a:t>
            </a:r>
          </a:p>
          <a:p>
            <a:pPr marL="742950" lvl="1" indent="-285750">
              <a:lnSpc>
                <a:spcPct val="150000"/>
              </a:lnSpc>
              <a:buFont typeface="Wingdings" panose="05000000000000000000" pitchFamily="2" charset="2"/>
              <a:buChar char="§"/>
            </a:pPr>
            <a:r>
              <a:rPr lang="en-US" dirty="0">
                <a:effectLst/>
                <a:latin typeface="Calibri" panose="020F0502020204030204" pitchFamily="34" charset="0"/>
              </a:rPr>
              <a:t>But can not perform well for test data (High Variance)</a:t>
            </a:r>
            <a:endParaRPr lang="en-US" sz="2400" dirty="0">
              <a:latin typeface="Calibri" panose="020F0502020204030204" pitchFamily="34" charset="0"/>
            </a:endParaRPr>
          </a:p>
          <a:p>
            <a:pPr marL="285750" marR="0" indent="-285750" algn="just">
              <a:lnSpc>
                <a:spcPct val="150000"/>
              </a:lnSpc>
              <a:spcBef>
                <a:spcPts val="0"/>
              </a:spcBef>
              <a:spcAft>
                <a:spcPts val="0"/>
              </a:spcAft>
              <a:buFont typeface="Wingdings" panose="05000000000000000000" pitchFamily="2" charset="2"/>
              <a:buChar char="q"/>
            </a:pPr>
            <a:r>
              <a:rPr lang="en-US" sz="2200" dirty="0">
                <a:latin typeface="Calibri" panose="020F0502020204030204" pitchFamily="34" charset="0"/>
              </a:rPr>
              <a:t>Underfitting</a:t>
            </a:r>
            <a:endParaRPr lang="en-US" sz="2200" dirty="0">
              <a:effectLst/>
              <a:latin typeface="Calibri" panose="020F0502020204030204" pitchFamily="34" charset="0"/>
            </a:endParaRPr>
          </a:p>
          <a:p>
            <a:pPr marL="742950" lvl="1" indent="-285750">
              <a:lnSpc>
                <a:spcPct val="150000"/>
              </a:lnSpc>
              <a:buFont typeface="Wingdings" panose="05000000000000000000" pitchFamily="2" charset="2"/>
              <a:buChar char="§"/>
            </a:pPr>
            <a:r>
              <a:rPr lang="en-US" dirty="0">
                <a:effectLst/>
                <a:latin typeface="Calibri" panose="020F0502020204030204" pitchFamily="34" charset="0"/>
              </a:rPr>
              <a:t>Too simple model</a:t>
            </a:r>
          </a:p>
          <a:p>
            <a:pPr marL="742950" lvl="1" indent="-285750">
              <a:lnSpc>
                <a:spcPct val="150000"/>
              </a:lnSpc>
              <a:buFont typeface="Wingdings" panose="05000000000000000000" pitchFamily="2" charset="2"/>
              <a:buChar char="§"/>
            </a:pPr>
            <a:r>
              <a:rPr lang="en-US" dirty="0">
                <a:effectLst/>
                <a:latin typeface="Calibri" panose="020F0502020204030204" pitchFamily="34" charset="0"/>
              </a:rPr>
              <a:t>Can not perform well in training data. (High Bias)</a:t>
            </a:r>
          </a:p>
          <a:p>
            <a:pPr lvl="1">
              <a:lnSpc>
                <a:spcPct val="150000"/>
              </a:lnSpc>
            </a:pPr>
            <a:endParaRPr lang="en-US" dirty="0">
              <a:effectLst/>
              <a:latin typeface="Calibri" panose="020F0502020204030204" pitchFamily="34" charset="0"/>
            </a:endParaRPr>
          </a:p>
          <a:p>
            <a:pPr marL="0" marR="0">
              <a:spcBef>
                <a:spcPts val="0"/>
              </a:spcBef>
              <a:spcAft>
                <a:spcPts val="0"/>
              </a:spcAft>
            </a:pPr>
            <a:r>
              <a:rPr lang="en-US" sz="2000" dirty="0">
                <a:effectLst/>
                <a:latin typeface="Calibri" panose="020F0502020204030204" pitchFamily="34" charset="0"/>
              </a:rPr>
              <a:t>Our target is to develop  an optimal model.</a:t>
            </a:r>
          </a:p>
          <a:p>
            <a:pPr marL="285750" marR="0" indent="-285750">
              <a:lnSpc>
                <a:spcPct val="150000"/>
              </a:lnSpc>
              <a:spcBef>
                <a:spcPts val="0"/>
              </a:spcBef>
              <a:spcAft>
                <a:spcPts val="0"/>
              </a:spcAft>
              <a:buFont typeface="Wingdings" panose="05000000000000000000" pitchFamily="2" charset="2"/>
              <a:buChar char="q"/>
            </a:pPr>
            <a:r>
              <a:rPr lang="en-US" sz="1800" dirty="0">
                <a:effectLst/>
                <a:latin typeface="Calibri" panose="020F0502020204030204" pitchFamily="34" charset="0"/>
              </a:rPr>
              <a:t>Balanced (Low) Bias</a:t>
            </a:r>
          </a:p>
          <a:p>
            <a:pPr marL="285750" marR="0" indent="-285750">
              <a:lnSpc>
                <a:spcPct val="150000"/>
              </a:lnSpc>
              <a:spcBef>
                <a:spcPts val="0"/>
              </a:spcBef>
              <a:spcAft>
                <a:spcPts val="0"/>
              </a:spcAft>
              <a:buFont typeface="Wingdings" panose="05000000000000000000" pitchFamily="2" charset="2"/>
              <a:buChar char="q"/>
            </a:pPr>
            <a:r>
              <a:rPr lang="en-US" sz="1800" dirty="0">
                <a:effectLst/>
                <a:latin typeface="Calibri" panose="020F0502020204030204" pitchFamily="34" charset="0"/>
              </a:rPr>
              <a:t>Balanced (Low ) Variance.</a:t>
            </a:r>
          </a:p>
          <a:p>
            <a:pPr lvl="1">
              <a:lnSpc>
                <a:spcPct val="150000"/>
              </a:lnSpc>
            </a:pPr>
            <a:endParaRPr lang="en-US" dirty="0">
              <a:effectLst/>
              <a:latin typeface="Calibri" panose="020F0502020204030204" pitchFamily="34" charset="0"/>
            </a:endParaRPr>
          </a:p>
          <a:p>
            <a:pPr lvl="1">
              <a:lnSpc>
                <a:spcPct val="150000"/>
              </a:lnSpc>
            </a:pPr>
            <a:endParaRPr lang="en-US" dirty="0">
              <a:effectLst/>
              <a:latin typeface="Calibri" panose="020F0502020204030204" pitchFamily="34" charset="0"/>
            </a:endParaRPr>
          </a:p>
          <a:p>
            <a:pPr marR="0" algn="just">
              <a:spcBef>
                <a:spcPts val="0"/>
              </a:spcBef>
              <a:spcAft>
                <a:spcPts val="0"/>
              </a:spcAft>
            </a:pPr>
            <a:endParaRPr lang="en-US" sz="1800" dirty="0">
              <a:effectLst/>
              <a:latin typeface="Calibri" panose="020F0502020204030204" pitchFamily="34" charset="0"/>
            </a:endParaRPr>
          </a:p>
          <a:p>
            <a:pPr algn="just"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Tree>
    <p:extLst>
      <p:ext uri="{BB962C8B-B14F-4D97-AF65-F5344CB8AC3E}">
        <p14:creationId xmlns:p14="http://schemas.microsoft.com/office/powerpoint/2010/main" val="21148443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Why Bagging?</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20</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9210717" cy="805220"/>
          </a:xfrm>
          <a:prstGeom prst="rect">
            <a:avLst/>
          </a:prstGeom>
          <a:noFill/>
        </p:spPr>
        <p:txBody>
          <a:bodyPr wrap="square">
            <a:spAutoFit/>
          </a:bodyPr>
          <a:lstStyle/>
          <a:p>
            <a:pPr marR="0">
              <a:spcBef>
                <a:spcPts val="0"/>
              </a:spcBef>
              <a:spcAft>
                <a:spcPts val="0"/>
              </a:spcAft>
            </a:pPr>
            <a:endParaRPr lang="en-US" sz="1800" dirty="0">
              <a:effectLst/>
              <a:latin typeface="Calibri" panose="020F0502020204030204" pitchFamily="34" charset="0"/>
            </a:endParaRPr>
          </a:p>
          <a:p>
            <a:pPr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3" name="TextBox 2">
            <a:extLst>
              <a:ext uri="{FF2B5EF4-FFF2-40B4-BE49-F238E27FC236}">
                <a16:creationId xmlns:a16="http://schemas.microsoft.com/office/drawing/2014/main" xmlns="" id="{7DF7DD2A-632D-12D0-2C25-966CD6856BDF}"/>
              </a:ext>
            </a:extLst>
          </p:cNvPr>
          <p:cNvSpPr txBox="1"/>
          <p:nvPr/>
        </p:nvSpPr>
        <p:spPr>
          <a:xfrm>
            <a:off x="1698075" y="958387"/>
            <a:ext cx="8515773" cy="3975319"/>
          </a:xfrm>
          <a:prstGeom prst="rect">
            <a:avLst/>
          </a:prstGeom>
          <a:noFill/>
        </p:spPr>
        <p:txBody>
          <a:bodyPr wrap="square">
            <a:spAutoFit/>
          </a:bodyPr>
          <a:lstStyle/>
          <a:p>
            <a:pPr marL="342900" indent="-342900" algn="just" fontAlgn="base">
              <a:lnSpc>
                <a:spcPct val="150000"/>
              </a:lnSpc>
              <a:spcBef>
                <a:spcPts val="300"/>
              </a:spcBef>
              <a:buFont typeface="Wingdings" panose="05000000000000000000" pitchFamily="2" charset="2"/>
              <a:buChar char="q"/>
            </a:pPr>
            <a:r>
              <a:rPr lang="en-US" sz="2000" dirty="0">
                <a:latin typeface="Calibri" panose="020F0502020204030204" pitchFamily="34" charset="0"/>
              </a:rPr>
              <a:t>Bagging reduces the variances in model’s prediction.</a:t>
            </a:r>
          </a:p>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In Bagging , we take algorithms that have low bias, high variance. Ex. Decision Tree,  Support Vector Machine, KNN . These algorithms are prone to overfitting. So , our target is to reduce the variance. </a:t>
            </a:r>
          </a:p>
          <a:p>
            <a:pPr marL="342900" indent="-342900" algn="just" fontAlgn="base">
              <a:lnSpc>
                <a:spcPct val="150000"/>
              </a:lnSpc>
              <a:spcBef>
                <a:spcPts val="300"/>
              </a:spcBef>
              <a:buFont typeface="Wingdings" panose="05000000000000000000" pitchFamily="2" charset="2"/>
              <a:buChar char="q"/>
            </a:pPr>
            <a:r>
              <a:rPr lang="en-US" dirty="0">
                <a:latin typeface="Calibri" panose="020F0502020204030204" pitchFamily="34" charset="0"/>
              </a:rPr>
              <a:t>T</a:t>
            </a:r>
            <a:r>
              <a:rPr lang="en-US" sz="1800" dirty="0">
                <a:effectLst/>
                <a:latin typeface="Calibri" panose="020F0502020204030204" pitchFamily="34" charset="0"/>
              </a:rPr>
              <a:t>he impact of the data change gets divided among the models. So, shows less change in the behavior resulting in low variance.</a:t>
            </a:r>
            <a:endParaRPr lang="en-US" sz="2000" dirty="0">
              <a:effectLst/>
              <a:latin typeface="Calibri" panose="020F0502020204030204" pitchFamily="34" charset="0"/>
            </a:endParaRPr>
          </a:p>
          <a:p>
            <a:pPr lvl="1">
              <a:lnSpc>
                <a:spcPct val="150000"/>
              </a:lnSpc>
            </a:pPr>
            <a:endParaRPr lang="en-US" dirty="0">
              <a:effectLst/>
              <a:latin typeface="Calibri" panose="020F0502020204030204" pitchFamily="34" charset="0"/>
            </a:endParaRPr>
          </a:p>
          <a:p>
            <a:pPr marR="0" algn="just">
              <a:spcBef>
                <a:spcPts val="0"/>
              </a:spcBef>
              <a:spcAft>
                <a:spcPts val="0"/>
              </a:spcAft>
            </a:pPr>
            <a:endParaRPr lang="en-US" sz="1800" dirty="0">
              <a:effectLst/>
              <a:latin typeface="Calibri" panose="020F0502020204030204" pitchFamily="34" charset="0"/>
            </a:endParaRPr>
          </a:p>
          <a:p>
            <a:pPr algn="just"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Tree>
    <p:extLst>
      <p:ext uri="{BB962C8B-B14F-4D97-AF65-F5344CB8AC3E}">
        <p14:creationId xmlns:p14="http://schemas.microsoft.com/office/powerpoint/2010/main" val="21780154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Types of Bagging</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21</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9210717" cy="805220"/>
          </a:xfrm>
          <a:prstGeom prst="rect">
            <a:avLst/>
          </a:prstGeom>
          <a:noFill/>
        </p:spPr>
        <p:txBody>
          <a:bodyPr wrap="square">
            <a:spAutoFit/>
          </a:bodyPr>
          <a:lstStyle/>
          <a:p>
            <a:pPr marR="0">
              <a:spcBef>
                <a:spcPts val="0"/>
              </a:spcBef>
              <a:spcAft>
                <a:spcPts val="0"/>
              </a:spcAft>
            </a:pPr>
            <a:endParaRPr lang="en-US" sz="1800" dirty="0">
              <a:effectLst/>
              <a:latin typeface="Calibri" panose="020F0502020204030204" pitchFamily="34" charset="0"/>
            </a:endParaRPr>
          </a:p>
          <a:p>
            <a:pPr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3" name="TextBox 2">
            <a:extLst>
              <a:ext uri="{FF2B5EF4-FFF2-40B4-BE49-F238E27FC236}">
                <a16:creationId xmlns:a16="http://schemas.microsoft.com/office/drawing/2014/main" xmlns="" id="{7DF7DD2A-632D-12D0-2C25-966CD6856BDF}"/>
              </a:ext>
            </a:extLst>
          </p:cNvPr>
          <p:cNvSpPr txBox="1"/>
          <p:nvPr/>
        </p:nvSpPr>
        <p:spPr>
          <a:xfrm>
            <a:off x="1698075" y="958387"/>
            <a:ext cx="8515773" cy="3267433"/>
          </a:xfrm>
          <a:prstGeom prst="rect">
            <a:avLst/>
          </a:prstGeom>
          <a:noFill/>
        </p:spPr>
        <p:txBody>
          <a:bodyPr wrap="square">
            <a:spAutoFit/>
          </a:bodyPr>
          <a:lstStyle/>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Based on how the subsets of data are being created.</a:t>
            </a:r>
          </a:p>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Row sampling </a:t>
            </a:r>
          </a:p>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 </a:t>
            </a:r>
            <a:r>
              <a:rPr lang="en-US" sz="2000" dirty="0">
                <a:latin typeface="Calibri" panose="020F0502020204030204" pitchFamily="34" charset="0"/>
              </a:rPr>
              <a:t>C</a:t>
            </a:r>
            <a:r>
              <a:rPr lang="en-US" sz="2000" dirty="0">
                <a:effectLst/>
                <a:latin typeface="Calibri" panose="020F0502020204030204" pitchFamily="34" charset="0"/>
              </a:rPr>
              <a:t>olumn/Feature/Attribute sampling </a:t>
            </a:r>
          </a:p>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 </a:t>
            </a:r>
            <a:r>
              <a:rPr lang="en-US" sz="2000" dirty="0">
                <a:latin typeface="Calibri" panose="020F0502020204030204" pitchFamily="34" charset="0"/>
              </a:rPr>
              <a:t>C</a:t>
            </a:r>
            <a:r>
              <a:rPr lang="en-US" sz="2000" dirty="0">
                <a:effectLst/>
                <a:latin typeface="Calibri" panose="020F0502020204030204" pitchFamily="34" charset="0"/>
              </a:rPr>
              <a:t>ombination of both (Row and Feature)</a:t>
            </a:r>
          </a:p>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Pasting- Row sampling but without replacement</a:t>
            </a:r>
            <a:endParaRPr lang="en-US" dirty="0">
              <a:effectLst/>
              <a:latin typeface="Calibri" panose="020F0502020204030204" pitchFamily="34" charset="0"/>
            </a:endParaRPr>
          </a:p>
          <a:p>
            <a:pPr marR="0" algn="just">
              <a:spcBef>
                <a:spcPts val="0"/>
              </a:spcBef>
              <a:spcAft>
                <a:spcPts val="0"/>
              </a:spcAft>
            </a:pPr>
            <a:endParaRPr lang="en-US" sz="1800" dirty="0">
              <a:effectLst/>
              <a:latin typeface="Calibri" panose="020F0502020204030204" pitchFamily="34" charset="0"/>
            </a:endParaRPr>
          </a:p>
          <a:p>
            <a:pPr algn="just"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Tree>
    <p:extLst>
      <p:ext uri="{BB962C8B-B14F-4D97-AF65-F5344CB8AC3E}">
        <p14:creationId xmlns:p14="http://schemas.microsoft.com/office/powerpoint/2010/main" val="19161294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Random Forest</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22</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9210717" cy="805220"/>
          </a:xfrm>
          <a:prstGeom prst="rect">
            <a:avLst/>
          </a:prstGeom>
          <a:noFill/>
        </p:spPr>
        <p:txBody>
          <a:bodyPr wrap="square">
            <a:spAutoFit/>
          </a:bodyPr>
          <a:lstStyle/>
          <a:p>
            <a:pPr marR="0">
              <a:spcBef>
                <a:spcPts val="0"/>
              </a:spcBef>
              <a:spcAft>
                <a:spcPts val="0"/>
              </a:spcAft>
            </a:pPr>
            <a:endParaRPr lang="en-US" sz="1800" dirty="0">
              <a:effectLst/>
              <a:latin typeface="Calibri" panose="020F0502020204030204" pitchFamily="34" charset="0"/>
            </a:endParaRPr>
          </a:p>
          <a:p>
            <a:pPr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3" name="TextBox 2">
            <a:extLst>
              <a:ext uri="{FF2B5EF4-FFF2-40B4-BE49-F238E27FC236}">
                <a16:creationId xmlns:a16="http://schemas.microsoft.com/office/drawing/2014/main" xmlns="" id="{7DF7DD2A-632D-12D0-2C25-966CD6856BDF}"/>
              </a:ext>
            </a:extLst>
          </p:cNvPr>
          <p:cNvSpPr txBox="1"/>
          <p:nvPr/>
        </p:nvSpPr>
        <p:spPr>
          <a:xfrm>
            <a:off x="1698075" y="958387"/>
            <a:ext cx="8515773" cy="2351798"/>
          </a:xfrm>
          <a:prstGeom prst="rect">
            <a:avLst/>
          </a:prstGeom>
          <a:noFill/>
        </p:spPr>
        <p:txBody>
          <a:bodyPr wrap="square">
            <a:spAutoFit/>
          </a:bodyPr>
          <a:lstStyle/>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Bagging with Decision Trees as base models.</a:t>
            </a:r>
            <a:endParaRPr lang="en-US" sz="2000" dirty="0">
              <a:latin typeface="Calibri" panose="020F0502020204030204" pitchFamily="34" charset="0"/>
            </a:endParaRPr>
          </a:p>
          <a:p>
            <a:pPr marL="342900" indent="-342900" algn="just" fontAlgn="base">
              <a:lnSpc>
                <a:spcPct val="150000"/>
              </a:lnSpc>
              <a:spcBef>
                <a:spcPts val="300"/>
              </a:spcBef>
              <a:buFont typeface="Wingdings" panose="05000000000000000000" pitchFamily="2" charset="2"/>
              <a:buChar char="q"/>
            </a:pPr>
            <a:r>
              <a:rPr lang="en-US" sz="1800" dirty="0">
                <a:effectLst/>
                <a:latin typeface="Calibri" panose="020F0502020204030204" pitchFamily="34" charset="0"/>
              </a:rPr>
              <a:t>Random (Bagging -Random sampling of data) Forest (Collection of trees)</a:t>
            </a:r>
          </a:p>
          <a:p>
            <a:pPr marL="342900" indent="-342900" algn="just" fontAlgn="base">
              <a:lnSpc>
                <a:spcPct val="150000"/>
              </a:lnSpc>
              <a:spcBef>
                <a:spcPts val="300"/>
              </a:spcBef>
              <a:buFont typeface="Wingdings" panose="05000000000000000000" pitchFamily="2" charset="2"/>
              <a:buChar char="q"/>
            </a:pPr>
            <a:r>
              <a:rPr lang="en-US" sz="1800" dirty="0">
                <a:effectLst/>
                <a:latin typeface="Calibri" panose="020F0502020204030204" pitchFamily="34" charset="0"/>
              </a:rPr>
              <a:t>Random Forest allows for more diversity. Extra randomness .</a:t>
            </a:r>
          </a:p>
          <a:p>
            <a:pPr algn="just" fontAlgn="base">
              <a:lnSpc>
                <a:spcPct val="150000"/>
              </a:lnSpc>
              <a:spcBef>
                <a:spcPts val="300"/>
              </a:spcBef>
            </a:pPr>
            <a:endParaRPr lang="en-US" sz="1800" dirty="0">
              <a:effectLst/>
              <a:latin typeface="Calibri" panose="020F0502020204030204" pitchFamily="34" charset="0"/>
            </a:endParaRPr>
          </a:p>
          <a:p>
            <a:pPr algn="just"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14" name="TextBox 13">
            <a:extLst>
              <a:ext uri="{FF2B5EF4-FFF2-40B4-BE49-F238E27FC236}">
                <a16:creationId xmlns:a16="http://schemas.microsoft.com/office/drawing/2014/main" xmlns="" id="{23BBEC64-ACBA-5732-A39F-34624E4DBD88}"/>
              </a:ext>
            </a:extLst>
          </p:cNvPr>
          <p:cNvSpPr txBox="1"/>
          <p:nvPr/>
        </p:nvSpPr>
        <p:spPr>
          <a:xfrm>
            <a:off x="1698075" y="2948297"/>
            <a:ext cx="8881872" cy="2862322"/>
          </a:xfrm>
          <a:prstGeom prst="rect">
            <a:avLst/>
          </a:prstGeom>
          <a:noFill/>
        </p:spPr>
        <p:txBody>
          <a:bodyPr wrap="square">
            <a:spAutoFit/>
          </a:bodyPr>
          <a:lstStyle/>
          <a:p>
            <a:pPr marL="285750" indent="-285750">
              <a:buFont typeface="Wingdings" panose="05000000000000000000" pitchFamily="2" charset="2"/>
              <a:buChar char="q"/>
            </a:pPr>
            <a:r>
              <a:rPr lang="en-US" dirty="0"/>
              <a:t>Step 1</a:t>
            </a:r>
          </a:p>
          <a:p>
            <a:pPr marL="742950" lvl="1" indent="-285750">
              <a:buFont typeface="Wingdings" panose="05000000000000000000" pitchFamily="2" charset="2"/>
              <a:buChar char="§"/>
            </a:pPr>
            <a:r>
              <a:rPr lang="en-US" dirty="0"/>
              <a:t>Base estimators -&gt; Decision Tree</a:t>
            </a:r>
          </a:p>
          <a:p>
            <a:pPr marL="285750" indent="-285750">
              <a:buFont typeface="Wingdings" panose="05000000000000000000" pitchFamily="2" charset="2"/>
              <a:buChar char="q"/>
            </a:pPr>
            <a:r>
              <a:rPr lang="en-US" dirty="0"/>
              <a:t>Step 2</a:t>
            </a:r>
          </a:p>
          <a:p>
            <a:pPr marL="742950" lvl="1" indent="-285750">
              <a:buFont typeface="Wingdings" panose="05000000000000000000" pitchFamily="2" charset="2"/>
              <a:buChar char="§"/>
            </a:pPr>
            <a:r>
              <a:rPr lang="en-US" dirty="0"/>
              <a:t>Sampling</a:t>
            </a:r>
          </a:p>
          <a:p>
            <a:r>
              <a:rPr lang="en-US" dirty="0"/>
              <a:t>	• Row Sampling ( Randomly select rows with replacement for each tree) or</a:t>
            </a:r>
          </a:p>
          <a:p>
            <a:r>
              <a:rPr lang="en-US" dirty="0"/>
              <a:t>	• Feature Sampling (At each node randomly select some attributes or features 	as candidates and then split by the best attribute among them)</a:t>
            </a:r>
          </a:p>
          <a:p>
            <a:pPr marL="285750" indent="-285750">
              <a:buFont typeface="Wingdings" panose="05000000000000000000" pitchFamily="2" charset="2"/>
              <a:buChar char="q"/>
            </a:pPr>
            <a:r>
              <a:rPr lang="en-US" dirty="0"/>
              <a:t>Step 3</a:t>
            </a:r>
          </a:p>
          <a:p>
            <a:pPr marL="742950" lvl="1" indent="-285750">
              <a:buFont typeface="Wingdings" panose="05000000000000000000" pitchFamily="2" charset="2"/>
              <a:buChar char="§"/>
            </a:pPr>
            <a:r>
              <a:rPr lang="en-US" dirty="0"/>
              <a:t>Classification</a:t>
            </a:r>
          </a:p>
          <a:p>
            <a:pPr marL="1200150" lvl="2" indent="-285750">
              <a:buFont typeface="Arial" panose="020B0604020202020204" pitchFamily="34" charset="0"/>
              <a:buChar char="•"/>
            </a:pPr>
            <a:r>
              <a:rPr lang="en-US" dirty="0"/>
              <a:t>Majority voting</a:t>
            </a:r>
          </a:p>
        </p:txBody>
      </p:sp>
    </p:spTree>
    <p:extLst>
      <p:ext uri="{BB962C8B-B14F-4D97-AF65-F5344CB8AC3E}">
        <p14:creationId xmlns:p14="http://schemas.microsoft.com/office/powerpoint/2010/main" val="7382623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Random Forest</a:t>
            </a:r>
          </a:p>
        </p:txBody>
      </p:sp>
      <p:sp>
        <p:nvSpPr>
          <p:cNvPr id="6" name="object 6"/>
          <p:cNvSpPr txBox="1">
            <a:spLocks noGrp="1"/>
          </p:cNvSpPr>
          <p:nvPr>
            <p:ph type="sldNum" sz="quarter" idx="4294967295"/>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23</a:t>
            </a:fld>
            <a:endParaRPr spc="-67" dirty="0"/>
          </a:p>
        </p:txBody>
      </p:sp>
      <p:sp>
        <p:nvSpPr>
          <p:cNvPr id="7" name="object 7"/>
          <p:cNvSpPr txBox="1">
            <a:spLocks noGrp="1"/>
          </p:cNvSpPr>
          <p:nvPr>
            <p:ph type="ftr" sz="quarter" idx="429496729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9210717" cy="805220"/>
          </a:xfrm>
          <a:prstGeom prst="rect">
            <a:avLst/>
          </a:prstGeom>
          <a:noFill/>
        </p:spPr>
        <p:txBody>
          <a:bodyPr wrap="square">
            <a:spAutoFit/>
          </a:bodyPr>
          <a:lstStyle/>
          <a:p>
            <a:pPr marR="0">
              <a:spcBef>
                <a:spcPts val="0"/>
              </a:spcBef>
              <a:spcAft>
                <a:spcPts val="0"/>
              </a:spcAft>
            </a:pPr>
            <a:endParaRPr lang="en-US" sz="1800" dirty="0">
              <a:effectLst/>
              <a:latin typeface="Calibri" panose="020F0502020204030204" pitchFamily="34" charset="0"/>
            </a:endParaRPr>
          </a:p>
          <a:p>
            <a:pPr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3" name="TextBox 2">
            <a:extLst>
              <a:ext uri="{FF2B5EF4-FFF2-40B4-BE49-F238E27FC236}">
                <a16:creationId xmlns:a16="http://schemas.microsoft.com/office/drawing/2014/main" xmlns="" id="{7DF7DD2A-632D-12D0-2C25-966CD6856BDF}"/>
              </a:ext>
            </a:extLst>
          </p:cNvPr>
          <p:cNvSpPr txBox="1"/>
          <p:nvPr/>
        </p:nvSpPr>
        <p:spPr>
          <a:xfrm>
            <a:off x="1698075" y="958387"/>
            <a:ext cx="8515773" cy="2351798"/>
          </a:xfrm>
          <a:prstGeom prst="rect">
            <a:avLst/>
          </a:prstGeom>
          <a:noFill/>
        </p:spPr>
        <p:txBody>
          <a:bodyPr wrap="square">
            <a:spAutoFit/>
          </a:bodyPr>
          <a:lstStyle/>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Bagging with Decision Trees as base models.</a:t>
            </a:r>
            <a:endParaRPr lang="en-US" sz="2000" dirty="0">
              <a:latin typeface="Calibri" panose="020F0502020204030204" pitchFamily="34" charset="0"/>
            </a:endParaRPr>
          </a:p>
          <a:p>
            <a:pPr marL="342900" indent="-342900" algn="just" fontAlgn="base">
              <a:lnSpc>
                <a:spcPct val="150000"/>
              </a:lnSpc>
              <a:spcBef>
                <a:spcPts val="300"/>
              </a:spcBef>
              <a:buFont typeface="Wingdings" panose="05000000000000000000" pitchFamily="2" charset="2"/>
              <a:buChar char="q"/>
            </a:pPr>
            <a:r>
              <a:rPr lang="en-US" sz="1800" dirty="0">
                <a:effectLst/>
                <a:latin typeface="Calibri" panose="020F0502020204030204" pitchFamily="34" charset="0"/>
              </a:rPr>
              <a:t>Random (Bagging -Random sampling of data) Forest (Collection of trees)</a:t>
            </a:r>
          </a:p>
          <a:p>
            <a:pPr marL="342900" indent="-342900" algn="just" fontAlgn="base">
              <a:lnSpc>
                <a:spcPct val="150000"/>
              </a:lnSpc>
              <a:spcBef>
                <a:spcPts val="300"/>
              </a:spcBef>
              <a:buFont typeface="Wingdings" panose="05000000000000000000" pitchFamily="2" charset="2"/>
              <a:buChar char="q"/>
            </a:pPr>
            <a:r>
              <a:rPr lang="en-US" sz="1800" dirty="0">
                <a:effectLst/>
                <a:latin typeface="Calibri" panose="020F0502020204030204" pitchFamily="34" charset="0"/>
              </a:rPr>
              <a:t>Random Forest allows for more diversity. Extra randomness .</a:t>
            </a:r>
          </a:p>
          <a:p>
            <a:pPr algn="just" fontAlgn="base">
              <a:lnSpc>
                <a:spcPct val="150000"/>
              </a:lnSpc>
              <a:spcBef>
                <a:spcPts val="300"/>
              </a:spcBef>
            </a:pPr>
            <a:endParaRPr lang="en-US" sz="1800" dirty="0">
              <a:effectLst/>
              <a:latin typeface="Calibri" panose="020F0502020204030204" pitchFamily="34" charset="0"/>
            </a:endParaRPr>
          </a:p>
          <a:p>
            <a:pPr algn="just"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14" name="TextBox 13">
            <a:extLst>
              <a:ext uri="{FF2B5EF4-FFF2-40B4-BE49-F238E27FC236}">
                <a16:creationId xmlns:a16="http://schemas.microsoft.com/office/drawing/2014/main" xmlns="" id="{23BBEC64-ACBA-5732-A39F-34624E4DBD88}"/>
              </a:ext>
            </a:extLst>
          </p:cNvPr>
          <p:cNvSpPr txBox="1"/>
          <p:nvPr/>
        </p:nvSpPr>
        <p:spPr>
          <a:xfrm>
            <a:off x="1698075" y="2948297"/>
            <a:ext cx="8881872" cy="2862322"/>
          </a:xfrm>
          <a:prstGeom prst="rect">
            <a:avLst/>
          </a:prstGeom>
          <a:noFill/>
        </p:spPr>
        <p:txBody>
          <a:bodyPr wrap="square">
            <a:spAutoFit/>
          </a:bodyPr>
          <a:lstStyle/>
          <a:p>
            <a:pPr marL="285750" indent="-285750">
              <a:buFont typeface="Wingdings" panose="05000000000000000000" pitchFamily="2" charset="2"/>
              <a:buChar char="q"/>
            </a:pPr>
            <a:r>
              <a:rPr lang="en-US" dirty="0"/>
              <a:t>Step 1</a:t>
            </a:r>
          </a:p>
          <a:p>
            <a:pPr marL="742950" lvl="1" indent="-285750">
              <a:buFont typeface="Wingdings" panose="05000000000000000000" pitchFamily="2" charset="2"/>
              <a:buChar char="§"/>
            </a:pPr>
            <a:r>
              <a:rPr lang="en-US" dirty="0"/>
              <a:t>Base estimators -&gt; Decision Tree</a:t>
            </a:r>
          </a:p>
          <a:p>
            <a:pPr marL="285750" indent="-285750">
              <a:buFont typeface="Wingdings" panose="05000000000000000000" pitchFamily="2" charset="2"/>
              <a:buChar char="q"/>
            </a:pPr>
            <a:r>
              <a:rPr lang="en-US" dirty="0"/>
              <a:t>Step 2</a:t>
            </a:r>
          </a:p>
          <a:p>
            <a:pPr marL="742950" lvl="1" indent="-285750">
              <a:buFont typeface="Wingdings" panose="05000000000000000000" pitchFamily="2" charset="2"/>
              <a:buChar char="§"/>
            </a:pPr>
            <a:r>
              <a:rPr lang="en-US" dirty="0"/>
              <a:t>Sampling</a:t>
            </a:r>
          </a:p>
          <a:p>
            <a:r>
              <a:rPr lang="en-US" dirty="0"/>
              <a:t>	• Row Sampling ( Randomly select rows with replacement for each tree) or</a:t>
            </a:r>
          </a:p>
          <a:p>
            <a:r>
              <a:rPr lang="en-US" dirty="0"/>
              <a:t>	• Feature Sampling (At each node randomly select some attributes or features 	as candidates and then split by the best attribute among them)</a:t>
            </a:r>
          </a:p>
          <a:p>
            <a:pPr marL="285750" indent="-285750">
              <a:buFont typeface="Wingdings" panose="05000000000000000000" pitchFamily="2" charset="2"/>
              <a:buChar char="q"/>
            </a:pPr>
            <a:r>
              <a:rPr lang="en-US" dirty="0"/>
              <a:t>Step 3</a:t>
            </a:r>
          </a:p>
          <a:p>
            <a:pPr marL="742950" lvl="1" indent="-285750">
              <a:buFont typeface="Wingdings" panose="05000000000000000000" pitchFamily="2" charset="2"/>
              <a:buChar char="§"/>
            </a:pPr>
            <a:r>
              <a:rPr lang="en-US" dirty="0"/>
              <a:t>Classification</a:t>
            </a:r>
          </a:p>
          <a:p>
            <a:pPr marL="1200150" lvl="2" indent="-285750">
              <a:buFont typeface="Arial" panose="020B0604020202020204" pitchFamily="34" charset="0"/>
              <a:buChar char="•"/>
            </a:pPr>
            <a:r>
              <a:rPr lang="en-US" dirty="0"/>
              <a:t>Majority voting</a:t>
            </a:r>
          </a:p>
        </p:txBody>
      </p:sp>
    </p:spTree>
    <p:extLst>
      <p:ext uri="{BB962C8B-B14F-4D97-AF65-F5344CB8AC3E}">
        <p14:creationId xmlns:p14="http://schemas.microsoft.com/office/powerpoint/2010/main" val="39873069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Bagging vs Random Forest</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24</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9210717" cy="805220"/>
          </a:xfrm>
          <a:prstGeom prst="rect">
            <a:avLst/>
          </a:prstGeom>
          <a:noFill/>
        </p:spPr>
        <p:txBody>
          <a:bodyPr wrap="square">
            <a:spAutoFit/>
          </a:bodyPr>
          <a:lstStyle/>
          <a:p>
            <a:pPr marR="0">
              <a:spcBef>
                <a:spcPts val="0"/>
              </a:spcBef>
              <a:spcAft>
                <a:spcPts val="0"/>
              </a:spcAft>
            </a:pPr>
            <a:endParaRPr lang="en-US" sz="1800" dirty="0">
              <a:effectLst/>
              <a:latin typeface="Calibri" panose="020F0502020204030204" pitchFamily="34" charset="0"/>
            </a:endParaRPr>
          </a:p>
          <a:p>
            <a:pPr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3" name="TextBox 2">
            <a:extLst>
              <a:ext uri="{FF2B5EF4-FFF2-40B4-BE49-F238E27FC236}">
                <a16:creationId xmlns:a16="http://schemas.microsoft.com/office/drawing/2014/main" xmlns="" id="{7DF7DD2A-632D-12D0-2C25-966CD6856BDF}"/>
              </a:ext>
            </a:extLst>
          </p:cNvPr>
          <p:cNvSpPr txBox="1"/>
          <p:nvPr/>
        </p:nvSpPr>
        <p:spPr>
          <a:xfrm>
            <a:off x="1698075" y="958387"/>
            <a:ext cx="8515773" cy="4290790"/>
          </a:xfrm>
          <a:prstGeom prst="rect">
            <a:avLst/>
          </a:prstGeom>
          <a:noFill/>
        </p:spPr>
        <p:txBody>
          <a:bodyPr wrap="square">
            <a:spAutoFit/>
          </a:bodyPr>
          <a:lstStyle/>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In bagging . Base estimators could be DT, SVM, KNN etc. In RF, base model can only be Decision Tree.</a:t>
            </a:r>
          </a:p>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The way of feature sampling is different for both of them. In bagging , Feature sampling is done in tree level. For each tree random selection of attributes is done.</a:t>
            </a:r>
          </a:p>
          <a:p>
            <a:pPr marL="342900" indent="-342900" algn="just" fontAlgn="base">
              <a:lnSpc>
                <a:spcPct val="150000"/>
              </a:lnSpc>
              <a:spcBef>
                <a:spcPts val="300"/>
              </a:spcBef>
              <a:buFont typeface="Wingdings" panose="05000000000000000000" pitchFamily="2" charset="2"/>
              <a:buChar char="q"/>
            </a:pPr>
            <a:r>
              <a:rPr lang="en-US" sz="2000" dirty="0">
                <a:effectLst/>
                <a:latin typeface="Calibri" panose="020F0502020204030204" pitchFamily="34" charset="0"/>
              </a:rPr>
              <a:t>In RF, Feature sampling done in node level. At each node before splitting column sampling is done.</a:t>
            </a:r>
          </a:p>
          <a:p>
            <a:pPr algn="just" fontAlgn="base">
              <a:lnSpc>
                <a:spcPct val="150000"/>
              </a:lnSpc>
              <a:spcBef>
                <a:spcPts val="300"/>
              </a:spcBef>
            </a:pPr>
            <a:endParaRPr lang="en-US" sz="1800" dirty="0">
              <a:effectLst/>
              <a:latin typeface="Calibri" panose="020F0502020204030204" pitchFamily="34" charset="0"/>
            </a:endParaRPr>
          </a:p>
          <a:p>
            <a:pPr algn="just"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pic>
        <p:nvPicPr>
          <p:cNvPr id="10" name="Picture 9">
            <a:extLst>
              <a:ext uri="{FF2B5EF4-FFF2-40B4-BE49-F238E27FC236}">
                <a16:creationId xmlns:a16="http://schemas.microsoft.com/office/drawing/2014/main" xmlns="" id="{957AFBA8-6999-FDAA-6449-E2A5E6BB2CF5}"/>
              </a:ext>
            </a:extLst>
          </p:cNvPr>
          <p:cNvPicPr>
            <a:picLocks noChangeAspect="1"/>
          </p:cNvPicPr>
          <p:nvPr/>
        </p:nvPicPr>
        <p:blipFill>
          <a:blip r:embed="rId4"/>
          <a:stretch>
            <a:fillRect/>
          </a:stretch>
        </p:blipFill>
        <p:spPr>
          <a:xfrm>
            <a:off x="2089513" y="3912576"/>
            <a:ext cx="7694568" cy="2570505"/>
          </a:xfrm>
          <a:prstGeom prst="rect">
            <a:avLst/>
          </a:prstGeom>
        </p:spPr>
      </p:pic>
    </p:spTree>
    <p:extLst>
      <p:ext uri="{BB962C8B-B14F-4D97-AF65-F5344CB8AC3E}">
        <p14:creationId xmlns:p14="http://schemas.microsoft.com/office/powerpoint/2010/main" val="5266269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Random Forest</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25</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9210717" cy="805220"/>
          </a:xfrm>
          <a:prstGeom prst="rect">
            <a:avLst/>
          </a:prstGeom>
          <a:noFill/>
        </p:spPr>
        <p:txBody>
          <a:bodyPr wrap="square">
            <a:spAutoFit/>
          </a:bodyPr>
          <a:lstStyle/>
          <a:p>
            <a:pPr marR="0">
              <a:spcBef>
                <a:spcPts val="0"/>
              </a:spcBef>
              <a:spcAft>
                <a:spcPts val="0"/>
              </a:spcAft>
            </a:pPr>
            <a:endParaRPr lang="en-US" sz="1800" dirty="0">
              <a:effectLst/>
              <a:latin typeface="Calibri" panose="020F0502020204030204" pitchFamily="34" charset="0"/>
            </a:endParaRPr>
          </a:p>
          <a:p>
            <a:pPr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3" name="TextBox 2">
            <a:extLst>
              <a:ext uri="{FF2B5EF4-FFF2-40B4-BE49-F238E27FC236}">
                <a16:creationId xmlns:a16="http://schemas.microsoft.com/office/drawing/2014/main" xmlns="" id="{7DF7DD2A-632D-12D0-2C25-966CD6856BDF}"/>
              </a:ext>
            </a:extLst>
          </p:cNvPr>
          <p:cNvSpPr txBox="1"/>
          <p:nvPr/>
        </p:nvSpPr>
        <p:spPr>
          <a:xfrm>
            <a:off x="1369230" y="1226489"/>
            <a:ext cx="9234423" cy="4812215"/>
          </a:xfrm>
          <a:prstGeom prst="rect">
            <a:avLst/>
          </a:prstGeom>
          <a:noFill/>
        </p:spPr>
        <p:txBody>
          <a:bodyPr wrap="square">
            <a:spAutoFit/>
          </a:bodyPr>
          <a:lstStyle/>
          <a:p>
            <a:pPr marL="342900" indent="-342900" algn="just" fontAlgn="base">
              <a:lnSpc>
                <a:spcPct val="150000"/>
              </a:lnSpc>
              <a:spcBef>
                <a:spcPts val="300"/>
              </a:spcBef>
              <a:buFont typeface="Wingdings" panose="05000000000000000000" pitchFamily="2" charset="2"/>
              <a:buChar char="q"/>
            </a:pPr>
            <a:r>
              <a:rPr lang="en-US" dirty="0">
                <a:effectLst/>
                <a:latin typeface="Calibri" panose="020F0502020204030204" pitchFamily="34" charset="0"/>
              </a:rPr>
              <a:t>Two Methods to construct Random Forest:</a:t>
            </a:r>
          </a:p>
          <a:p>
            <a:pPr marL="800100" lvl="1" indent="-342900" algn="just" fontAlgn="base">
              <a:lnSpc>
                <a:spcPct val="150000"/>
              </a:lnSpc>
              <a:spcBef>
                <a:spcPts val="300"/>
              </a:spcBef>
              <a:buFont typeface="Wingdings" panose="05000000000000000000" pitchFamily="2" charset="2"/>
              <a:buChar char="q"/>
            </a:pPr>
            <a:r>
              <a:rPr lang="en-US" u="sng" dirty="0">
                <a:effectLst/>
                <a:latin typeface="Calibri" panose="020F0502020204030204" pitchFamily="34" charset="0"/>
              </a:rPr>
              <a:t>Forest-RI (random input selection</a:t>
            </a:r>
            <a:r>
              <a:rPr lang="en-US" dirty="0">
                <a:effectLst/>
                <a:latin typeface="Calibri" panose="020F0502020204030204" pitchFamily="34" charset="0"/>
              </a:rPr>
              <a:t>):  Randomly select, at each node, F attributes as candidates for the </a:t>
            </a:r>
            <a:r>
              <a:rPr lang="en-US" dirty="0" smtClean="0">
                <a:effectLst/>
                <a:latin typeface="Calibri" panose="020F0502020204030204" pitchFamily="34" charset="0"/>
              </a:rPr>
              <a:t>split of data </a:t>
            </a:r>
            <a:r>
              <a:rPr lang="en-US" dirty="0">
                <a:effectLst/>
                <a:latin typeface="Calibri" panose="020F0502020204030204" pitchFamily="34" charset="0"/>
              </a:rPr>
              <a:t>at the node. </a:t>
            </a:r>
          </a:p>
          <a:p>
            <a:pPr marL="800100" lvl="1" indent="-342900" algn="just" fontAlgn="base">
              <a:lnSpc>
                <a:spcPct val="150000"/>
              </a:lnSpc>
              <a:spcBef>
                <a:spcPts val="300"/>
              </a:spcBef>
              <a:buFont typeface="Wingdings" panose="05000000000000000000" pitchFamily="2" charset="2"/>
              <a:buChar char="q"/>
            </a:pPr>
            <a:r>
              <a:rPr lang="en-US" u="sng" dirty="0">
                <a:effectLst/>
                <a:latin typeface="Calibri" panose="020F0502020204030204" pitchFamily="34" charset="0"/>
              </a:rPr>
              <a:t>Forest-RC (random linear combinations):  </a:t>
            </a:r>
            <a:r>
              <a:rPr lang="en-US" dirty="0">
                <a:effectLst/>
                <a:latin typeface="Calibri" panose="020F0502020204030204" pitchFamily="34" charset="0"/>
              </a:rPr>
              <a:t>Creates new attributes (or features) that are a linear combination of the existing attributes (reduces the correlation between individual classifiers) .For example, if the original features are x1,x2,…,</a:t>
            </a:r>
            <a:r>
              <a:rPr lang="en-US" dirty="0" err="1">
                <a:effectLst/>
                <a:latin typeface="Calibri" panose="020F0502020204030204" pitchFamily="34" charset="0"/>
              </a:rPr>
              <a:t>xN</a:t>
            </a:r>
            <a:r>
              <a:rPr lang="en-US" dirty="0">
                <a:effectLst/>
                <a:latin typeface="Calibri" panose="020F0502020204030204" pitchFamily="34" charset="0"/>
              </a:rPr>
              <a:t>, a new feature might be created as: </a:t>
            </a:r>
          </a:p>
          <a:p>
            <a:pPr algn="just" fontAlgn="base">
              <a:lnSpc>
                <a:spcPct val="150000"/>
              </a:lnSpc>
              <a:spcBef>
                <a:spcPts val="300"/>
              </a:spcBef>
            </a:pPr>
            <a:r>
              <a:rPr lang="en-US" dirty="0">
                <a:effectLst/>
                <a:latin typeface="Calibri" panose="020F0502020204030204" pitchFamily="34" charset="0"/>
              </a:rPr>
              <a:t>                z=α1x1 + α2x2 +⋯+ α</a:t>
            </a:r>
            <a:r>
              <a:rPr lang="en-US" dirty="0" err="1">
                <a:effectLst/>
                <a:latin typeface="Calibri" panose="020F0502020204030204" pitchFamily="34" charset="0"/>
              </a:rPr>
              <a:t>NxN</a:t>
            </a:r>
            <a:endParaRPr lang="en-US" dirty="0">
              <a:effectLst/>
              <a:latin typeface="Calibri" panose="020F0502020204030204" pitchFamily="34" charset="0"/>
            </a:endParaRPr>
          </a:p>
          <a:p>
            <a:pPr algn="just" fontAlgn="base">
              <a:lnSpc>
                <a:spcPct val="150000"/>
              </a:lnSpc>
              <a:spcBef>
                <a:spcPts val="300"/>
              </a:spcBef>
            </a:pPr>
            <a:r>
              <a:rPr lang="en-US" dirty="0">
                <a:effectLst/>
                <a:latin typeface="Calibri" panose="020F0502020204030204" pitchFamily="34" charset="0"/>
              </a:rPr>
              <a:t>                Here, α1, α2, …, αN are randomly chosen coefficients. A subset of these new features                       	(random linear combinations) is selected at each node, similar to the Forest-RI method</a:t>
            </a:r>
          </a:p>
          <a:p>
            <a:pPr algn="just" rtl="0" fontAlgn="base">
              <a:lnSpc>
                <a:spcPct val="150000"/>
              </a:lnSpc>
              <a:spcBef>
                <a:spcPts val="300"/>
              </a:spcBef>
              <a:spcAft>
                <a:spcPts val="0"/>
              </a:spcAft>
            </a:pPr>
            <a:endParaRPr lang="en-US" b="0" i="0" u="none" strike="noStrike" dirty="0">
              <a:solidFill>
                <a:srgbClr val="0000CC"/>
              </a:solidFill>
              <a:effectLst/>
              <a:latin typeface="Noto Sans Symbols"/>
            </a:endParaRPr>
          </a:p>
        </p:txBody>
      </p:sp>
    </p:spTree>
    <p:extLst>
      <p:ext uri="{BB962C8B-B14F-4D97-AF65-F5344CB8AC3E}">
        <p14:creationId xmlns:p14="http://schemas.microsoft.com/office/powerpoint/2010/main" val="1054789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Visualization </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26</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537309" y="778959"/>
            <a:ext cx="10161693" cy="3011081"/>
          </a:xfrm>
          <a:prstGeom prst="rect">
            <a:avLst/>
          </a:prstGeom>
        </p:spPr>
        <p:txBody>
          <a:bodyPr vert="horz" wrap="square" lIns="0" tIns="231140" rIns="0" bIns="0" rtlCol="0">
            <a:spAutoFit/>
          </a:bodyPr>
          <a:lstStyle/>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marL="0" indent="0" rtl="0" fontAlgn="ctr">
              <a:spcBef>
                <a:spcPts val="0"/>
              </a:spcBef>
              <a:spcAft>
                <a:spcPts val="0"/>
              </a:spcAft>
              <a:buNone/>
            </a:pPr>
            <a:endParaRPr lang="en-US" sz="2000" dirty="0">
              <a:latin typeface="Calibri" panose="020F0502020204030204" pitchFamily="34" charset="0"/>
            </a:endParaRPr>
          </a:p>
          <a:p>
            <a:pPr rtl="0" fontAlgn="ctr">
              <a:spcBef>
                <a:spcPts val="0"/>
              </a:spcBef>
              <a:spcAft>
                <a:spcPts val="0"/>
              </a:spcAft>
              <a:buFont typeface="Wingdings" panose="05000000000000000000" pitchFamily="2" charset="2"/>
              <a:buChar char="q"/>
            </a:pPr>
            <a:endParaRPr lang="en-US" sz="2000" dirty="0">
              <a:effectLst/>
              <a:latin typeface="Calibri" panose="020F0502020204030204" pitchFamily="34" charset="0"/>
            </a:endParaRPr>
          </a:p>
        </p:txBody>
      </p:sp>
      <p:sp>
        <p:nvSpPr>
          <p:cNvPr id="9" name="TextBox 8">
            <a:extLst>
              <a:ext uri="{FF2B5EF4-FFF2-40B4-BE49-F238E27FC236}">
                <a16:creationId xmlns:a16="http://schemas.microsoft.com/office/drawing/2014/main" xmlns="" id="{61230181-6B30-FF75-3445-7C3D9C50CF2D}"/>
              </a:ext>
            </a:extLst>
          </p:cNvPr>
          <p:cNvSpPr txBox="1"/>
          <p:nvPr/>
        </p:nvSpPr>
        <p:spPr>
          <a:xfrm>
            <a:off x="1588347" y="901495"/>
            <a:ext cx="9210717" cy="805220"/>
          </a:xfrm>
          <a:prstGeom prst="rect">
            <a:avLst/>
          </a:prstGeom>
          <a:noFill/>
        </p:spPr>
        <p:txBody>
          <a:bodyPr wrap="square">
            <a:spAutoFit/>
          </a:bodyPr>
          <a:lstStyle/>
          <a:p>
            <a:pPr marR="0">
              <a:spcBef>
                <a:spcPts val="0"/>
              </a:spcBef>
              <a:spcAft>
                <a:spcPts val="0"/>
              </a:spcAft>
            </a:pPr>
            <a:endParaRPr lang="en-US" sz="1800" dirty="0">
              <a:effectLst/>
              <a:latin typeface="Calibri" panose="020F0502020204030204" pitchFamily="34" charset="0"/>
            </a:endParaRPr>
          </a:p>
          <a:p>
            <a:pPr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
        <p:nvSpPr>
          <p:cNvPr id="3" name="TextBox 2">
            <a:extLst>
              <a:ext uri="{FF2B5EF4-FFF2-40B4-BE49-F238E27FC236}">
                <a16:creationId xmlns:a16="http://schemas.microsoft.com/office/drawing/2014/main" xmlns="" id="{7DF7DD2A-632D-12D0-2C25-966CD6856BDF}"/>
              </a:ext>
            </a:extLst>
          </p:cNvPr>
          <p:cNvSpPr txBox="1"/>
          <p:nvPr/>
        </p:nvSpPr>
        <p:spPr>
          <a:xfrm>
            <a:off x="1392936" y="1029864"/>
            <a:ext cx="8820912" cy="2882712"/>
          </a:xfrm>
          <a:prstGeom prst="rect">
            <a:avLst/>
          </a:prstGeom>
          <a:noFill/>
        </p:spPr>
        <p:txBody>
          <a:bodyPr wrap="square">
            <a:spAutoFit/>
          </a:bodyPr>
          <a:lstStyle/>
          <a:p>
            <a:pPr marL="742950" lvl="1" indent="-285750">
              <a:lnSpc>
                <a:spcPct val="150000"/>
              </a:lnSpc>
              <a:buFont typeface="Wingdings" panose="05000000000000000000" pitchFamily="2" charset="2"/>
              <a:buChar char="§"/>
            </a:pPr>
            <a:r>
              <a:rPr lang="en-US" dirty="0">
                <a:effectLst/>
                <a:latin typeface="Calibri" panose="020F0502020204030204" pitchFamily="34" charset="0"/>
                <a:hlinkClick r:id="rId3"/>
              </a:rPr>
              <a:t>https://bootstrap-aggregation-bagging.streamlit.app/</a:t>
            </a:r>
            <a:endParaRPr lang="en-US" dirty="0">
              <a:effectLst/>
              <a:latin typeface="Calibri" panose="020F0502020204030204" pitchFamily="34" charset="0"/>
            </a:endParaRPr>
          </a:p>
          <a:p>
            <a:pPr marL="742950" lvl="1" indent="-285750">
              <a:lnSpc>
                <a:spcPct val="150000"/>
              </a:lnSpc>
              <a:buFont typeface="Wingdings" panose="05000000000000000000" pitchFamily="2" charset="2"/>
              <a:buChar char="§"/>
            </a:pPr>
            <a:r>
              <a:rPr lang="en-US" dirty="0">
                <a:effectLst/>
                <a:latin typeface="Calibri" panose="020F0502020204030204" pitchFamily="34" charset="0"/>
                <a:hlinkClick r:id="rId4"/>
              </a:rPr>
              <a:t>https://votingclassifier.streamlit.app/</a:t>
            </a:r>
            <a:endParaRPr lang="en-US" dirty="0">
              <a:effectLst/>
              <a:latin typeface="Calibri" panose="020F0502020204030204" pitchFamily="34" charset="0"/>
            </a:endParaRPr>
          </a:p>
          <a:p>
            <a:pPr marL="742950" lvl="1" indent="-285750">
              <a:lnSpc>
                <a:spcPct val="150000"/>
              </a:lnSpc>
              <a:buFont typeface="Wingdings" panose="05000000000000000000" pitchFamily="2" charset="2"/>
              <a:buChar char="§"/>
            </a:pPr>
            <a:r>
              <a:rPr lang="en-US" dirty="0">
                <a:effectLst/>
                <a:latin typeface="Calibri" panose="020F0502020204030204" pitchFamily="34" charset="0"/>
                <a:hlinkClick r:id="rId5"/>
              </a:rPr>
              <a:t>https://github.com/campusx-official/bagging-ensemble/blob/main/bagging-learning-tool.ipynb</a:t>
            </a:r>
            <a:endParaRPr lang="en-US" dirty="0">
              <a:latin typeface="Calibri" panose="020F0502020204030204" pitchFamily="34" charset="0"/>
            </a:endParaRPr>
          </a:p>
          <a:p>
            <a:pPr lvl="1">
              <a:lnSpc>
                <a:spcPct val="150000"/>
              </a:lnSpc>
            </a:pPr>
            <a:endParaRPr lang="en-US" dirty="0">
              <a:effectLst/>
              <a:latin typeface="Calibri" panose="020F0502020204030204" pitchFamily="34" charset="0"/>
            </a:endParaRPr>
          </a:p>
          <a:p>
            <a:pPr marR="0" algn="just">
              <a:spcBef>
                <a:spcPts val="0"/>
              </a:spcBef>
              <a:spcAft>
                <a:spcPts val="0"/>
              </a:spcAft>
            </a:pPr>
            <a:endParaRPr lang="en-US" sz="1800" dirty="0">
              <a:effectLst/>
              <a:latin typeface="Calibri" panose="020F0502020204030204" pitchFamily="34" charset="0"/>
            </a:endParaRPr>
          </a:p>
          <a:p>
            <a:pPr algn="just" rtl="0" fontAlgn="base">
              <a:lnSpc>
                <a:spcPct val="150000"/>
              </a:lnSpc>
              <a:spcBef>
                <a:spcPts val="300"/>
              </a:spcBef>
              <a:spcAft>
                <a:spcPts val="0"/>
              </a:spcAft>
            </a:pPr>
            <a:endParaRPr lang="en-US" sz="1920" b="0" i="0" u="none" strike="noStrike" dirty="0">
              <a:solidFill>
                <a:srgbClr val="0000CC"/>
              </a:solidFill>
              <a:effectLst/>
              <a:latin typeface="Noto Sans Symbols"/>
            </a:endParaRPr>
          </a:p>
        </p:txBody>
      </p:sp>
    </p:spTree>
    <p:extLst>
      <p:ext uri="{BB962C8B-B14F-4D97-AF65-F5344CB8AC3E}">
        <p14:creationId xmlns:p14="http://schemas.microsoft.com/office/powerpoint/2010/main" val="24603730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762</TotalTime>
  <Words>4445</Words>
  <Application>Microsoft Office PowerPoint</Application>
  <PresentationFormat>Widescreen</PresentationFormat>
  <Paragraphs>576</Paragraphs>
  <Slides>26</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Aptos</vt:lpstr>
      <vt:lpstr>Aptos Display</vt:lpstr>
      <vt:lpstr>Arial</vt:lpstr>
      <vt:lpstr>Arial MT</vt:lpstr>
      <vt:lpstr>Calibri</vt:lpstr>
      <vt:lpstr>Constantia</vt:lpstr>
      <vt:lpstr>Noto Sans Symbols</vt:lpstr>
      <vt:lpstr>Segoe UI Symbol</vt:lpstr>
      <vt:lpstr>Wingdings</vt:lpstr>
      <vt:lpstr>Office Theme</vt:lpstr>
      <vt:lpstr>PowerPoint Presentation</vt:lpstr>
      <vt:lpstr>Ensemble Methods</vt:lpstr>
      <vt:lpstr>What is Ensemble?</vt:lpstr>
      <vt:lpstr>Analogy</vt:lpstr>
      <vt:lpstr>Requirements to generate an improved model</vt:lpstr>
      <vt:lpstr>Requirements to generate an improved model</vt:lpstr>
      <vt:lpstr>Requirements to generate an improved model</vt:lpstr>
      <vt:lpstr>Requirements to generate an improved model</vt:lpstr>
      <vt:lpstr>Requirements to generate an improved model</vt:lpstr>
      <vt:lpstr>Ensemble Learning</vt:lpstr>
      <vt:lpstr>Types of Ensemble Learning</vt:lpstr>
      <vt:lpstr>Voting Ensemble</vt:lpstr>
      <vt:lpstr>Why Voting Works?</vt:lpstr>
      <vt:lpstr>Hard Voting vs Soft Voting</vt:lpstr>
      <vt:lpstr>Bagging (Bootstrap Algorithm)</vt:lpstr>
      <vt:lpstr>Bagging (Bootstrap Algorithm)</vt:lpstr>
      <vt:lpstr>Bias-Variance tradeoff</vt:lpstr>
      <vt:lpstr>Bias-Variance tradeoff</vt:lpstr>
      <vt:lpstr>Bias-Variance tradeoff</vt:lpstr>
      <vt:lpstr>Why Bagging?</vt:lpstr>
      <vt:lpstr>Types of Bagging</vt:lpstr>
      <vt:lpstr>Random Forest</vt:lpstr>
      <vt:lpstr>Random Forest</vt:lpstr>
      <vt:lpstr>Bagging vs Random Forest</vt:lpstr>
      <vt:lpstr>Random Forest</vt:lpstr>
      <vt:lpstr>Visualization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social</dc:creator>
  <cp:lastModifiedBy>Microsoft account</cp:lastModifiedBy>
  <cp:revision>25</cp:revision>
  <dcterms:created xsi:type="dcterms:W3CDTF">2024-09-02T09:58:42Z</dcterms:created>
  <dcterms:modified xsi:type="dcterms:W3CDTF">2024-10-23T01:16:22Z</dcterms:modified>
</cp:coreProperties>
</file>