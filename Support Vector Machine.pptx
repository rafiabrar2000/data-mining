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9" r:id="rId6"/>
    <p:sldId id="304" r:id="rId7"/>
    <p:sldId id="305" r:id="rId8"/>
    <p:sldId id="306" r:id="rId9"/>
    <p:sldId id="307" r:id="rId10"/>
    <p:sldId id="308" r:id="rId11"/>
    <p:sldId id="309" r:id="rId12"/>
    <p:sldId id="310" r:id="rId13"/>
    <p:sldId id="311" r:id="rId14"/>
    <p:sldId id="312" r:id="rId15"/>
    <p:sldId id="313" r:id="rId16"/>
    <p:sldId id="314" r:id="rId17"/>
    <p:sldId id="317" r:id="rId18"/>
    <p:sldId id="318" r:id="rId19"/>
    <p:sldId id="319" r:id="rId20"/>
    <p:sldId id="320" r:id="rId21"/>
    <p:sldId id="321" r:id="rId22"/>
    <p:sldId id="322" r:id="rId23"/>
    <p:sldId id="328" r:id="rId24"/>
    <p:sldId id="323" r:id="rId25"/>
    <p:sldId id="326" r:id="rId26"/>
    <p:sldId id="327" r:id="rId27"/>
    <p:sldId id="32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5E721B-8076-494D-A121-1E114B63E25F}" v="49" dt="2024-09-13T07:33:21.2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67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35" Type="http://schemas.microsoft.com/office/2015/10/relationships/revisionInfo" Target="revisionInfo.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ABEBF6-CCEE-7133-428B-80DE60D129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E91E092-946C-E49D-20E0-7442644909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4E358307-447A-CEFA-E353-513FF41EFDCD}"/>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5" name="Footer Placeholder 4">
            <a:extLst>
              <a:ext uri="{FF2B5EF4-FFF2-40B4-BE49-F238E27FC236}">
                <a16:creationId xmlns:a16="http://schemas.microsoft.com/office/drawing/2014/main" xmlns="" id="{A5B824FA-9F98-CEF4-381E-E8F712BD40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CD019C4-7FDC-8B08-2D31-CC901BD11A2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473735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25F28F-CAE1-4942-017F-81800F6EE7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A5FBB54-F16F-5561-6C3D-FEDDBE6933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0F5803F-61FF-91BD-3FFF-2B3BC4615E76}"/>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5" name="Footer Placeholder 4">
            <a:extLst>
              <a:ext uri="{FF2B5EF4-FFF2-40B4-BE49-F238E27FC236}">
                <a16:creationId xmlns:a16="http://schemas.microsoft.com/office/drawing/2014/main" xmlns="" id="{C26F40F8-75CC-1790-8425-132EF9040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926E42D-BB13-2D20-D5A4-5E71F7B91C12}"/>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056151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C2B655-5ED4-B4EA-55A6-249452A29F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C8DC6077-20C9-B22A-526E-06A0C52CA4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A5AA3F8-0FB5-8DFE-572D-410F31E127C8}"/>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5" name="Footer Placeholder 4">
            <a:extLst>
              <a:ext uri="{FF2B5EF4-FFF2-40B4-BE49-F238E27FC236}">
                <a16:creationId xmlns:a16="http://schemas.microsoft.com/office/drawing/2014/main" xmlns="" id="{83F4C6C7-4905-E427-C56B-56E41C20E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EF53032-3025-F7DE-CA90-CD95E37A1B4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19235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737A96-45F2-8CDB-87C6-6667B385A9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B528CBD-72D7-29B6-8F16-C8F25FCDA2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BBE6CBB0-46EA-6C3E-B546-6904F005D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C1D104DB-9ACB-EE08-2FA9-3ED8BD8713E2}"/>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6" name="Footer Placeholder 5">
            <a:extLst>
              <a:ext uri="{FF2B5EF4-FFF2-40B4-BE49-F238E27FC236}">
                <a16:creationId xmlns:a16="http://schemas.microsoft.com/office/drawing/2014/main" xmlns="" id="{BD98A4A4-3604-6AC1-3713-40277F9B98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A62B7A8A-53FE-99AC-842D-CA2BED4F2690}"/>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27628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F76CF4-A831-B43C-0807-833CCDE8B1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53D7DCA9-7681-6CE6-2B7D-C46C0E7D9B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FB003DE-375A-7C42-5038-10676D52F0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52DDA9F-DC89-1048-F8FD-E5CC7D4870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F7A542D-9CA1-0A4E-0B70-2BC43CAA38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68B61D1-7D13-1095-3075-853B9871661D}"/>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8" name="Footer Placeholder 7">
            <a:extLst>
              <a:ext uri="{FF2B5EF4-FFF2-40B4-BE49-F238E27FC236}">
                <a16:creationId xmlns:a16="http://schemas.microsoft.com/office/drawing/2014/main" xmlns="" id="{8F572D27-C062-5112-17B4-0CF9ED89ED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2635538B-44CA-9812-985B-B6AFABC8700C}"/>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78556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97DE51-1C7C-0620-60CD-52929EC9C3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A2C7314A-B9FE-E28F-7A28-84A015367D79}"/>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4" name="Footer Placeholder 3">
            <a:extLst>
              <a:ext uri="{FF2B5EF4-FFF2-40B4-BE49-F238E27FC236}">
                <a16:creationId xmlns:a16="http://schemas.microsoft.com/office/drawing/2014/main" xmlns="" id="{388BEF77-B252-E444-EA97-6977FB1307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5ADA495B-1579-C991-ACAF-2BD4A7E129E0}"/>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422721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1D7569F-475D-967E-E517-392767F8C008}"/>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3" name="Footer Placeholder 2">
            <a:extLst>
              <a:ext uri="{FF2B5EF4-FFF2-40B4-BE49-F238E27FC236}">
                <a16:creationId xmlns:a16="http://schemas.microsoft.com/office/drawing/2014/main" xmlns="" id="{06D378F8-2972-94B2-B59F-DA8071F84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74E65EEB-88ED-3455-0B35-00DC1CDE05CB}"/>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1639983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D9A6DA-2813-D217-3535-EE3C793439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C9E565C-8A1A-8226-9E2A-2417C3FC13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B3A6288E-417A-1400-960B-461631BAE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DBFCEB7-3633-BAC3-7250-DC858BE0613F}"/>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6" name="Footer Placeholder 5">
            <a:extLst>
              <a:ext uri="{FF2B5EF4-FFF2-40B4-BE49-F238E27FC236}">
                <a16:creationId xmlns:a16="http://schemas.microsoft.com/office/drawing/2014/main" xmlns="" id="{0AED4D85-0847-A11B-3BE8-155B7EBC2C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1D63D61-3B07-B5B7-8020-45535E374A0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12577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7A47FB-6CBE-29FC-5296-DBA1091E1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CC71E7FF-89CA-6DC6-8A61-426AF695AB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CC6855ED-86AE-622A-13AF-356D5D2691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BB7A9FB-A7A2-F9F7-030E-72BBABA76DA1}"/>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6" name="Footer Placeholder 5">
            <a:extLst>
              <a:ext uri="{FF2B5EF4-FFF2-40B4-BE49-F238E27FC236}">
                <a16:creationId xmlns:a16="http://schemas.microsoft.com/office/drawing/2014/main" xmlns="" id="{20FD79EB-417A-C7E0-49B8-D7AA537614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2DBAE0C-6F37-57DE-D044-C0CFF3C83946}"/>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410825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D1877B-F9D3-F2CB-A55E-B481838A8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D8934E4B-ECAE-1B4A-BAB5-722EE7FDE9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9EA9B50-212A-EA46-41A7-1B9CB343BF9B}"/>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5" name="Footer Placeholder 4">
            <a:extLst>
              <a:ext uri="{FF2B5EF4-FFF2-40B4-BE49-F238E27FC236}">
                <a16:creationId xmlns:a16="http://schemas.microsoft.com/office/drawing/2014/main" xmlns="" id="{9A448BF4-4923-F2CD-36D2-B9CAE167FC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AC5D363-7EFB-2853-09CD-FEF53BFB8111}"/>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54379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CD4834D-66D9-1538-2F82-75BA31E274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1CDA176F-48B7-48FF-5F4A-116EE77C14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7F92448-6633-E5A8-55EF-36145AFA141D}"/>
              </a:ext>
            </a:extLst>
          </p:cNvPr>
          <p:cNvSpPr>
            <a:spLocks noGrp="1"/>
          </p:cNvSpPr>
          <p:nvPr>
            <p:ph type="dt" sz="half" idx="10"/>
          </p:nvPr>
        </p:nvSpPr>
        <p:spPr/>
        <p:txBody>
          <a:bodyPr/>
          <a:lstStyle/>
          <a:p>
            <a:fld id="{3D077775-CA2F-4835-9DDA-43E84FC2EFA9}" type="datetimeFigureOut">
              <a:rPr lang="en-US" smtClean="0"/>
              <a:t>10/15/2024</a:t>
            </a:fld>
            <a:endParaRPr lang="en-US"/>
          </a:p>
        </p:txBody>
      </p:sp>
      <p:sp>
        <p:nvSpPr>
          <p:cNvPr id="5" name="Footer Placeholder 4">
            <a:extLst>
              <a:ext uri="{FF2B5EF4-FFF2-40B4-BE49-F238E27FC236}">
                <a16:creationId xmlns:a16="http://schemas.microsoft.com/office/drawing/2014/main" xmlns="" id="{6F6190D9-75F0-C91E-3174-0F11536065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471AD56-938D-4FE4-076C-9CDBABDE72FC}"/>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853699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1C4BC2A-694C-34DE-E00D-81B366B3D9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2E0D3285-D902-9C7B-53EF-50AC7E0F0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8AFBDDF-E0C7-FB68-DCDD-30C90A21A9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077775-CA2F-4835-9DDA-43E84FC2EFA9}" type="datetimeFigureOut">
              <a:rPr lang="en-US" smtClean="0"/>
              <a:t>10/15/2024</a:t>
            </a:fld>
            <a:endParaRPr lang="en-US"/>
          </a:p>
        </p:txBody>
      </p:sp>
      <p:sp>
        <p:nvSpPr>
          <p:cNvPr id="5" name="Footer Placeholder 4">
            <a:extLst>
              <a:ext uri="{FF2B5EF4-FFF2-40B4-BE49-F238E27FC236}">
                <a16:creationId xmlns:a16="http://schemas.microsoft.com/office/drawing/2014/main" xmlns="" id="{2D0C0CF3-AB81-1083-4691-292B1D038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635AA741-B990-BA38-691D-7C945FE49A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346625-0D45-4928-83BF-654EB4A53E21}" type="slidenum">
              <a:rPr lang="en-US" smtClean="0"/>
              <a:t>‹#›</a:t>
            </a:fld>
            <a:endParaRPr lang="en-US"/>
          </a:p>
        </p:txBody>
      </p:sp>
    </p:spTree>
    <p:extLst>
      <p:ext uri="{BB962C8B-B14F-4D97-AF65-F5344CB8AC3E}">
        <p14:creationId xmlns:p14="http://schemas.microsoft.com/office/powerpoint/2010/main" val="434931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humaira@cse.uiu.ac.bd"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desmos.com/calculator/dvjo3vacyp"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desmos.com/calculator/15dbwehq9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hyperlink" Target="https://www.analyticsvidhya.com/support-vector-machine/"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analyticsvidhya.com/blog/2021/06/support-vector-machine-better-understand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58240" y="3835400"/>
            <a:ext cx="9875520" cy="0"/>
          </a:xfrm>
          <a:custGeom>
            <a:avLst/>
            <a:gdLst/>
            <a:ahLst/>
            <a:cxnLst/>
            <a:rect l="l" t="t" r="r" b="b"/>
            <a:pathLst>
              <a:path w="7406640">
                <a:moveTo>
                  <a:pt x="0" y="0"/>
                </a:moveTo>
                <a:lnTo>
                  <a:pt x="7406640" y="0"/>
                </a:lnTo>
              </a:path>
            </a:pathLst>
          </a:custGeom>
          <a:ln w="9525">
            <a:solidFill>
              <a:srgbClr val="7E7E7E"/>
            </a:solidFill>
          </a:ln>
        </p:spPr>
        <p:txBody>
          <a:bodyPr wrap="square" lIns="0" tIns="0" rIns="0" bIns="0" rtlCol="0"/>
          <a:lstStyle/>
          <a:p>
            <a:endParaRPr sz="2400"/>
          </a:p>
        </p:txBody>
      </p:sp>
      <p:pic>
        <p:nvPicPr>
          <p:cNvPr id="3" name="object 3"/>
          <p:cNvPicPr/>
          <p:nvPr/>
        </p:nvPicPr>
        <p:blipFill>
          <a:blip r:embed="rId2" cstate="print"/>
          <a:stretch>
            <a:fillRect/>
          </a:stretch>
        </p:blipFill>
        <p:spPr>
          <a:xfrm>
            <a:off x="5212079" y="616374"/>
            <a:ext cx="1626259" cy="1479973"/>
          </a:xfrm>
          <a:prstGeom prst="rect">
            <a:avLst/>
          </a:prstGeom>
        </p:spPr>
      </p:pic>
      <p:sp>
        <p:nvSpPr>
          <p:cNvPr id="4" name="object 4"/>
          <p:cNvSpPr txBox="1"/>
          <p:nvPr/>
        </p:nvSpPr>
        <p:spPr>
          <a:xfrm>
            <a:off x="1158240" y="3018536"/>
            <a:ext cx="8760460" cy="673753"/>
          </a:xfrm>
          <a:prstGeom prst="rect">
            <a:avLst/>
          </a:prstGeom>
        </p:spPr>
        <p:txBody>
          <a:bodyPr vert="horz" wrap="square" lIns="0" tIns="16933" rIns="0" bIns="0" rtlCol="0">
            <a:spAutoFit/>
          </a:bodyPr>
          <a:lstStyle/>
          <a:p>
            <a:pPr marL="16933">
              <a:spcBef>
                <a:spcPts val="133"/>
              </a:spcBef>
            </a:pPr>
            <a:r>
              <a:rPr lang="en-US" sz="4267" dirty="0">
                <a:latin typeface="Calibri"/>
                <a:cs typeface="Calibri"/>
              </a:rPr>
              <a:t>Support Vector Machine</a:t>
            </a:r>
            <a:endParaRPr sz="4267" dirty="0">
              <a:latin typeface="Calibri"/>
              <a:cs typeface="Calibri"/>
            </a:endParaRPr>
          </a:p>
        </p:txBody>
      </p:sp>
      <p:sp>
        <p:nvSpPr>
          <p:cNvPr id="5" name="object 5"/>
          <p:cNvSpPr txBox="1"/>
          <p:nvPr/>
        </p:nvSpPr>
        <p:spPr>
          <a:xfrm>
            <a:off x="1158241" y="3943929"/>
            <a:ext cx="7036647" cy="884131"/>
          </a:xfrm>
          <a:prstGeom prst="rect">
            <a:avLst/>
          </a:prstGeom>
        </p:spPr>
        <p:txBody>
          <a:bodyPr vert="horz" wrap="square" lIns="0" tIns="39793" rIns="0" bIns="0" rtlCol="0">
            <a:spAutoFit/>
          </a:bodyPr>
          <a:lstStyle/>
          <a:p>
            <a:pPr marL="16933">
              <a:spcBef>
                <a:spcPts val="313"/>
              </a:spcBef>
            </a:pPr>
            <a:r>
              <a:rPr lang="en-US" sz="2667" dirty="0">
                <a:solidFill>
                  <a:srgbClr val="3E3E3E"/>
                </a:solidFill>
                <a:latin typeface="Calibri"/>
                <a:cs typeface="Calibri"/>
              </a:rPr>
              <a:t>Data Mining</a:t>
            </a:r>
            <a:r>
              <a:rPr sz="2667" dirty="0">
                <a:solidFill>
                  <a:srgbClr val="3E3E3E"/>
                </a:solidFill>
                <a:latin typeface="Calibri"/>
                <a:cs typeface="Calibri"/>
              </a:rPr>
              <a:t>–</a:t>
            </a:r>
            <a:r>
              <a:rPr sz="2667" spc="-67" dirty="0">
                <a:solidFill>
                  <a:srgbClr val="3E3E3E"/>
                </a:solidFill>
                <a:latin typeface="Calibri"/>
                <a:cs typeface="Calibri"/>
              </a:rPr>
              <a:t> </a:t>
            </a:r>
            <a:r>
              <a:rPr sz="2667" dirty="0">
                <a:solidFill>
                  <a:srgbClr val="3E3E3E"/>
                </a:solidFill>
                <a:latin typeface="Calibri"/>
                <a:cs typeface="Calibri"/>
              </a:rPr>
              <a:t>Final</a:t>
            </a:r>
            <a:r>
              <a:rPr sz="2667" spc="-47" dirty="0">
                <a:solidFill>
                  <a:srgbClr val="3E3E3E"/>
                </a:solidFill>
                <a:latin typeface="Calibri"/>
                <a:cs typeface="Calibri"/>
              </a:rPr>
              <a:t> </a:t>
            </a:r>
            <a:r>
              <a:rPr sz="2667" dirty="0">
                <a:solidFill>
                  <a:srgbClr val="3E3E3E"/>
                </a:solidFill>
                <a:latin typeface="Calibri"/>
                <a:cs typeface="Calibri"/>
              </a:rPr>
              <a:t>Week</a:t>
            </a:r>
            <a:r>
              <a:rPr sz="2667" spc="-53" dirty="0">
                <a:solidFill>
                  <a:srgbClr val="3E3E3E"/>
                </a:solidFill>
                <a:latin typeface="Calibri"/>
                <a:cs typeface="Calibri"/>
              </a:rPr>
              <a:t> </a:t>
            </a:r>
            <a:r>
              <a:rPr lang="en-US" sz="2667" spc="-67" dirty="0">
                <a:solidFill>
                  <a:srgbClr val="3E3E3E"/>
                </a:solidFill>
                <a:latin typeface="Calibri"/>
                <a:cs typeface="Calibri"/>
              </a:rPr>
              <a:t>2</a:t>
            </a:r>
            <a:endParaRPr sz="2667" dirty="0">
              <a:latin typeface="Calibri"/>
              <a:cs typeface="Calibri"/>
            </a:endParaRPr>
          </a:p>
          <a:p>
            <a:pPr marL="16933" marR="4059665">
              <a:lnSpc>
                <a:spcPct val="90100"/>
              </a:lnSpc>
              <a:spcBef>
                <a:spcPts val="507"/>
              </a:spcBef>
            </a:pPr>
            <a:endParaRPr sz="2667" dirty="0">
              <a:latin typeface="Calibri"/>
              <a:cs typeface="Calibri"/>
            </a:endParaRPr>
          </a:p>
        </p:txBody>
      </p:sp>
      <p:sp>
        <p:nvSpPr>
          <p:cNvPr id="13" name="object 5">
            <a:extLst>
              <a:ext uri="{FF2B5EF4-FFF2-40B4-BE49-F238E27FC236}">
                <a16:creationId xmlns:a16="http://schemas.microsoft.com/office/drawing/2014/main" xmlns="" id="{36DBFFEF-B102-217A-056F-755C77016154}"/>
              </a:ext>
            </a:extLst>
          </p:cNvPr>
          <p:cNvSpPr txBox="1"/>
          <p:nvPr/>
        </p:nvSpPr>
        <p:spPr>
          <a:xfrm>
            <a:off x="1158240" y="4531500"/>
            <a:ext cx="8479536" cy="2032650"/>
          </a:xfrm>
          <a:prstGeom prst="rect">
            <a:avLst/>
          </a:prstGeom>
        </p:spPr>
        <p:txBody>
          <a:bodyPr vert="horz" wrap="square" lIns="0" tIns="39793" rIns="0" bIns="0" rtlCol="0">
            <a:spAutoFit/>
          </a:bodyPr>
          <a:lstStyle/>
          <a:p>
            <a:pPr marL="16933" marR="4059665">
              <a:lnSpc>
                <a:spcPct val="90100"/>
              </a:lnSpc>
              <a:spcBef>
                <a:spcPts val="507"/>
              </a:spcBef>
            </a:pPr>
            <a:r>
              <a:rPr lang="en-US" sz="2400" spc="-27" dirty="0">
                <a:solidFill>
                  <a:srgbClr val="6DAC1C"/>
                </a:solidFill>
                <a:uFill>
                  <a:solidFill>
                    <a:srgbClr val="6DAC1C"/>
                  </a:solidFill>
                </a:uFill>
                <a:latin typeface="Calibri"/>
                <a:cs typeface="Calibri"/>
              </a:rPr>
              <a:t>Humaira Anzum Neha</a:t>
            </a:r>
            <a:r>
              <a:rPr lang="en-US" sz="2400" spc="-13" dirty="0">
                <a:solidFill>
                  <a:srgbClr val="6DAC1C"/>
                </a:solidFill>
                <a:latin typeface="Calibri"/>
                <a:cs typeface="Calibri"/>
              </a:rPr>
              <a:t> </a:t>
            </a:r>
          </a:p>
          <a:p>
            <a:pPr marL="16933" marR="4059665">
              <a:lnSpc>
                <a:spcPct val="90100"/>
              </a:lnSpc>
              <a:spcBef>
                <a:spcPts val="507"/>
              </a:spcBef>
            </a:pPr>
            <a:r>
              <a:rPr lang="en-US" sz="2400" spc="-13" dirty="0">
                <a:latin typeface="Calibri"/>
                <a:cs typeface="Calibri"/>
              </a:rPr>
              <a:t>Lecturer</a:t>
            </a:r>
          </a:p>
          <a:p>
            <a:pPr marL="16933" marR="4059665">
              <a:lnSpc>
                <a:spcPct val="90100"/>
              </a:lnSpc>
              <a:spcBef>
                <a:spcPts val="507"/>
              </a:spcBef>
            </a:pPr>
            <a:r>
              <a:rPr lang="en-US" sz="2400" dirty="0">
                <a:solidFill>
                  <a:srgbClr val="3E3E3E"/>
                </a:solidFill>
                <a:latin typeface="Calibri"/>
                <a:cs typeface="Calibri"/>
              </a:rPr>
              <a:t>Dept</a:t>
            </a:r>
            <a:r>
              <a:rPr lang="en-US" sz="2400" spc="-60" dirty="0">
                <a:solidFill>
                  <a:srgbClr val="3E3E3E"/>
                </a:solidFill>
                <a:latin typeface="Calibri"/>
                <a:cs typeface="Calibri"/>
              </a:rPr>
              <a:t> </a:t>
            </a:r>
            <a:r>
              <a:rPr lang="en-US" sz="2400" dirty="0">
                <a:solidFill>
                  <a:srgbClr val="3E3E3E"/>
                </a:solidFill>
                <a:latin typeface="Calibri"/>
                <a:cs typeface="Calibri"/>
              </a:rPr>
              <a:t>of</a:t>
            </a:r>
            <a:r>
              <a:rPr lang="en-US" sz="2400" spc="-33" dirty="0">
                <a:solidFill>
                  <a:srgbClr val="3E3E3E"/>
                </a:solidFill>
                <a:latin typeface="Calibri"/>
                <a:cs typeface="Calibri"/>
              </a:rPr>
              <a:t> </a:t>
            </a:r>
            <a:r>
              <a:rPr lang="en-US" sz="2400" dirty="0">
                <a:solidFill>
                  <a:srgbClr val="3E3E3E"/>
                </a:solidFill>
                <a:latin typeface="Calibri"/>
                <a:cs typeface="Calibri"/>
              </a:rPr>
              <a:t>CSE,</a:t>
            </a:r>
            <a:r>
              <a:rPr lang="en-US" sz="2400" spc="-47" dirty="0">
                <a:solidFill>
                  <a:srgbClr val="3E3E3E"/>
                </a:solidFill>
                <a:latin typeface="Calibri"/>
                <a:cs typeface="Calibri"/>
              </a:rPr>
              <a:t> </a:t>
            </a:r>
            <a:r>
              <a:rPr lang="en-US" sz="2400" spc="-33" dirty="0">
                <a:solidFill>
                  <a:srgbClr val="3E3E3E"/>
                </a:solidFill>
                <a:latin typeface="Calibri"/>
                <a:cs typeface="Calibri"/>
              </a:rPr>
              <a:t>UIU </a:t>
            </a:r>
          </a:p>
          <a:p>
            <a:pPr marL="16933" marR="4059665">
              <a:lnSpc>
                <a:spcPct val="90100"/>
              </a:lnSpc>
              <a:spcBef>
                <a:spcPts val="507"/>
              </a:spcBef>
            </a:pPr>
            <a:r>
              <a:rPr lang="en-US" sz="2400" spc="-33" dirty="0">
                <a:solidFill>
                  <a:srgbClr val="3E3E3E"/>
                </a:solidFill>
                <a:latin typeface="Calibri"/>
                <a:cs typeface="Calibri"/>
                <a:hlinkClick r:id="rId3"/>
              </a:rPr>
              <a:t>humaira</a:t>
            </a:r>
            <a:r>
              <a:rPr lang="en-US" sz="2400" u="sng" spc="-13" dirty="0">
                <a:solidFill>
                  <a:srgbClr val="6DAC1C"/>
                </a:solidFill>
                <a:uFill>
                  <a:solidFill>
                    <a:srgbClr val="6DAC1C"/>
                  </a:solidFill>
                </a:uFill>
                <a:latin typeface="Calibri"/>
                <a:cs typeface="Calibri"/>
                <a:hlinkClick r:id="rId3"/>
              </a:rPr>
              <a:t>@cse.uiu.ac.bd</a:t>
            </a:r>
            <a:endParaRPr lang="en-US" sz="2400" u="sng" spc="-13" dirty="0">
              <a:solidFill>
                <a:srgbClr val="6DAC1C"/>
              </a:solidFill>
              <a:uFill>
                <a:solidFill>
                  <a:srgbClr val="6DAC1C"/>
                </a:solidFill>
              </a:uFill>
              <a:latin typeface="Calibri"/>
              <a:cs typeface="Calibri"/>
            </a:endParaRPr>
          </a:p>
          <a:p>
            <a:pPr marL="16933" marR="4059665">
              <a:lnSpc>
                <a:spcPct val="90100"/>
              </a:lnSpc>
              <a:spcBef>
                <a:spcPts val="507"/>
              </a:spcBef>
            </a:pPr>
            <a:endParaRPr sz="2667"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What is SVM?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102935" y="962780"/>
            <a:ext cx="9477012" cy="2190343"/>
          </a:xfrm>
          <a:prstGeom prst="rect">
            <a:avLst/>
          </a:prstGeom>
        </p:spPr>
        <p:txBody>
          <a:bodyPr vert="horz" wrap="square" lIns="0" tIns="231140" rIns="0" bIns="0" rtlCol="0">
            <a:spAutoFit/>
          </a:bodyPr>
          <a:lstStyle/>
          <a:p>
            <a:pPr lvl="1" rtl="0" fontAlgn="base">
              <a:lnSpc>
                <a:spcPct val="200000"/>
              </a:lnSpc>
              <a:spcBef>
                <a:spcPts val="600"/>
              </a:spcBef>
              <a:spcAft>
                <a:spcPts val="0"/>
              </a:spcAft>
              <a:buFont typeface="Wingdings" panose="05000000000000000000" pitchFamily="2" charset="2"/>
              <a:buChar char="q"/>
            </a:pPr>
            <a:r>
              <a:rPr lang="en-US" sz="2000" b="0" i="0" u="none" strike="noStrike" dirty="0">
                <a:solidFill>
                  <a:srgbClr val="000000"/>
                </a:solidFill>
                <a:effectLst/>
                <a:latin typeface="Calibri" panose="020F0502020204030204" pitchFamily="34" charset="0"/>
              </a:rPr>
              <a:t> Supervised machine learning used for classification</a:t>
            </a:r>
          </a:p>
          <a:p>
            <a:pPr lvl="1">
              <a:lnSpc>
                <a:spcPct val="200000"/>
              </a:lnSpc>
              <a:buFont typeface="Wingdings" panose="05000000000000000000" pitchFamily="2" charset="2"/>
              <a:buChar char="q"/>
            </a:pPr>
            <a:r>
              <a:rPr lang="en-US" sz="2000" b="0" i="0" u="none" strike="noStrike" dirty="0">
                <a:solidFill>
                  <a:srgbClr val="000000"/>
                </a:solidFill>
                <a:effectLst/>
                <a:latin typeface="Calibri" panose="020F0502020204030204" pitchFamily="34" charset="0"/>
              </a:rPr>
              <a:t> SVM tries to find a </a:t>
            </a:r>
            <a:r>
              <a:rPr lang="en-US" sz="2000" b="0" i="0" u="none" strike="noStrike" dirty="0" err="1" smtClean="0">
                <a:solidFill>
                  <a:srgbClr val="000000"/>
                </a:solidFill>
                <a:effectLst/>
                <a:latin typeface="Calibri" panose="020F0502020204030204" pitchFamily="34" charset="0"/>
              </a:rPr>
              <a:t>hyperplane</a:t>
            </a:r>
            <a:r>
              <a:rPr lang="en-US" sz="2000" b="0" i="0" u="none" strike="noStrike" dirty="0" smtClean="0">
                <a:solidFill>
                  <a:srgbClr val="000000"/>
                </a:solidFill>
                <a:effectLst/>
                <a:latin typeface="Calibri" panose="020F0502020204030204" pitchFamily="34" charset="0"/>
              </a:rPr>
              <a:t>(</a:t>
            </a:r>
            <a:r>
              <a:rPr lang="en-US" sz="2000" dirty="0">
                <a:latin typeface="Calibri" panose="020F0502020204030204" pitchFamily="34" charset="0"/>
                <a:ea typeface="Calibri" panose="020F0502020204030204" pitchFamily="34" charset="0"/>
                <a:cs typeface="Calibri" panose="020F0502020204030204" pitchFamily="34" charset="0"/>
              </a:rPr>
              <a:t>the </a:t>
            </a:r>
            <a:r>
              <a:rPr lang="en-US" sz="2000" dirty="0" smtClean="0">
                <a:latin typeface="Calibri" panose="020F0502020204030204" pitchFamily="34" charset="0"/>
                <a:ea typeface="Calibri" panose="020F0502020204030204" pitchFamily="34" charset="0"/>
                <a:cs typeface="Calibri" panose="020F0502020204030204" pitchFamily="34" charset="0"/>
              </a:rPr>
              <a:t>line)</a:t>
            </a:r>
            <a:r>
              <a:rPr lang="en-US" sz="2000" b="0" i="0" u="none" strike="noStrike" dirty="0" smtClean="0">
                <a:solidFill>
                  <a:srgbClr val="000000"/>
                </a:solidFill>
                <a:effectLst/>
                <a:latin typeface="Calibri" panose="020F0502020204030204" pitchFamily="34" charset="0"/>
              </a:rPr>
              <a:t> </a:t>
            </a:r>
            <a:r>
              <a:rPr lang="en-US" sz="2000" b="0" i="0" u="none" strike="noStrike" dirty="0">
                <a:solidFill>
                  <a:srgbClr val="000000"/>
                </a:solidFill>
                <a:effectLst/>
                <a:latin typeface="Calibri" panose="020F0502020204030204" pitchFamily="34" charset="0"/>
              </a:rPr>
              <a:t>that best separates the two classes.</a:t>
            </a:r>
          </a:p>
          <a:p>
            <a:pPr marL="482588" indent="0">
              <a:lnSpc>
                <a:spcPct val="100000"/>
              </a:lnSpc>
              <a:spcBef>
                <a:spcPts val="1820"/>
              </a:spcBef>
              <a:buNone/>
              <a:tabLst>
                <a:tab pos="998195" algn="l"/>
              </a:tabLst>
            </a:pPr>
            <a:endParaRPr lang="en-US" spc="-7" dirty="0">
              <a:latin typeface="Constantia"/>
              <a:cs typeface="Constantia"/>
            </a:endParaRPr>
          </a:p>
        </p:txBody>
      </p:sp>
      <p:pic>
        <p:nvPicPr>
          <p:cNvPr id="3" name="Picture 2">
            <a:extLst>
              <a:ext uri="{FF2B5EF4-FFF2-40B4-BE49-F238E27FC236}">
                <a16:creationId xmlns:a16="http://schemas.microsoft.com/office/drawing/2014/main" xmlns="" id="{89F45CA8-BB8B-A9A8-E88B-82DB0B54F9FC}"/>
              </a:ext>
            </a:extLst>
          </p:cNvPr>
          <p:cNvPicPr>
            <a:picLocks noChangeAspect="1"/>
          </p:cNvPicPr>
          <p:nvPr/>
        </p:nvPicPr>
        <p:blipFill>
          <a:blip r:embed="rId3"/>
          <a:stretch>
            <a:fillRect/>
          </a:stretch>
        </p:blipFill>
        <p:spPr>
          <a:xfrm>
            <a:off x="1607502" y="2891283"/>
            <a:ext cx="3365714" cy="2770879"/>
          </a:xfrm>
          <a:prstGeom prst="rect">
            <a:avLst/>
          </a:prstGeom>
        </p:spPr>
      </p:pic>
      <p:pic>
        <p:nvPicPr>
          <p:cNvPr id="8" name="Picture 7">
            <a:extLst>
              <a:ext uri="{FF2B5EF4-FFF2-40B4-BE49-F238E27FC236}">
                <a16:creationId xmlns:a16="http://schemas.microsoft.com/office/drawing/2014/main" xmlns="" id="{6D77C4ED-3658-D6C9-53EF-EAAA22C522E6}"/>
              </a:ext>
            </a:extLst>
          </p:cNvPr>
          <p:cNvPicPr>
            <a:picLocks noChangeAspect="1"/>
          </p:cNvPicPr>
          <p:nvPr/>
        </p:nvPicPr>
        <p:blipFill>
          <a:blip r:embed="rId4"/>
          <a:stretch>
            <a:fillRect/>
          </a:stretch>
        </p:blipFill>
        <p:spPr>
          <a:xfrm>
            <a:off x="5944315" y="2794917"/>
            <a:ext cx="3365714" cy="2885891"/>
          </a:xfrm>
          <a:prstGeom prst="rect">
            <a:avLst/>
          </a:prstGeom>
        </p:spPr>
      </p:pic>
    </p:spTree>
    <p:extLst>
      <p:ext uri="{BB962C8B-B14F-4D97-AF65-F5344CB8AC3E}">
        <p14:creationId xmlns:p14="http://schemas.microsoft.com/office/powerpoint/2010/main" val="943543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What is SVM?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3</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102935" y="962780"/>
            <a:ext cx="9477012" cy="2340641"/>
          </a:xfrm>
          <a:prstGeom prst="rect">
            <a:avLst/>
          </a:prstGeom>
        </p:spPr>
        <p:txBody>
          <a:bodyPr vert="horz" wrap="square" lIns="0" tIns="231140" rIns="0" bIns="0" rtlCol="0">
            <a:spAutoFit/>
          </a:bodyPr>
          <a:lstStyle/>
          <a:p>
            <a:pPr lvl="1" rtl="0" fontAlgn="base">
              <a:lnSpc>
                <a:spcPct val="200000"/>
              </a:lnSpc>
              <a:spcBef>
                <a:spcPts val="600"/>
              </a:spcBef>
              <a:spcAft>
                <a:spcPts val="0"/>
              </a:spcAft>
              <a:buFont typeface="Wingdings" panose="05000000000000000000" pitchFamily="2" charset="2"/>
              <a:buChar char="q"/>
            </a:pPr>
            <a:r>
              <a:rPr lang="en-US" sz="1400" b="0" i="0" u="none" strike="noStrike" dirty="0">
                <a:solidFill>
                  <a:srgbClr val="000000"/>
                </a:solidFill>
                <a:effectLst/>
                <a:latin typeface="Calibri" panose="020F0502020204030204" pitchFamily="34" charset="0"/>
              </a:rPr>
              <a:t> </a:t>
            </a:r>
            <a:r>
              <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Which hyperplane would be the best?</a:t>
            </a:r>
          </a:p>
          <a:p>
            <a:r>
              <a:rPr lang="en-US" sz="1400" b="1" dirty="0"/>
              <a:t>SVM and the Best </a:t>
            </a:r>
            <a:r>
              <a:rPr lang="en-US" sz="1400" b="1" dirty="0" err="1"/>
              <a:t>Hyperplane</a:t>
            </a:r>
            <a:r>
              <a:rPr lang="en-US" sz="1400" b="1" dirty="0"/>
              <a:t>:</a:t>
            </a:r>
          </a:p>
          <a:p>
            <a:r>
              <a:rPr lang="en-US" sz="1400" b="1" dirty="0"/>
              <a:t>Goal of SVM:</a:t>
            </a:r>
            <a:r>
              <a:rPr lang="en-US" sz="1400" dirty="0"/>
              <a:t> To find the line (</a:t>
            </a:r>
            <a:r>
              <a:rPr lang="en-US" sz="1400" dirty="0" err="1"/>
              <a:t>hyperplane</a:t>
            </a:r>
            <a:r>
              <a:rPr lang="en-US" sz="1400" dirty="0"/>
              <a:t>) that best separates two classes.</a:t>
            </a:r>
          </a:p>
          <a:p>
            <a:r>
              <a:rPr lang="en-US" sz="1400" b="1" dirty="0"/>
              <a:t>How it works:</a:t>
            </a:r>
            <a:r>
              <a:rPr lang="en-US" sz="1400" dirty="0"/>
              <a:t> SVM looks for different </a:t>
            </a:r>
            <a:r>
              <a:rPr lang="en-US" sz="1400" dirty="0" err="1"/>
              <a:t>hyperplanes</a:t>
            </a:r>
            <a:r>
              <a:rPr lang="en-US" sz="1400" dirty="0"/>
              <a:t> that can separate the classes, then chooses the one that is farthest away from the data points of both classes.</a:t>
            </a:r>
          </a:p>
          <a:p>
            <a:r>
              <a:rPr lang="en-US" sz="1400" b="1" dirty="0"/>
              <a:t>Why?</a:t>
            </a:r>
            <a:r>
              <a:rPr lang="en-US" sz="1400" dirty="0"/>
              <a:t> The farther the </a:t>
            </a:r>
            <a:r>
              <a:rPr lang="en-US" sz="1400" dirty="0" err="1"/>
              <a:t>hyperplane</a:t>
            </a:r>
            <a:r>
              <a:rPr lang="en-US" sz="1400" dirty="0"/>
              <a:t> is from the data points, the bigger the margin, which makes the classification more confident and accurate.</a:t>
            </a:r>
          </a:p>
        </p:txBody>
      </p:sp>
      <p:pic>
        <p:nvPicPr>
          <p:cNvPr id="8" name="Picture 7">
            <a:extLst>
              <a:ext uri="{FF2B5EF4-FFF2-40B4-BE49-F238E27FC236}">
                <a16:creationId xmlns:a16="http://schemas.microsoft.com/office/drawing/2014/main" xmlns="" id="{6D77C4ED-3658-D6C9-53EF-EAAA22C522E6}"/>
              </a:ext>
            </a:extLst>
          </p:cNvPr>
          <p:cNvPicPr>
            <a:picLocks noChangeAspect="1"/>
          </p:cNvPicPr>
          <p:nvPr/>
        </p:nvPicPr>
        <p:blipFill>
          <a:blip r:embed="rId3"/>
          <a:stretch>
            <a:fillRect/>
          </a:stretch>
        </p:blipFill>
        <p:spPr>
          <a:xfrm>
            <a:off x="2498514" y="3671776"/>
            <a:ext cx="3253292" cy="2789496"/>
          </a:xfrm>
          <a:prstGeom prst="rect">
            <a:avLst/>
          </a:prstGeom>
        </p:spPr>
      </p:pic>
      <p:pic>
        <p:nvPicPr>
          <p:cNvPr id="9" name="Picture 8">
            <a:extLst>
              <a:ext uri="{FF2B5EF4-FFF2-40B4-BE49-F238E27FC236}">
                <a16:creationId xmlns:a16="http://schemas.microsoft.com/office/drawing/2014/main" xmlns="" id="{BB6A7BE6-E247-D8BC-178B-5E5BC74F1C56}"/>
              </a:ext>
            </a:extLst>
          </p:cNvPr>
          <p:cNvPicPr>
            <a:picLocks noChangeAspect="1"/>
          </p:cNvPicPr>
          <p:nvPr/>
        </p:nvPicPr>
        <p:blipFill>
          <a:blip r:embed="rId4"/>
          <a:stretch>
            <a:fillRect/>
          </a:stretch>
        </p:blipFill>
        <p:spPr>
          <a:xfrm>
            <a:off x="6440196" y="3671776"/>
            <a:ext cx="3271542" cy="2658128"/>
          </a:xfrm>
          <a:prstGeom prst="rect">
            <a:avLst/>
          </a:prstGeom>
        </p:spPr>
      </p:pic>
    </p:spTree>
    <p:extLst>
      <p:ext uri="{BB962C8B-B14F-4D97-AF65-F5344CB8AC3E}">
        <p14:creationId xmlns:p14="http://schemas.microsoft.com/office/powerpoint/2010/main" val="265148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What is SVM?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4</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102935" y="827906"/>
            <a:ext cx="9477012" cy="2387833"/>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Support Vectors: </a:t>
            </a:r>
            <a:r>
              <a:rPr lang="en-US" sz="1800" dirty="0">
                <a:latin typeface="Calibri" panose="020F0502020204030204" pitchFamily="34" charset="0"/>
                <a:ea typeface="Calibri" panose="020F0502020204030204" pitchFamily="34" charset="0"/>
                <a:cs typeface="Calibri" panose="020F0502020204030204" pitchFamily="34" charset="0"/>
              </a:rPr>
              <a:t>These are the data points that are closest to the </a:t>
            </a:r>
            <a:r>
              <a:rPr lang="en-US" sz="1800" dirty="0" err="1">
                <a:latin typeface="Calibri" panose="020F0502020204030204" pitchFamily="34" charset="0"/>
                <a:ea typeface="Calibri" panose="020F0502020204030204" pitchFamily="34" charset="0"/>
                <a:cs typeface="Calibri" panose="020F0502020204030204" pitchFamily="34" charset="0"/>
              </a:rPr>
              <a:t>hyperplane</a:t>
            </a:r>
            <a:r>
              <a:rPr lang="en-US" sz="1800" dirty="0">
                <a:latin typeface="Calibri" panose="020F0502020204030204" pitchFamily="34" charset="0"/>
                <a:ea typeface="Calibri" panose="020F0502020204030204" pitchFamily="34" charset="0"/>
                <a:cs typeface="Calibri" panose="020F0502020204030204" pitchFamily="34" charset="0"/>
              </a:rPr>
              <a:t> (the line separating the classes</a:t>
            </a:r>
            <a:r>
              <a:rPr lang="en-US" sz="1800" dirty="0" smtClean="0">
                <a:latin typeface="Calibri" panose="020F0502020204030204" pitchFamily="34" charset="0"/>
                <a:ea typeface="Calibri" panose="020F0502020204030204" pitchFamily="34" charset="0"/>
                <a:cs typeface="Calibri" panose="020F0502020204030204" pitchFamily="34" charset="0"/>
              </a:rPr>
              <a:t>).</a:t>
            </a:r>
            <a:r>
              <a:rPr lang="en-US" sz="1800" b="1" dirty="0"/>
              <a:t> </a:t>
            </a:r>
            <a:r>
              <a:rPr lang="en-US" sz="1800" b="1" dirty="0">
                <a:latin typeface="Calibri" panose="020F0502020204030204" pitchFamily="34" charset="0"/>
                <a:ea typeface="Calibri" panose="020F0502020204030204" pitchFamily="34" charset="0"/>
                <a:cs typeface="Calibri" panose="020F0502020204030204" pitchFamily="34" charset="0"/>
              </a:rPr>
              <a:t>Why are they important?</a:t>
            </a:r>
            <a:r>
              <a:rPr lang="en-US" sz="1800" dirty="0">
                <a:latin typeface="Calibri" panose="020F0502020204030204" pitchFamily="34" charset="0"/>
                <a:ea typeface="Calibri" panose="020F0502020204030204" pitchFamily="34" charset="0"/>
                <a:cs typeface="Calibri" panose="020F0502020204030204" pitchFamily="34" charset="0"/>
              </a:rPr>
              <a:t> The </a:t>
            </a:r>
            <a:r>
              <a:rPr lang="en-US" sz="1800" dirty="0" err="1">
                <a:latin typeface="Calibri" panose="020F0502020204030204" pitchFamily="34" charset="0"/>
                <a:ea typeface="Calibri" panose="020F0502020204030204" pitchFamily="34" charset="0"/>
                <a:cs typeface="Calibri" panose="020F0502020204030204" pitchFamily="34" charset="0"/>
              </a:rPr>
              <a:t>hyperplane</a:t>
            </a:r>
            <a:r>
              <a:rPr lang="en-US" sz="1800" dirty="0">
                <a:latin typeface="Calibri" panose="020F0502020204030204" pitchFamily="34" charset="0"/>
                <a:ea typeface="Calibri" panose="020F0502020204030204" pitchFamily="34" charset="0"/>
                <a:cs typeface="Calibri" panose="020F0502020204030204" pitchFamily="34" charset="0"/>
              </a:rPr>
              <a:t> (or decision boundary) is defined using these points.</a:t>
            </a:r>
            <a:endPar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2" fontAlgn="base">
              <a:lnSpc>
                <a:spcPct val="150000"/>
              </a:lnSpc>
              <a:spcBef>
                <a:spcPts val="600"/>
              </a:spcBef>
              <a:buFont typeface="Wingdings" panose="05000000000000000000" pitchFamily="2" charset="2"/>
              <a:buChar char="q"/>
            </a:pPr>
            <a:r>
              <a:rPr lang="en-US" sz="1800" b="1" dirty="0">
                <a:solidFill>
                  <a:srgbClr val="212529"/>
                </a:solidFill>
                <a:highlight>
                  <a:srgbClr val="FFFFFF"/>
                </a:highlight>
                <a:latin typeface="Calibri" panose="020F0502020204030204" pitchFamily="34" charset="0"/>
                <a:ea typeface="Calibri" panose="020F0502020204030204" pitchFamily="34" charset="0"/>
                <a:cs typeface="Calibri" panose="020F0502020204030204" pitchFamily="34" charset="0"/>
              </a:rPr>
              <a:t>Margin- </a:t>
            </a:r>
            <a:r>
              <a:rPr lang="en-US" sz="1800" dirty="0">
                <a:latin typeface="Calibri" panose="020F0502020204030204" pitchFamily="34" charset="0"/>
                <a:ea typeface="Calibri" panose="020F0502020204030204" pitchFamily="34" charset="0"/>
                <a:cs typeface="Calibri" panose="020F0502020204030204" pitchFamily="34" charset="0"/>
              </a:rPr>
              <a:t>The margin is the distance from the </a:t>
            </a:r>
            <a:r>
              <a:rPr lang="en-US" sz="1800" dirty="0" err="1">
                <a:latin typeface="Calibri" panose="020F0502020204030204" pitchFamily="34" charset="0"/>
                <a:ea typeface="Calibri" panose="020F0502020204030204" pitchFamily="34" charset="0"/>
                <a:cs typeface="Calibri" panose="020F0502020204030204" pitchFamily="34" charset="0"/>
              </a:rPr>
              <a:t>hyperplane</a:t>
            </a:r>
            <a:r>
              <a:rPr lang="en-US" sz="1800" dirty="0">
                <a:latin typeface="Calibri" panose="020F0502020204030204" pitchFamily="34" charset="0"/>
                <a:ea typeface="Calibri" panose="020F0502020204030204" pitchFamily="34" charset="0"/>
                <a:cs typeface="Calibri" panose="020F0502020204030204" pitchFamily="34" charset="0"/>
              </a:rPr>
              <a:t> to the closest data point of either class</a:t>
            </a:r>
            <a:r>
              <a:rPr lang="en-US" sz="1800" dirty="0" smtClean="0">
                <a:latin typeface="Calibri" panose="020F0502020204030204" pitchFamily="34" charset="0"/>
                <a:ea typeface="Calibri" panose="020F0502020204030204" pitchFamily="34" charset="0"/>
                <a:cs typeface="Calibri" panose="020F0502020204030204" pitchFamily="34" charset="0"/>
              </a:rPr>
              <a:t>.</a:t>
            </a:r>
            <a:r>
              <a:rPr lang="en-US" sz="1800" b="1" dirty="0"/>
              <a:t> </a:t>
            </a:r>
            <a:r>
              <a:rPr lang="en-US" sz="1800" b="1" dirty="0">
                <a:latin typeface="Calibri" panose="020F0502020204030204" pitchFamily="34" charset="0"/>
                <a:ea typeface="Calibri" panose="020F0502020204030204" pitchFamily="34" charset="0"/>
                <a:cs typeface="Calibri" panose="020F0502020204030204" pitchFamily="34" charset="0"/>
              </a:rPr>
              <a:t>Goal:</a:t>
            </a:r>
            <a:r>
              <a:rPr lang="en-US" sz="1800" dirty="0">
                <a:latin typeface="Calibri" panose="020F0502020204030204" pitchFamily="34" charset="0"/>
                <a:ea typeface="Calibri" panose="020F0502020204030204" pitchFamily="34" charset="0"/>
                <a:cs typeface="Calibri" panose="020F0502020204030204" pitchFamily="34" charset="0"/>
              </a:rPr>
              <a:t> The margin should be as large as possible for better classification.</a:t>
            </a:r>
            <a:endPar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xmlns="" id="{58374363-3E96-9C30-88F2-6439092242E5}"/>
              </a:ext>
            </a:extLst>
          </p:cNvPr>
          <p:cNvPicPr>
            <a:picLocks noChangeAspect="1"/>
          </p:cNvPicPr>
          <p:nvPr/>
        </p:nvPicPr>
        <p:blipFill>
          <a:blip r:embed="rId3"/>
          <a:stretch>
            <a:fillRect/>
          </a:stretch>
        </p:blipFill>
        <p:spPr>
          <a:xfrm>
            <a:off x="1892335" y="3593839"/>
            <a:ext cx="4191812" cy="2995612"/>
          </a:xfrm>
          <a:prstGeom prst="rect">
            <a:avLst/>
          </a:prstGeom>
        </p:spPr>
      </p:pic>
      <p:pic>
        <p:nvPicPr>
          <p:cNvPr id="10" name="Picture 9">
            <a:extLst>
              <a:ext uri="{FF2B5EF4-FFF2-40B4-BE49-F238E27FC236}">
                <a16:creationId xmlns:a16="http://schemas.microsoft.com/office/drawing/2014/main" xmlns="" id="{6F19790C-EC6F-6C5F-BD62-3B8D8A863F0B}"/>
              </a:ext>
            </a:extLst>
          </p:cNvPr>
          <p:cNvPicPr>
            <a:picLocks noChangeAspect="1"/>
          </p:cNvPicPr>
          <p:nvPr/>
        </p:nvPicPr>
        <p:blipFill>
          <a:blip r:embed="rId4"/>
          <a:stretch>
            <a:fillRect/>
          </a:stretch>
        </p:blipFill>
        <p:spPr>
          <a:xfrm>
            <a:off x="6181423" y="3382157"/>
            <a:ext cx="5000183" cy="3333455"/>
          </a:xfrm>
          <a:prstGeom prst="rect">
            <a:avLst/>
          </a:prstGeom>
        </p:spPr>
      </p:pic>
    </p:spTree>
    <p:extLst>
      <p:ext uri="{BB962C8B-B14F-4D97-AF65-F5344CB8AC3E}">
        <p14:creationId xmlns:p14="http://schemas.microsoft.com/office/powerpoint/2010/main" val="2202647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Types of SVM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5</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102935" y="962780"/>
            <a:ext cx="9477012" cy="2857449"/>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6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Linear SVM: </a:t>
            </a:r>
            <a:r>
              <a:rPr lang="en-US" sz="16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When the data is perfectly linearly separable only then we can use Linear SVM. Perfectly linearly separable means that the data points can be classified into 2 classes by using a single straight line(if 2D).</a:t>
            </a:r>
          </a:p>
          <a:p>
            <a:pPr lvl="2" fontAlgn="base">
              <a:lnSpc>
                <a:spcPct val="150000"/>
              </a:lnSpc>
              <a:spcBef>
                <a:spcPts val="600"/>
              </a:spcBef>
              <a:buFont typeface="Wingdings" panose="05000000000000000000" pitchFamily="2" charset="2"/>
              <a:buChar char="q"/>
            </a:pPr>
            <a:r>
              <a:rPr lang="en-US" sz="16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Non-Linear SVM: </a:t>
            </a:r>
            <a:r>
              <a:rPr lang="en-US" sz="16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When the data is not linearly separable then we can use Non-Linear SVM, which means when the data points cannot be separated into 2 classes by using a straight line (if 2D) then we use some advanced techniques like kernel tricks to classify them. In most real-world applications we do not find linearly separable datapoints hence we use kernel trick to solve them.</a:t>
            </a:r>
            <a:endParaRPr lang="en-US" sz="18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xmlns="" id="{89D2A953-80AA-BD53-20A6-25268BE1FABE}"/>
              </a:ext>
            </a:extLst>
          </p:cNvPr>
          <p:cNvPicPr>
            <a:picLocks noChangeAspect="1"/>
          </p:cNvPicPr>
          <p:nvPr/>
        </p:nvPicPr>
        <p:blipFill>
          <a:blip r:embed="rId3"/>
          <a:stretch>
            <a:fillRect/>
          </a:stretch>
        </p:blipFill>
        <p:spPr>
          <a:xfrm>
            <a:off x="3485504" y="4131354"/>
            <a:ext cx="5537844" cy="2403522"/>
          </a:xfrm>
          <a:prstGeom prst="rect">
            <a:avLst/>
          </a:prstGeom>
        </p:spPr>
      </p:pic>
    </p:spTree>
    <p:extLst>
      <p:ext uri="{BB962C8B-B14F-4D97-AF65-F5344CB8AC3E}">
        <p14:creationId xmlns:p14="http://schemas.microsoft.com/office/powerpoint/2010/main" val="386078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6</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pic>
        <p:nvPicPr>
          <p:cNvPr id="3" name="Picture 2">
            <a:extLst>
              <a:ext uri="{FF2B5EF4-FFF2-40B4-BE49-F238E27FC236}">
                <a16:creationId xmlns:a16="http://schemas.microsoft.com/office/drawing/2014/main" xmlns="" id="{7254CE13-21A4-CAFD-3C8F-D0BA50E61F64}"/>
              </a:ext>
            </a:extLst>
          </p:cNvPr>
          <p:cNvPicPr>
            <a:picLocks noChangeAspect="1"/>
          </p:cNvPicPr>
          <p:nvPr/>
        </p:nvPicPr>
        <p:blipFill rotWithShape="1">
          <a:blip r:embed="rId3"/>
          <a:srcRect t="17062"/>
          <a:stretch/>
        </p:blipFill>
        <p:spPr>
          <a:xfrm>
            <a:off x="2556587" y="979955"/>
            <a:ext cx="7249886" cy="3006483"/>
          </a:xfrm>
          <a:prstGeom prst="rect">
            <a:avLst/>
          </a:prstGeom>
        </p:spPr>
      </p:pic>
      <p:sp>
        <p:nvSpPr>
          <p:cNvPr id="5" name="object 5"/>
          <p:cNvSpPr txBox="1">
            <a:spLocks noGrp="1"/>
          </p:cNvSpPr>
          <p:nvPr>
            <p:ph type="body" idx="1"/>
          </p:nvPr>
        </p:nvSpPr>
        <p:spPr>
          <a:xfrm>
            <a:off x="1102935" y="3986438"/>
            <a:ext cx="9477012" cy="3560590"/>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i="0" dirty="0">
                <a:solidFill>
                  <a:srgbClr val="212529"/>
                </a:solidFill>
                <a:effectLst/>
                <a:highlight>
                  <a:srgbClr val="FFFFFF"/>
                </a:highlight>
                <a:latin typeface="Inter"/>
              </a:rPr>
              <a:t>General form of </a:t>
            </a:r>
            <a:r>
              <a:rPr lang="en-US" sz="1800" i="0" dirty="0" err="1">
                <a:solidFill>
                  <a:srgbClr val="212529"/>
                </a:solidFill>
                <a:effectLst/>
                <a:highlight>
                  <a:srgbClr val="FFFFFF"/>
                </a:highlight>
                <a:latin typeface="Inter"/>
              </a:rPr>
              <a:t>Eqn</a:t>
            </a:r>
            <a:r>
              <a:rPr lang="en-US" sz="1800" i="0" dirty="0">
                <a:solidFill>
                  <a:srgbClr val="212529"/>
                </a:solidFill>
                <a:effectLst/>
                <a:highlight>
                  <a:srgbClr val="FFFFFF"/>
                </a:highlight>
                <a:latin typeface="Inter"/>
              </a:rPr>
              <a:t> of a hyperplane in 2D : ax + by + c =0</a:t>
            </a:r>
          </a:p>
          <a:p>
            <a:pPr lvl="2" fontAlgn="base">
              <a:lnSpc>
                <a:spcPct val="150000"/>
              </a:lnSpc>
              <a:spcBef>
                <a:spcPts val="600"/>
              </a:spcBef>
              <a:buFont typeface="Wingdings" panose="05000000000000000000" pitchFamily="2" charset="2"/>
              <a:buChar char="q"/>
            </a:pPr>
            <a:r>
              <a:rPr lang="en-US" sz="1800" dirty="0">
                <a:solidFill>
                  <a:srgbClr val="212529"/>
                </a:solidFill>
                <a:highlight>
                  <a:srgbClr val="FFFFFF"/>
                </a:highlight>
                <a:latin typeface="Inter"/>
              </a:rPr>
              <a:t>Another way : w1x1 + w2x2 + w0 =0</a:t>
            </a:r>
          </a:p>
          <a:p>
            <a:pPr lvl="2" fontAlgn="base">
              <a:lnSpc>
                <a:spcPct val="150000"/>
              </a:lnSpc>
              <a:spcBef>
                <a:spcPts val="600"/>
              </a:spcBef>
              <a:buFont typeface="Wingdings" panose="05000000000000000000" pitchFamily="2" charset="2"/>
              <a:buChar char="q"/>
            </a:pPr>
            <a:r>
              <a:rPr lang="en-US" sz="1800" i="0" dirty="0">
                <a:solidFill>
                  <a:srgbClr val="212529"/>
                </a:solidFill>
                <a:effectLst/>
                <a:highlight>
                  <a:srgbClr val="FFFFFF"/>
                </a:highlight>
                <a:latin typeface="Inter"/>
              </a:rPr>
              <a:t>For N-D : </a:t>
            </a:r>
            <a:r>
              <a:rPr lang="en-US" sz="1800" dirty="0">
                <a:solidFill>
                  <a:srgbClr val="212529"/>
                </a:solidFill>
                <a:highlight>
                  <a:srgbClr val="FFFFFF"/>
                </a:highlight>
                <a:latin typeface="Inter"/>
              </a:rPr>
              <a:t>w1x1 + w2x2 + …. + </a:t>
            </a:r>
            <a:r>
              <a:rPr lang="en-US" sz="1800" dirty="0" err="1">
                <a:solidFill>
                  <a:srgbClr val="212529"/>
                </a:solidFill>
                <a:highlight>
                  <a:srgbClr val="FFFFFF"/>
                </a:highlight>
                <a:latin typeface="Inter"/>
              </a:rPr>
              <a:t>wNxN</a:t>
            </a:r>
            <a:r>
              <a:rPr lang="en-US" sz="1800" dirty="0">
                <a:solidFill>
                  <a:srgbClr val="212529"/>
                </a:solidFill>
                <a:highlight>
                  <a:srgbClr val="FFFFFF"/>
                </a:highlight>
                <a:latin typeface="Inter"/>
              </a:rPr>
              <a:t> + w0 =0, or </a:t>
            </a:r>
            <a:r>
              <a:rPr lang="en-US" sz="1800" dirty="0" err="1">
                <a:solidFill>
                  <a:srgbClr val="212529"/>
                </a:solidFill>
                <a:highlight>
                  <a:srgbClr val="FFFFFF"/>
                </a:highlight>
                <a:latin typeface="Inter"/>
              </a:rPr>
              <a:t>w.x</a:t>
            </a:r>
            <a:r>
              <a:rPr lang="en-US" sz="1800" dirty="0">
                <a:solidFill>
                  <a:srgbClr val="212529"/>
                </a:solidFill>
                <a:highlight>
                  <a:srgbClr val="FFFFFF"/>
                </a:highlight>
                <a:latin typeface="Inter"/>
              </a:rPr>
              <a:t> +w0 = 0</a:t>
            </a:r>
          </a:p>
          <a:p>
            <a:pPr lvl="2" fontAlgn="base">
              <a:lnSpc>
                <a:spcPct val="150000"/>
              </a:lnSpc>
              <a:spcBef>
                <a:spcPts val="600"/>
              </a:spcBef>
              <a:buFont typeface="Wingdings" panose="05000000000000000000" pitchFamily="2" charset="2"/>
              <a:buChar char="q"/>
            </a:pPr>
            <a:r>
              <a:rPr lang="en-US" sz="1800" dirty="0">
                <a:solidFill>
                  <a:srgbClr val="212529"/>
                </a:solidFill>
                <a:highlight>
                  <a:srgbClr val="FFFFFF"/>
                </a:highlight>
                <a:latin typeface="Inter"/>
              </a:rPr>
              <a:t>If w0 = 0 that means the hyperplane passes through the origin. </a:t>
            </a:r>
          </a:p>
          <a:p>
            <a:pPr lvl="2" fontAlgn="base">
              <a:lnSpc>
                <a:spcPct val="150000"/>
              </a:lnSpc>
              <a:spcBef>
                <a:spcPts val="600"/>
              </a:spcBef>
              <a:buFont typeface="Wingdings" panose="05000000000000000000" pitchFamily="2" charset="2"/>
              <a:buChar char="q"/>
            </a:pPr>
            <a:r>
              <a:rPr lang="en-US" sz="1800" dirty="0">
                <a:solidFill>
                  <a:srgbClr val="212529"/>
                </a:solidFill>
                <a:highlight>
                  <a:srgbClr val="FFFFFF"/>
                </a:highlight>
                <a:latin typeface="Inter"/>
              </a:rPr>
              <a:t>w and x are perpendicular.</a:t>
            </a:r>
          </a:p>
          <a:p>
            <a:pPr marL="914400" lvl="2" indent="0" fontAlgn="base">
              <a:lnSpc>
                <a:spcPct val="150000"/>
              </a:lnSpc>
              <a:spcBef>
                <a:spcPts val="600"/>
              </a:spcBef>
              <a:buNone/>
            </a:pPr>
            <a:endParaRPr lang="en-US" sz="1800" dirty="0">
              <a:solidFill>
                <a:srgbClr val="212529"/>
              </a:solidFill>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pic>
        <p:nvPicPr>
          <p:cNvPr id="9" name="Picture 8">
            <a:extLst>
              <a:ext uri="{FF2B5EF4-FFF2-40B4-BE49-F238E27FC236}">
                <a16:creationId xmlns:a16="http://schemas.microsoft.com/office/drawing/2014/main" xmlns="" id="{513E06DB-FAFA-9B05-790E-96CCD3FDDF27}"/>
              </a:ext>
            </a:extLst>
          </p:cNvPr>
          <p:cNvPicPr>
            <a:picLocks noChangeAspect="1"/>
          </p:cNvPicPr>
          <p:nvPr/>
        </p:nvPicPr>
        <p:blipFill>
          <a:blip r:embed="rId4"/>
          <a:stretch>
            <a:fillRect/>
          </a:stretch>
        </p:blipFill>
        <p:spPr>
          <a:xfrm>
            <a:off x="8360021" y="4028271"/>
            <a:ext cx="3023143" cy="2201248"/>
          </a:xfrm>
          <a:prstGeom prst="rect">
            <a:avLst/>
          </a:prstGeom>
        </p:spPr>
      </p:pic>
    </p:spTree>
    <p:extLst>
      <p:ext uri="{BB962C8B-B14F-4D97-AF65-F5344CB8AC3E}">
        <p14:creationId xmlns:p14="http://schemas.microsoft.com/office/powerpoint/2010/main" val="1122429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7</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009225" y="1090275"/>
            <a:ext cx="9477012" cy="2498761"/>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i="0" dirty="0">
                <a:solidFill>
                  <a:srgbClr val="212529"/>
                </a:solidFill>
                <a:effectLst/>
                <a:highlight>
                  <a:srgbClr val="FFFFFF"/>
                </a:highlight>
                <a:latin typeface="Inter"/>
              </a:rPr>
              <a:t>Consider a random point X and we want to know whether it lies on the right side of the plane or the left side of the plane (positive or negative).</a:t>
            </a: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a:p>
            <a:pPr marL="914400" lvl="2" indent="0" fontAlgn="base">
              <a:lnSpc>
                <a:spcPct val="150000"/>
              </a:lnSpc>
              <a:spcBef>
                <a:spcPts val="600"/>
              </a:spcBef>
              <a:buNone/>
            </a:pPr>
            <a:endParaRPr lang="en-US" sz="1800" dirty="0">
              <a:solidFill>
                <a:srgbClr val="212529"/>
              </a:solidFill>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pic>
        <p:nvPicPr>
          <p:cNvPr id="8" name="Picture 7">
            <a:extLst>
              <a:ext uri="{FF2B5EF4-FFF2-40B4-BE49-F238E27FC236}">
                <a16:creationId xmlns:a16="http://schemas.microsoft.com/office/drawing/2014/main" xmlns="" id="{F1A5BD26-9EDF-EA37-706E-F34D4BC71734}"/>
              </a:ext>
            </a:extLst>
          </p:cNvPr>
          <p:cNvPicPr>
            <a:picLocks noChangeAspect="1"/>
          </p:cNvPicPr>
          <p:nvPr/>
        </p:nvPicPr>
        <p:blipFill>
          <a:blip r:embed="rId3"/>
          <a:stretch>
            <a:fillRect/>
          </a:stretch>
        </p:blipFill>
        <p:spPr>
          <a:xfrm>
            <a:off x="4173599" y="2819345"/>
            <a:ext cx="3821095" cy="2919222"/>
          </a:xfrm>
          <a:prstGeom prst="rect">
            <a:avLst/>
          </a:prstGeom>
        </p:spPr>
      </p:pic>
    </p:spTree>
    <p:extLst>
      <p:ext uri="{BB962C8B-B14F-4D97-AF65-F5344CB8AC3E}">
        <p14:creationId xmlns:p14="http://schemas.microsoft.com/office/powerpoint/2010/main" val="3556177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8</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009225" y="1090275"/>
            <a:ext cx="9477012" cy="3406702"/>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b="0" i="0" dirty="0">
                <a:solidFill>
                  <a:srgbClr val="212529"/>
                </a:solidFill>
                <a:effectLst/>
                <a:highlight>
                  <a:srgbClr val="FFFFFF"/>
                </a:highlight>
                <a:latin typeface="Inter"/>
              </a:rPr>
              <a:t>To find this first we assume this point is a vector (X) and then we make a vector (w) which is perpendicular to the hyperplane. Let’s say the distance of vector w from origin to decision boundary is ‘c’. Now we take the projection of X vector on w.</a:t>
            </a:r>
          </a:p>
          <a:p>
            <a:pPr lvl="2" fontAlgn="base">
              <a:lnSpc>
                <a:spcPct val="150000"/>
              </a:lnSpc>
              <a:spcBef>
                <a:spcPts val="600"/>
              </a:spcBef>
              <a:buFont typeface="Wingdings" panose="05000000000000000000" pitchFamily="2" charset="2"/>
              <a:buChar char="q"/>
            </a:pPr>
            <a:endParaRPr lang="en-US" sz="1800" b="0" i="0" dirty="0">
              <a:solidFill>
                <a:srgbClr val="212529"/>
              </a:solidFill>
              <a:effectLst/>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a:p>
            <a:pPr marL="914400" lvl="2" indent="0" fontAlgn="base">
              <a:lnSpc>
                <a:spcPct val="150000"/>
              </a:lnSpc>
              <a:spcBef>
                <a:spcPts val="600"/>
              </a:spcBef>
              <a:buNone/>
            </a:pPr>
            <a:endParaRPr lang="en-US" sz="1800" dirty="0">
              <a:solidFill>
                <a:srgbClr val="212529"/>
              </a:solidFill>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pic>
        <p:nvPicPr>
          <p:cNvPr id="3" name="Picture 2">
            <a:extLst>
              <a:ext uri="{FF2B5EF4-FFF2-40B4-BE49-F238E27FC236}">
                <a16:creationId xmlns:a16="http://schemas.microsoft.com/office/drawing/2014/main" xmlns="" id="{E5C28A29-601F-9EC3-13F9-E24328F4B528}"/>
              </a:ext>
            </a:extLst>
          </p:cNvPr>
          <p:cNvPicPr>
            <a:picLocks noChangeAspect="1"/>
          </p:cNvPicPr>
          <p:nvPr/>
        </p:nvPicPr>
        <p:blipFill>
          <a:blip r:embed="rId3"/>
          <a:stretch>
            <a:fillRect/>
          </a:stretch>
        </p:blipFill>
        <p:spPr>
          <a:xfrm>
            <a:off x="4123154" y="2867234"/>
            <a:ext cx="3945692" cy="3259485"/>
          </a:xfrm>
          <a:prstGeom prst="rect">
            <a:avLst/>
          </a:prstGeom>
        </p:spPr>
      </p:pic>
    </p:spTree>
    <p:extLst>
      <p:ext uri="{BB962C8B-B14F-4D97-AF65-F5344CB8AC3E}">
        <p14:creationId xmlns:p14="http://schemas.microsoft.com/office/powerpoint/2010/main" val="882151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9</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009225" y="1090275"/>
            <a:ext cx="9477012" cy="4237699"/>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We know that projection of any vector or another vector is called dot-product. Hence, we take the dot product of x and w vectors. If the dot product is greater than ‘c’ then we can say that the point lies on the right side. If the dot product is less than ‘c’ then the point is on the left side and if the dot product is equal to ‘c’ then the point lies on the decision boundary.</a:t>
            </a:r>
          </a:p>
          <a:p>
            <a:pPr lvl="2" fontAlgn="base">
              <a:lnSpc>
                <a:spcPct val="150000"/>
              </a:lnSpc>
              <a:spcBef>
                <a:spcPts val="600"/>
              </a:spcBef>
              <a:buFont typeface="Wingdings" panose="05000000000000000000" pitchFamily="2" charset="2"/>
              <a:buChar char="q"/>
            </a:pPr>
            <a:endParaRPr lang="en-US" sz="1800" b="0" i="0" dirty="0">
              <a:solidFill>
                <a:srgbClr val="212529"/>
              </a:solidFill>
              <a:effectLst/>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a:p>
            <a:pPr marL="914400" lvl="2" indent="0" fontAlgn="base">
              <a:lnSpc>
                <a:spcPct val="150000"/>
              </a:lnSpc>
              <a:spcBef>
                <a:spcPts val="600"/>
              </a:spcBef>
              <a:buNone/>
            </a:pPr>
            <a:endParaRPr lang="en-US" sz="1800" dirty="0">
              <a:solidFill>
                <a:srgbClr val="212529"/>
              </a:solidFill>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pic>
        <p:nvPicPr>
          <p:cNvPr id="8" name="Picture 7">
            <a:extLst>
              <a:ext uri="{FF2B5EF4-FFF2-40B4-BE49-F238E27FC236}">
                <a16:creationId xmlns:a16="http://schemas.microsoft.com/office/drawing/2014/main" xmlns="" id="{0E570840-EC5C-C52A-73EE-18C030949679}"/>
              </a:ext>
            </a:extLst>
          </p:cNvPr>
          <p:cNvPicPr>
            <a:picLocks noChangeAspect="1"/>
          </p:cNvPicPr>
          <p:nvPr/>
        </p:nvPicPr>
        <p:blipFill>
          <a:blip r:embed="rId3"/>
          <a:stretch>
            <a:fillRect/>
          </a:stretch>
        </p:blipFill>
        <p:spPr>
          <a:xfrm>
            <a:off x="2820352" y="3760926"/>
            <a:ext cx="7850431" cy="2006799"/>
          </a:xfrm>
          <a:prstGeom prst="rect">
            <a:avLst/>
          </a:prstGeom>
        </p:spPr>
      </p:pic>
    </p:spTree>
    <p:extLst>
      <p:ext uri="{BB962C8B-B14F-4D97-AF65-F5344CB8AC3E}">
        <p14:creationId xmlns:p14="http://schemas.microsoft.com/office/powerpoint/2010/main" val="4260226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10</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009225" y="1090275"/>
            <a:ext cx="9477012" cy="2898870"/>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600" b="0" i="0" dirty="0">
                <a:solidFill>
                  <a:srgbClr val="212529"/>
                </a:solidFill>
                <a:effectLst/>
                <a:highlight>
                  <a:srgbClr val="FFFFFF"/>
                </a:highlight>
                <a:latin typeface="Inter"/>
              </a:rPr>
              <a:t>To classify a point as negative or positive we need to define a decision rule. We can define decision rule as:</a:t>
            </a:r>
          </a:p>
          <a:p>
            <a:pPr lvl="2" fontAlgn="base">
              <a:lnSpc>
                <a:spcPct val="150000"/>
              </a:lnSpc>
              <a:spcBef>
                <a:spcPts val="600"/>
              </a:spcBef>
              <a:buFont typeface="Wingdings" panose="05000000000000000000" pitchFamily="2" charset="2"/>
              <a:buChar char="q"/>
            </a:pPr>
            <a:endParaRPr lang="en-US" sz="1800" b="0" i="0" dirty="0">
              <a:solidFill>
                <a:srgbClr val="212529"/>
              </a:solidFill>
              <a:effectLst/>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a:p>
            <a:pPr marL="914400" lvl="2" indent="0" fontAlgn="base">
              <a:lnSpc>
                <a:spcPct val="150000"/>
              </a:lnSpc>
              <a:spcBef>
                <a:spcPts val="600"/>
              </a:spcBef>
              <a:buNone/>
            </a:pPr>
            <a:endParaRPr lang="en-US" sz="1800" dirty="0">
              <a:solidFill>
                <a:srgbClr val="212529"/>
              </a:solidFill>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pic>
        <p:nvPicPr>
          <p:cNvPr id="3" name="Picture 2">
            <a:extLst>
              <a:ext uri="{FF2B5EF4-FFF2-40B4-BE49-F238E27FC236}">
                <a16:creationId xmlns:a16="http://schemas.microsoft.com/office/drawing/2014/main" xmlns="" id="{D6ECA409-A016-44EF-AAEC-8155F352FB6B}"/>
              </a:ext>
            </a:extLst>
          </p:cNvPr>
          <p:cNvPicPr>
            <a:picLocks noChangeAspect="1"/>
          </p:cNvPicPr>
          <p:nvPr/>
        </p:nvPicPr>
        <p:blipFill>
          <a:blip r:embed="rId3"/>
          <a:stretch>
            <a:fillRect/>
          </a:stretch>
        </p:blipFill>
        <p:spPr>
          <a:xfrm>
            <a:off x="4053359" y="2469159"/>
            <a:ext cx="4392774" cy="3438525"/>
          </a:xfrm>
          <a:prstGeom prst="rect">
            <a:avLst/>
          </a:prstGeom>
        </p:spPr>
      </p:pic>
    </p:spTree>
    <p:extLst>
      <p:ext uri="{BB962C8B-B14F-4D97-AF65-F5344CB8AC3E}">
        <p14:creationId xmlns:p14="http://schemas.microsoft.com/office/powerpoint/2010/main" val="130181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11</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dirty="0" err="1"/>
              <a:t>Lec</a:t>
            </a:r>
            <a:r>
              <a:rPr lang="en-US" spc="10" dirty="0"/>
              <a:t> </a:t>
            </a:r>
            <a:r>
              <a:rPr lang="en-US" dirty="0" err="1"/>
              <a:t>Raiyan</a:t>
            </a:r>
            <a:r>
              <a:rPr lang="en-US" dirty="0"/>
              <a:t>,</a:t>
            </a:r>
            <a:r>
              <a:rPr lang="en-US" spc="-20" dirty="0"/>
              <a:t> </a:t>
            </a:r>
            <a:r>
              <a:rPr lang="en-US" dirty="0"/>
              <a:t>CSE, </a:t>
            </a:r>
            <a:r>
              <a:rPr lang="en-US" spc="-25" dirty="0"/>
              <a:t>UIU</a:t>
            </a:r>
            <a:endParaRPr lang="en-US" spc="-33" dirty="0"/>
          </a:p>
        </p:txBody>
      </p:sp>
      <p:sp>
        <p:nvSpPr>
          <p:cNvPr id="5" name="object 5"/>
          <p:cNvSpPr txBox="1">
            <a:spLocks noGrp="1"/>
          </p:cNvSpPr>
          <p:nvPr>
            <p:ph type="body" idx="1"/>
          </p:nvPr>
        </p:nvSpPr>
        <p:spPr>
          <a:xfrm>
            <a:off x="1009225" y="713249"/>
            <a:ext cx="9477012" cy="4314643"/>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If the value of </a:t>
            </a:r>
            <a:r>
              <a:rPr lang="en-US" sz="18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&gt;0 </a:t>
            </a: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then we can say it is a positive point otherwise it is a negative point. Now we need </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r>
              <a:rPr lang="en-US" sz="18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w,b</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such that the margin has a maximum distance. Let’s say this distance is </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
            </a:r>
          </a:p>
          <a:p>
            <a:pPr lvl="2" fontAlgn="base">
              <a:lnSpc>
                <a:spcPct val="150000"/>
              </a:lnSpc>
              <a:spcBef>
                <a:spcPts val="600"/>
              </a:spcBef>
              <a:buFont typeface="Wingdings" panose="05000000000000000000" pitchFamily="2" charset="2"/>
              <a:buChar char="q"/>
            </a:pP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To calculate ‘d’ we need the equation of L1 and L2.</a:t>
            </a:r>
          </a:p>
          <a:p>
            <a:pPr lvl="2" fontAlgn="base">
              <a:lnSpc>
                <a:spcPct val="150000"/>
              </a:lnSpc>
              <a:spcBef>
                <a:spcPts val="600"/>
              </a:spcBef>
              <a:buFont typeface="Wingdings" panose="05000000000000000000" pitchFamily="2" charset="2"/>
              <a:buChar char="q"/>
            </a:pP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For this, we will take few assumptions that the equation of </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L1 is </a:t>
            </a:r>
            <a:r>
              <a:rPr lang="en-US" sz="18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a:t>
            </a: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and for </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L2 it is </a:t>
            </a:r>
            <a:r>
              <a:rPr lang="en-US" sz="18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a:t>
            </a: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a:p>
            <a:pPr marL="914400" lvl="2" indent="0" fontAlgn="base">
              <a:lnSpc>
                <a:spcPct val="150000"/>
              </a:lnSpc>
              <a:spcBef>
                <a:spcPts val="600"/>
              </a:spcBef>
              <a:buNone/>
            </a:pPr>
            <a:endParaRPr lang="en-US" sz="1800" dirty="0">
              <a:solidFill>
                <a:srgbClr val="212529"/>
              </a:solidFill>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pic>
        <p:nvPicPr>
          <p:cNvPr id="8" name="Picture 7">
            <a:extLst>
              <a:ext uri="{FF2B5EF4-FFF2-40B4-BE49-F238E27FC236}">
                <a16:creationId xmlns:a16="http://schemas.microsoft.com/office/drawing/2014/main" xmlns="" id="{CC3EE869-D197-9E60-3EC4-DE2C4FA84114}"/>
              </a:ext>
            </a:extLst>
          </p:cNvPr>
          <p:cNvPicPr>
            <a:picLocks noChangeAspect="1"/>
          </p:cNvPicPr>
          <p:nvPr/>
        </p:nvPicPr>
        <p:blipFill>
          <a:blip r:embed="rId3"/>
          <a:stretch>
            <a:fillRect/>
          </a:stretch>
        </p:blipFill>
        <p:spPr>
          <a:xfrm>
            <a:off x="4040107" y="3475777"/>
            <a:ext cx="3828812" cy="3146216"/>
          </a:xfrm>
          <a:prstGeom prst="rect">
            <a:avLst/>
          </a:prstGeom>
        </p:spPr>
      </p:pic>
    </p:spTree>
    <p:extLst>
      <p:ext uri="{BB962C8B-B14F-4D97-AF65-F5344CB8AC3E}">
        <p14:creationId xmlns:p14="http://schemas.microsoft.com/office/powerpoint/2010/main" val="3723337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12</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009225" y="1090275"/>
            <a:ext cx="9477012" cy="3883755"/>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6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To calculate ‘d’ we need the equation of L1 and L2. For this, we will take few assumptions that the equation of </a:t>
            </a:r>
            <a:r>
              <a:rPr lang="en-US" sz="16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L1 is </a:t>
            </a:r>
            <a:r>
              <a:rPr lang="en-US" sz="16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6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a:t>
            </a:r>
            <a:r>
              <a:rPr lang="en-US" sz="16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and for </a:t>
            </a:r>
            <a:r>
              <a:rPr lang="en-US" sz="16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L2 it is </a:t>
            </a:r>
            <a:r>
              <a:rPr lang="en-US" sz="16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6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a:t>
            </a:r>
          </a:p>
          <a:p>
            <a:pPr lvl="2" fontAlgn="base">
              <a:lnSpc>
                <a:spcPct val="150000"/>
              </a:lnSpc>
              <a:spcBef>
                <a:spcPts val="600"/>
              </a:spcBef>
              <a:buFont typeface="Wingdings" panose="05000000000000000000" pitchFamily="2" charset="2"/>
              <a:buChar char="q"/>
            </a:pP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Why the magnitude is equal, why didn’t we take 1 and -2?</a:t>
            </a:r>
          </a:p>
          <a:p>
            <a:pPr lvl="2" fontAlgn="base">
              <a:lnSpc>
                <a:spcPct val="150000"/>
              </a:lnSpc>
              <a:spcBef>
                <a:spcPts val="600"/>
              </a:spcBef>
              <a:buFont typeface="Wingdings" panose="05000000000000000000" pitchFamily="2" charset="2"/>
              <a:buChar char="q"/>
            </a:pP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Why did we only take 1 and -1, why not any other value like 24 and -100?</a:t>
            </a:r>
          </a:p>
          <a:p>
            <a:pPr lvl="2" fontAlgn="base">
              <a:lnSpc>
                <a:spcPct val="150000"/>
              </a:lnSpc>
              <a:spcBef>
                <a:spcPts val="600"/>
              </a:spcBef>
              <a:buFont typeface="Wingdings" panose="05000000000000000000" pitchFamily="2" charset="2"/>
              <a:buChar char="q"/>
            </a:pP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Why did we assume this line?</a:t>
            </a: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a:p>
            <a:pPr marL="914400" lvl="2" indent="0" fontAlgn="base">
              <a:lnSpc>
                <a:spcPct val="150000"/>
              </a:lnSpc>
              <a:spcBef>
                <a:spcPts val="600"/>
              </a:spcBef>
              <a:buNone/>
            </a:pPr>
            <a:endParaRPr lang="en-US" sz="1800" dirty="0">
              <a:solidFill>
                <a:srgbClr val="212529"/>
              </a:solidFill>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pic>
        <p:nvPicPr>
          <p:cNvPr id="8" name="Picture 7">
            <a:extLst>
              <a:ext uri="{FF2B5EF4-FFF2-40B4-BE49-F238E27FC236}">
                <a16:creationId xmlns:a16="http://schemas.microsoft.com/office/drawing/2014/main" xmlns="" id="{CC3EE869-D197-9E60-3EC4-DE2C4FA84114}"/>
              </a:ext>
            </a:extLst>
          </p:cNvPr>
          <p:cNvPicPr>
            <a:picLocks noChangeAspect="1"/>
          </p:cNvPicPr>
          <p:nvPr/>
        </p:nvPicPr>
        <p:blipFill>
          <a:blip r:embed="rId3"/>
          <a:stretch>
            <a:fillRect/>
          </a:stretch>
        </p:blipFill>
        <p:spPr>
          <a:xfrm>
            <a:off x="7775112" y="3734396"/>
            <a:ext cx="3082418" cy="2532888"/>
          </a:xfrm>
          <a:prstGeom prst="rect">
            <a:avLst/>
          </a:prstGeom>
        </p:spPr>
      </p:pic>
    </p:spTree>
    <p:extLst>
      <p:ext uri="{BB962C8B-B14F-4D97-AF65-F5344CB8AC3E}">
        <p14:creationId xmlns:p14="http://schemas.microsoft.com/office/powerpoint/2010/main" val="4288872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13</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009225" y="1090275"/>
            <a:ext cx="9860938" cy="5715026"/>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To calculate ‘d’ we need the equation of L1 and L2. For this, we will take few assumptions that the equation of </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L1 is </a:t>
            </a:r>
            <a:r>
              <a:rPr lang="en-US" sz="18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a:t>
            </a: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and for </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L2 it is </a:t>
            </a:r>
            <a:r>
              <a:rPr lang="en-US" sz="18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a:t>
            </a:r>
          </a:p>
          <a:p>
            <a:pPr lvl="2" fontAlgn="base">
              <a:lnSpc>
                <a:spcPct val="150000"/>
              </a:lnSpc>
              <a:spcBef>
                <a:spcPts val="600"/>
              </a:spcBef>
              <a:buFont typeface="Wingdings" panose="05000000000000000000" pitchFamily="2" charset="2"/>
              <a:buChar char="q"/>
            </a:pP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Why the magnitude is equal, why didn’t we take 1 and -2?</a:t>
            </a:r>
          </a:p>
          <a:p>
            <a:pPr lvl="3" fontAlgn="base">
              <a:lnSpc>
                <a:spcPct val="150000"/>
              </a:lnSpc>
              <a:spcBef>
                <a:spcPts val="600"/>
              </a:spcBef>
              <a:buFont typeface="Wingdings" panose="05000000000000000000" pitchFamily="2" charset="2"/>
              <a:buChar char="q"/>
            </a:pPr>
            <a:r>
              <a:rPr lang="en-US" dirty="0">
                <a:solidFill>
                  <a:srgbClr val="212529"/>
                </a:solidFill>
                <a:highlight>
                  <a:srgbClr val="FFFFFF"/>
                </a:highlight>
                <a:latin typeface="Calibri" panose="020F0502020204030204" pitchFamily="34" charset="0"/>
                <a:ea typeface="Calibri" panose="020F0502020204030204" pitchFamily="34" charset="0"/>
                <a:cs typeface="Calibri" panose="020F0502020204030204" pitchFamily="34" charset="0"/>
              </a:rPr>
              <a:t>We want our plane to have equal distance from both the classes that means L should pass through the center of L1 and L2 that’s why we take magnitude equal and opposite.</a:t>
            </a:r>
            <a:endParaRPr lang="en-US"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2" fontAlgn="base">
              <a:lnSpc>
                <a:spcPct val="150000"/>
              </a:lnSpc>
              <a:spcBef>
                <a:spcPts val="600"/>
              </a:spcBef>
              <a:buFont typeface="Wingdings" panose="05000000000000000000" pitchFamily="2" charset="2"/>
              <a:buChar char="q"/>
            </a:pP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Why did we only take 1 and -1, why not any other value like 24 and -</a:t>
            </a:r>
            <a:r>
              <a:rPr lang="en-US" sz="1800" b="1" dirty="0">
                <a:solidFill>
                  <a:srgbClr val="212529"/>
                </a:solidFill>
                <a:highlight>
                  <a:srgbClr val="FFFFFF"/>
                </a:highlight>
                <a:latin typeface="Calibri" panose="020F0502020204030204" pitchFamily="34" charset="0"/>
                <a:ea typeface="Calibri" panose="020F0502020204030204" pitchFamily="34" charset="0"/>
                <a:cs typeface="Calibri" panose="020F0502020204030204" pitchFamily="34" charset="0"/>
              </a:rPr>
              <a:t>24</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a:p>
            <a:pPr lvl="3" fontAlgn="base">
              <a:lnSpc>
                <a:spcPct val="150000"/>
              </a:lnSpc>
              <a:spcBef>
                <a:spcPts val="600"/>
              </a:spcBef>
              <a:buFont typeface="Wingdings" panose="05000000000000000000" pitchFamily="2" charset="2"/>
              <a:buChar char="q"/>
            </a:pPr>
            <a:r>
              <a:rPr lang="en-US"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Let’s say the equation of our hyperplane </a:t>
            </a:r>
            <a:r>
              <a:rPr lang="en-US"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is 2x+3y+3=0 L1: 2x+3y+3=1</a:t>
            </a:r>
            <a:r>
              <a:rPr lang="en-US"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r>
              <a:rPr lang="en-US"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L2:2x+3y+3=-1</a:t>
            </a:r>
            <a:r>
              <a:rPr lang="en-US"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we observe that even if we multiply the whole equation with some other number the line doesn’t change. Hence for mathematical convenience, we take it as 1.</a:t>
            </a: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a:p>
            <a:pPr marL="914400" lvl="2" indent="0" fontAlgn="base">
              <a:lnSpc>
                <a:spcPct val="150000"/>
              </a:lnSpc>
              <a:spcBef>
                <a:spcPts val="600"/>
              </a:spcBef>
              <a:buNone/>
            </a:pPr>
            <a:endParaRPr lang="en-US" sz="1800" dirty="0">
              <a:solidFill>
                <a:srgbClr val="212529"/>
              </a:solidFill>
              <a:highlight>
                <a:srgbClr val="FFFFFF"/>
              </a:highlight>
              <a:latin typeface="Inter"/>
            </a:endParaRP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spTree>
    <p:extLst>
      <p:ext uri="{BB962C8B-B14F-4D97-AF65-F5344CB8AC3E}">
        <p14:creationId xmlns:p14="http://schemas.microsoft.com/office/powerpoint/2010/main" val="363781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14</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009225" y="758613"/>
            <a:ext cx="10084873" cy="5327099"/>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To calculate ‘d’ we need the equation of L1 and L2. For this, we will take few assumptions that the equation of </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L1 is </a:t>
            </a:r>
            <a:r>
              <a:rPr lang="en-US" sz="18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a:t>
            </a:r>
            <a:r>
              <a:rPr lang="en-US" sz="1800"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and for </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L2 it is </a:t>
            </a:r>
            <a:r>
              <a:rPr lang="en-US" sz="1800" b="1"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w.x+b</a:t>
            </a: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a:t>
            </a:r>
          </a:p>
          <a:p>
            <a:pPr lvl="2" fontAlgn="base">
              <a:lnSpc>
                <a:spcPct val="150000"/>
              </a:lnSpc>
              <a:spcBef>
                <a:spcPts val="600"/>
              </a:spcBef>
              <a:buFont typeface="Wingdings" panose="05000000000000000000" pitchFamily="2" charset="2"/>
              <a:buChar char="q"/>
            </a:pPr>
            <a:r>
              <a:rPr lang="en-US" sz="1800" b="1"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Now the main question is exactly why there’s a need to assume only this line? </a:t>
            </a:r>
          </a:p>
          <a:p>
            <a:pPr lvl="3" fontAlgn="base">
              <a:lnSpc>
                <a:spcPct val="150000"/>
              </a:lnSpc>
              <a:spcBef>
                <a:spcPts val="600"/>
              </a:spcBef>
              <a:buFont typeface="Wingdings" panose="05000000000000000000" pitchFamily="2" charset="2"/>
              <a:buChar char="q"/>
            </a:pPr>
            <a:r>
              <a:rPr lang="en-US" b="0"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If you multiply these equations by 10, we will see that the parallel line (red and green) gets closer to our hyperplane. For more clarity look at this graph. (</a:t>
            </a:r>
            <a:r>
              <a:rPr lang="en-US" b="1" i="0" u="sng" dirty="0">
                <a:effectLst/>
                <a:latin typeface="Calibri" panose="020F0502020204030204" pitchFamily="34" charset="0"/>
                <a:ea typeface="Calibri" panose="020F0502020204030204" pitchFamily="34" charset="0"/>
                <a:cs typeface="Calibri" panose="020F0502020204030204" pitchFamily="34" charset="0"/>
                <a:hlinkClick r:id="rId3"/>
              </a:rPr>
              <a:t>https://www.desmos.com/calculator/dvjo3vacyp</a:t>
            </a:r>
            <a:r>
              <a:rPr lang="en-US" b="0"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a:t>
            </a:r>
          </a:p>
          <a:p>
            <a:pPr lvl="3" fontAlgn="base">
              <a:lnSpc>
                <a:spcPct val="150000"/>
              </a:lnSpc>
              <a:spcBef>
                <a:spcPts val="600"/>
              </a:spcBef>
              <a:buFont typeface="Wingdings" panose="05000000000000000000" pitchFamily="2" charset="2"/>
              <a:buChar char="q"/>
            </a:pPr>
            <a:r>
              <a:rPr lang="en-US"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If we divide this equation by 10 then these parallel lines get bigger. </a:t>
            </a:r>
            <a:r>
              <a:rPr lang="en-US" b="0"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a:t>
            </a:r>
            <a:r>
              <a:rPr lang="en-US" b="1" i="0" u="sng" dirty="0">
                <a:effectLst/>
                <a:latin typeface="Calibri" panose="020F0502020204030204" pitchFamily="34" charset="0"/>
                <a:ea typeface="Calibri" panose="020F0502020204030204" pitchFamily="34" charset="0"/>
                <a:cs typeface="Calibri" panose="020F0502020204030204" pitchFamily="34" charset="0"/>
                <a:hlinkClick r:id="rId4"/>
              </a:rPr>
              <a:t>https://www.desmos.com/calculator/15dbwehq9g</a:t>
            </a:r>
            <a:r>
              <a:rPr lang="en-US" b="0"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a:t>
            </a:r>
            <a:endParaRPr lang="en-US"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2" fontAlgn="base">
              <a:lnSpc>
                <a:spcPct val="100000"/>
              </a:lnSpc>
              <a:spcBef>
                <a:spcPts val="600"/>
              </a:spcBef>
              <a:buFont typeface="Wingdings" panose="05000000000000000000" pitchFamily="2" charset="2"/>
              <a:buChar char="q"/>
            </a:pPr>
            <a:r>
              <a:rPr lang="en-US" sz="1800" dirty="0">
                <a:solidFill>
                  <a:srgbClr val="212529"/>
                </a:solidFill>
                <a:highlight>
                  <a:srgbClr val="FFFFFF"/>
                </a:highlight>
                <a:latin typeface="Calibri" panose="020F0502020204030204" pitchFamily="34" charset="0"/>
                <a:ea typeface="Calibri" panose="020F0502020204030204" pitchFamily="34" charset="0"/>
                <a:cs typeface="Calibri" panose="020F0502020204030204" pitchFamily="34" charset="0"/>
              </a:rPr>
              <a:t>T</a:t>
            </a:r>
            <a:r>
              <a:rPr lang="en-US" sz="18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he parallel lines depend on (</a:t>
            </a:r>
            <a:r>
              <a:rPr lang="en-US" sz="1800"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w,b</a:t>
            </a:r>
            <a:r>
              <a:rPr lang="en-US" sz="18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of our hyperplane, if we multiply the equation of hyperplane with a factor greater than 1 then the parallel lines will shrink and if we multiply with a factor less than 1, they expand.</a:t>
            </a:r>
          </a:p>
          <a:p>
            <a:pPr lvl="2" fontAlgn="base">
              <a:lnSpc>
                <a:spcPct val="100000"/>
              </a:lnSpc>
              <a:spcBef>
                <a:spcPts val="600"/>
              </a:spcBef>
              <a:buFont typeface="Wingdings" panose="05000000000000000000" pitchFamily="2" charset="2"/>
              <a:buChar char="q"/>
            </a:pPr>
            <a:r>
              <a:rPr lang="en-US" sz="18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We can now say that these lines will move as we do changes in (</a:t>
            </a:r>
            <a:r>
              <a:rPr lang="en-US" sz="1800" i="0" dirty="0" err="1">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w,b</a:t>
            </a:r>
            <a:r>
              <a:rPr lang="en-US" sz="18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and this is how this gets optimized.</a:t>
            </a:r>
          </a:p>
        </p:txBody>
      </p:sp>
    </p:spTree>
    <p:extLst>
      <p:ext uri="{BB962C8B-B14F-4D97-AF65-F5344CB8AC3E}">
        <p14:creationId xmlns:p14="http://schemas.microsoft.com/office/powerpoint/2010/main" val="592971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15</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009225" y="1090275"/>
            <a:ext cx="9477012" cy="1513876"/>
          </a:xfrm>
          <a:prstGeom prst="rect">
            <a:avLst/>
          </a:prstGeom>
        </p:spPr>
        <p:txBody>
          <a:bodyPr vert="horz" wrap="square" lIns="0" tIns="231140" rIns="0" bIns="0" rtlCol="0">
            <a:spAutoFit/>
          </a:bodyPr>
          <a:lstStyle/>
          <a:p>
            <a:pPr lvl="2" fontAlgn="base">
              <a:lnSpc>
                <a:spcPct val="150000"/>
              </a:lnSpc>
              <a:spcBef>
                <a:spcPts val="600"/>
              </a:spcBef>
              <a:buFont typeface="Wingdings" panose="05000000000000000000" pitchFamily="2" charset="2"/>
              <a:buChar char="q"/>
            </a:pPr>
            <a:r>
              <a:rPr lang="en-US" sz="180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We’ll calculate the distance (d) in such a way that no positive or negative point can cross the margin line”. </a:t>
            </a:r>
          </a:p>
          <a:p>
            <a:pPr lvl="2" fontAlgn="base">
              <a:lnSpc>
                <a:spcPct val="150000"/>
              </a:lnSpc>
              <a:spcBef>
                <a:spcPts val="600"/>
              </a:spcBef>
              <a:buFont typeface="Wingdings" panose="05000000000000000000" pitchFamily="2" charset="2"/>
              <a:buChar char="q"/>
            </a:pPr>
            <a:endParaRPr lang="en-US" sz="1800" i="0" dirty="0">
              <a:solidFill>
                <a:srgbClr val="212529"/>
              </a:solidFill>
              <a:effectLst/>
              <a:highlight>
                <a:srgbClr val="FFFFFF"/>
              </a:highlight>
              <a:latin typeface="Inter"/>
            </a:endParaRPr>
          </a:p>
        </p:txBody>
      </p:sp>
      <p:pic>
        <p:nvPicPr>
          <p:cNvPr id="3" name="Picture 2">
            <a:extLst>
              <a:ext uri="{FF2B5EF4-FFF2-40B4-BE49-F238E27FC236}">
                <a16:creationId xmlns:a16="http://schemas.microsoft.com/office/drawing/2014/main" xmlns="" id="{C633A991-A28C-42C9-E183-257558539BFA}"/>
              </a:ext>
            </a:extLst>
          </p:cNvPr>
          <p:cNvPicPr>
            <a:picLocks noChangeAspect="1"/>
          </p:cNvPicPr>
          <p:nvPr/>
        </p:nvPicPr>
        <p:blipFill>
          <a:blip r:embed="rId3"/>
          <a:stretch>
            <a:fillRect/>
          </a:stretch>
        </p:blipFill>
        <p:spPr>
          <a:xfrm>
            <a:off x="3109306" y="2175409"/>
            <a:ext cx="5276850" cy="1162050"/>
          </a:xfrm>
          <a:prstGeom prst="rect">
            <a:avLst/>
          </a:prstGeom>
        </p:spPr>
      </p:pic>
      <p:sp>
        <p:nvSpPr>
          <p:cNvPr id="9" name="TextBox 8">
            <a:extLst>
              <a:ext uri="{FF2B5EF4-FFF2-40B4-BE49-F238E27FC236}">
                <a16:creationId xmlns:a16="http://schemas.microsoft.com/office/drawing/2014/main" xmlns="" id="{2FA31A6E-30A9-725A-B63C-A971BFEA138F}"/>
              </a:ext>
            </a:extLst>
          </p:cNvPr>
          <p:cNvSpPr txBox="1"/>
          <p:nvPr/>
        </p:nvSpPr>
        <p:spPr>
          <a:xfrm>
            <a:off x="2070369" y="3520541"/>
            <a:ext cx="8509577" cy="1754326"/>
          </a:xfrm>
          <a:prstGeom prst="rect">
            <a:avLst/>
          </a:prstGeom>
          <a:noFill/>
        </p:spPr>
        <p:txBody>
          <a:bodyPr wrap="square">
            <a:spAutoFit/>
          </a:bodyPr>
          <a:lstStyle/>
          <a:p>
            <a:pPr marL="285750" indent="-285750">
              <a:buFont typeface="Wingdings" panose="05000000000000000000" pitchFamily="2" charset="2"/>
              <a:buChar char="q"/>
            </a:pPr>
            <a:r>
              <a:rPr lang="en-US" dirty="0">
                <a:latin typeface="Calibri" panose="020F0502020204030204" pitchFamily="34" charset="0"/>
                <a:ea typeface="Calibri" panose="020F0502020204030204" pitchFamily="34" charset="0"/>
                <a:cs typeface="Calibri" panose="020F0502020204030204" pitchFamily="34" charset="0"/>
              </a:rPr>
              <a:t>Rather than taking 2 constraints forward, we’ll now try to simplify these two constraints into 1. We assume that negative classes have y=-1 and positive classes have y=1.</a:t>
            </a:r>
          </a:p>
          <a:p>
            <a:pPr marL="285750" indent="-285750">
              <a:buFont typeface="Wingdings" panose="05000000000000000000" pitchFamily="2" charset="2"/>
              <a:buChar char="q"/>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en-US" dirty="0">
                <a:latin typeface="Calibri" panose="020F0502020204030204" pitchFamily="34" charset="0"/>
                <a:ea typeface="Calibri" panose="020F0502020204030204" pitchFamily="34" charset="0"/>
                <a:cs typeface="Calibri" panose="020F0502020204030204" pitchFamily="34" charset="0"/>
              </a:rPr>
              <a:t>We can say that for every point to be correctly classified this condition should always be true:</a:t>
            </a:r>
          </a:p>
        </p:txBody>
      </p:sp>
      <p:pic>
        <p:nvPicPr>
          <p:cNvPr id="10" name="Picture 9">
            <a:extLst>
              <a:ext uri="{FF2B5EF4-FFF2-40B4-BE49-F238E27FC236}">
                <a16:creationId xmlns:a16="http://schemas.microsoft.com/office/drawing/2014/main" xmlns="" id="{4832A11D-C98E-1EA5-3C63-905F227884A9}"/>
              </a:ext>
            </a:extLst>
          </p:cNvPr>
          <p:cNvPicPr>
            <a:picLocks noChangeAspect="1"/>
          </p:cNvPicPr>
          <p:nvPr/>
        </p:nvPicPr>
        <p:blipFill>
          <a:blip r:embed="rId4"/>
          <a:stretch>
            <a:fillRect/>
          </a:stretch>
        </p:blipFill>
        <p:spPr>
          <a:xfrm>
            <a:off x="5119147" y="5619757"/>
            <a:ext cx="2200275" cy="571500"/>
          </a:xfrm>
          <a:prstGeom prst="rect">
            <a:avLst/>
          </a:prstGeom>
        </p:spPr>
      </p:pic>
    </p:spTree>
    <p:extLst>
      <p:ext uri="{BB962C8B-B14F-4D97-AF65-F5344CB8AC3E}">
        <p14:creationId xmlns:p14="http://schemas.microsoft.com/office/powerpoint/2010/main" val="1066739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16</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pic>
        <p:nvPicPr>
          <p:cNvPr id="8" name="Picture 7">
            <a:extLst>
              <a:ext uri="{FF2B5EF4-FFF2-40B4-BE49-F238E27FC236}">
                <a16:creationId xmlns:a16="http://schemas.microsoft.com/office/drawing/2014/main" xmlns="" id="{D531A1B0-40C7-3656-4970-016AF1DDCC2E}"/>
              </a:ext>
            </a:extLst>
          </p:cNvPr>
          <p:cNvPicPr>
            <a:picLocks noChangeAspect="1"/>
          </p:cNvPicPr>
          <p:nvPr/>
        </p:nvPicPr>
        <p:blipFill>
          <a:blip r:embed="rId3"/>
          <a:stretch>
            <a:fillRect/>
          </a:stretch>
        </p:blipFill>
        <p:spPr>
          <a:xfrm>
            <a:off x="8057806" y="986965"/>
            <a:ext cx="3670174" cy="2925276"/>
          </a:xfrm>
          <a:prstGeom prst="rect">
            <a:avLst/>
          </a:prstGeom>
        </p:spPr>
      </p:pic>
      <p:pic>
        <p:nvPicPr>
          <p:cNvPr id="11" name="Picture 10">
            <a:extLst>
              <a:ext uri="{FF2B5EF4-FFF2-40B4-BE49-F238E27FC236}">
                <a16:creationId xmlns:a16="http://schemas.microsoft.com/office/drawing/2014/main" xmlns="" id="{FA9516BC-9A25-E980-B499-92033DE8B8A8}"/>
              </a:ext>
            </a:extLst>
          </p:cNvPr>
          <p:cNvPicPr>
            <a:picLocks noChangeAspect="1"/>
          </p:cNvPicPr>
          <p:nvPr/>
        </p:nvPicPr>
        <p:blipFill>
          <a:blip r:embed="rId4"/>
          <a:stretch>
            <a:fillRect/>
          </a:stretch>
        </p:blipFill>
        <p:spPr>
          <a:xfrm>
            <a:off x="1506805" y="2290871"/>
            <a:ext cx="4061281" cy="1667436"/>
          </a:xfrm>
          <a:prstGeom prst="rect">
            <a:avLst/>
          </a:prstGeom>
        </p:spPr>
      </p:pic>
      <p:pic>
        <p:nvPicPr>
          <p:cNvPr id="14" name="Picture 13">
            <a:extLst>
              <a:ext uri="{FF2B5EF4-FFF2-40B4-BE49-F238E27FC236}">
                <a16:creationId xmlns:a16="http://schemas.microsoft.com/office/drawing/2014/main" xmlns="" id="{729C154D-0A34-AC28-87BB-401AD545EBA3}"/>
              </a:ext>
            </a:extLst>
          </p:cNvPr>
          <p:cNvPicPr>
            <a:picLocks noChangeAspect="1"/>
          </p:cNvPicPr>
          <p:nvPr/>
        </p:nvPicPr>
        <p:blipFill>
          <a:blip r:embed="rId5"/>
          <a:stretch>
            <a:fillRect/>
          </a:stretch>
        </p:blipFill>
        <p:spPr>
          <a:xfrm>
            <a:off x="1506805" y="4013801"/>
            <a:ext cx="4185115" cy="2598167"/>
          </a:xfrm>
          <a:prstGeom prst="rect">
            <a:avLst/>
          </a:prstGeom>
        </p:spPr>
      </p:pic>
      <p:pic>
        <p:nvPicPr>
          <p:cNvPr id="15" name="Picture 14">
            <a:extLst>
              <a:ext uri="{FF2B5EF4-FFF2-40B4-BE49-F238E27FC236}">
                <a16:creationId xmlns:a16="http://schemas.microsoft.com/office/drawing/2014/main" xmlns="" id="{3FE16540-7822-8927-E831-E83404F9D86C}"/>
              </a:ext>
            </a:extLst>
          </p:cNvPr>
          <p:cNvPicPr>
            <a:picLocks noChangeAspect="1"/>
          </p:cNvPicPr>
          <p:nvPr/>
        </p:nvPicPr>
        <p:blipFill>
          <a:blip r:embed="rId6"/>
          <a:stretch>
            <a:fillRect/>
          </a:stretch>
        </p:blipFill>
        <p:spPr>
          <a:xfrm>
            <a:off x="6732725" y="4836502"/>
            <a:ext cx="4210050" cy="1895475"/>
          </a:xfrm>
          <a:prstGeom prst="rect">
            <a:avLst/>
          </a:prstGeom>
        </p:spPr>
      </p:pic>
      <p:sp>
        <p:nvSpPr>
          <p:cNvPr id="18" name="TextBox 17">
            <a:extLst>
              <a:ext uri="{FF2B5EF4-FFF2-40B4-BE49-F238E27FC236}">
                <a16:creationId xmlns:a16="http://schemas.microsoft.com/office/drawing/2014/main" xmlns="" id="{60EB8FDB-923A-3826-B3F2-C5BD622C57D5}"/>
              </a:ext>
            </a:extLst>
          </p:cNvPr>
          <p:cNvSpPr txBox="1"/>
          <p:nvPr/>
        </p:nvSpPr>
        <p:spPr>
          <a:xfrm>
            <a:off x="6732725" y="4154245"/>
            <a:ext cx="4562707" cy="646331"/>
          </a:xfrm>
          <a:prstGeom prst="rect">
            <a:avLst/>
          </a:prstGeom>
          <a:noFill/>
        </p:spPr>
        <p:txBody>
          <a:bodyPr wrap="square">
            <a:spAutoFit/>
          </a:bodyPr>
          <a:lstStyle/>
          <a:p>
            <a:r>
              <a:rPr lang="en-US" b="0" i="0" dirty="0">
                <a:solidFill>
                  <a:srgbClr val="212529"/>
                </a:solidFill>
                <a:effectLst/>
                <a:latin typeface="Inter"/>
              </a:rPr>
              <a:t>Putting equations (2) and (3) in equation (1) we get:</a:t>
            </a:r>
            <a:endParaRPr lang="en-US" dirty="0"/>
          </a:p>
        </p:txBody>
      </p:sp>
      <p:sp>
        <p:nvSpPr>
          <p:cNvPr id="20" name="TextBox 19">
            <a:extLst>
              <a:ext uri="{FF2B5EF4-FFF2-40B4-BE49-F238E27FC236}">
                <a16:creationId xmlns:a16="http://schemas.microsoft.com/office/drawing/2014/main" xmlns="" id="{DB241E3D-DED5-F13D-C3ED-639E14D82456}"/>
              </a:ext>
            </a:extLst>
          </p:cNvPr>
          <p:cNvSpPr txBox="1"/>
          <p:nvPr/>
        </p:nvSpPr>
        <p:spPr>
          <a:xfrm>
            <a:off x="1588347" y="877334"/>
            <a:ext cx="6668694" cy="1477328"/>
          </a:xfrm>
          <a:prstGeom prst="rect">
            <a:avLst/>
          </a:prstGeom>
          <a:noFill/>
        </p:spPr>
        <p:txBody>
          <a:bodyPr wrap="square">
            <a:spAutoFit/>
          </a:bodyPr>
          <a:lstStyle/>
          <a:p>
            <a:r>
              <a:rPr lang="en-US" b="0"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The distance between these two vectors x1 and x2 will be </a:t>
            </a:r>
            <a:r>
              <a:rPr lang="en-US" b="0" i="1"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(x2-x1) vector</a:t>
            </a:r>
            <a:r>
              <a:rPr lang="en-US" b="0"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 What we need is, the shortest distance between these two points which can be found using a trick we used in the dot product. We take a vector ‘w’ perpendicular to the hyperplane and then find the projection of (x2-x1) vector on ‘w’.</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2591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Mathematical Intuition</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17</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TextBox 4">
            <a:extLst>
              <a:ext uri="{FF2B5EF4-FFF2-40B4-BE49-F238E27FC236}">
                <a16:creationId xmlns:a16="http://schemas.microsoft.com/office/drawing/2014/main" xmlns="" id="{D244E3E1-94C6-6700-A98D-0F6DD0463A9B}"/>
              </a:ext>
            </a:extLst>
          </p:cNvPr>
          <p:cNvSpPr txBox="1"/>
          <p:nvPr/>
        </p:nvSpPr>
        <p:spPr>
          <a:xfrm>
            <a:off x="1520190" y="1168646"/>
            <a:ext cx="6094476" cy="369332"/>
          </a:xfrm>
          <a:prstGeom prst="rect">
            <a:avLst/>
          </a:prstGeom>
          <a:noFill/>
        </p:spPr>
        <p:txBody>
          <a:bodyPr wrap="square">
            <a:spAutoFit/>
          </a:bodyPr>
          <a:lstStyle/>
          <a:p>
            <a:pPr marL="285750" indent="-285750">
              <a:buFont typeface="Wingdings" panose="05000000000000000000" pitchFamily="2" charset="2"/>
              <a:buChar char="q"/>
            </a:pPr>
            <a:r>
              <a:rPr lang="en-US" b="0" i="0" dirty="0">
                <a:solidFill>
                  <a:srgbClr val="212529"/>
                </a:solidFill>
                <a:effectLst/>
                <a:latin typeface="Inter"/>
              </a:rPr>
              <a:t>Hence the equation which we have to maximize is:</a:t>
            </a:r>
            <a:endParaRPr lang="en-US" dirty="0"/>
          </a:p>
        </p:txBody>
      </p:sp>
      <p:pic>
        <p:nvPicPr>
          <p:cNvPr id="9" name="Picture 8">
            <a:extLst>
              <a:ext uri="{FF2B5EF4-FFF2-40B4-BE49-F238E27FC236}">
                <a16:creationId xmlns:a16="http://schemas.microsoft.com/office/drawing/2014/main" xmlns="" id="{D5A4F9F3-CF79-EC82-155C-CD0E5272B0E0}"/>
              </a:ext>
            </a:extLst>
          </p:cNvPr>
          <p:cNvPicPr>
            <a:picLocks noChangeAspect="1"/>
          </p:cNvPicPr>
          <p:nvPr/>
        </p:nvPicPr>
        <p:blipFill>
          <a:blip r:embed="rId3"/>
          <a:stretch>
            <a:fillRect/>
          </a:stretch>
        </p:blipFill>
        <p:spPr>
          <a:xfrm>
            <a:off x="1588346" y="1616338"/>
            <a:ext cx="6086475" cy="1200150"/>
          </a:xfrm>
          <a:prstGeom prst="rect">
            <a:avLst/>
          </a:prstGeom>
        </p:spPr>
      </p:pic>
      <p:sp>
        <p:nvSpPr>
          <p:cNvPr id="12" name="TextBox 11">
            <a:extLst>
              <a:ext uri="{FF2B5EF4-FFF2-40B4-BE49-F238E27FC236}">
                <a16:creationId xmlns:a16="http://schemas.microsoft.com/office/drawing/2014/main" xmlns="" id="{3E74F4A4-4E91-6D81-F411-991A9440CE60}"/>
              </a:ext>
            </a:extLst>
          </p:cNvPr>
          <p:cNvSpPr txBox="1"/>
          <p:nvPr/>
        </p:nvSpPr>
        <p:spPr>
          <a:xfrm>
            <a:off x="1231798" y="4640351"/>
            <a:ext cx="9192291" cy="1477328"/>
          </a:xfrm>
          <a:prstGeom prst="rect">
            <a:avLst/>
          </a:prstGeom>
          <a:noFill/>
        </p:spPr>
        <p:txBody>
          <a:bodyPr wrap="square">
            <a:spAutoFit/>
          </a:bodyPr>
          <a:lstStyle/>
          <a:p>
            <a:pPr marL="285750" indent="-285750">
              <a:buFont typeface="Wingdings" panose="05000000000000000000" pitchFamily="2" charset="2"/>
              <a:buChar char="q"/>
            </a:pPr>
            <a:endParaRPr lang="en-US" b="0" i="0" dirty="0">
              <a:solidFill>
                <a:srgbClr val="212529"/>
              </a:solidFill>
              <a:effectLst/>
              <a:latin typeface="Inter"/>
            </a:endParaRPr>
          </a:p>
          <a:p>
            <a:pPr marL="285750" indent="-285750">
              <a:buFont typeface="Wingdings" panose="05000000000000000000" pitchFamily="2" charset="2"/>
              <a:buChar char="q"/>
            </a:pPr>
            <a:r>
              <a:rPr lang="en-US" b="0"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we don’t find this type of perfectly linearly separable data in the industry, there is hardly any case we get this type of data and hence we fail to use this condition we proved here. The type of problem which we just studied is called </a:t>
            </a:r>
            <a:r>
              <a:rPr lang="en-US" b="1"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Hard Margin SVM </a:t>
            </a:r>
            <a:r>
              <a:rPr lang="en-US" b="0"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now we shall study soft margin which is similar to this but there are few more interesting tricks we use in</a:t>
            </a:r>
            <a:r>
              <a:rPr lang="en-US" b="1" i="0" dirty="0">
                <a:solidFill>
                  <a:srgbClr val="212529"/>
                </a:solidFill>
                <a:effectLst/>
                <a:latin typeface="Calibri" panose="020F0502020204030204" pitchFamily="34" charset="0"/>
                <a:ea typeface="Calibri" panose="020F0502020204030204" pitchFamily="34" charset="0"/>
                <a:cs typeface="Calibri" panose="020F0502020204030204" pitchFamily="34" charset="0"/>
              </a:rPr>
              <a:t> Soft Margin SVM.</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6" name="AutoShape 4" descr="Soft margin Support Vector Machine equation">
            <a:extLst>
              <a:ext uri="{FF2B5EF4-FFF2-40B4-BE49-F238E27FC236}">
                <a16:creationId xmlns:a16="http://schemas.microsoft.com/office/drawing/2014/main" xmlns="" id="{89305BC4-6485-6A88-A5BB-387FAE61A9A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TextBox 20">
            <a:extLst>
              <a:ext uri="{FF2B5EF4-FFF2-40B4-BE49-F238E27FC236}">
                <a16:creationId xmlns:a16="http://schemas.microsoft.com/office/drawing/2014/main" xmlns="" id="{DE148EB9-D864-4948-B49F-271277088EC1}"/>
              </a:ext>
            </a:extLst>
          </p:cNvPr>
          <p:cNvSpPr txBox="1"/>
          <p:nvPr/>
        </p:nvSpPr>
        <p:spPr>
          <a:xfrm>
            <a:off x="1588346" y="2805179"/>
            <a:ext cx="8479197" cy="646331"/>
          </a:xfrm>
          <a:prstGeom prst="rect">
            <a:avLst/>
          </a:prstGeom>
          <a:noFill/>
        </p:spPr>
        <p:txBody>
          <a:bodyPr wrap="square">
            <a:spAutoFit/>
          </a:bodyPr>
          <a:lstStyle/>
          <a:p>
            <a:pPr marL="285750" indent="-285750">
              <a:buFont typeface="Wingdings" panose="05000000000000000000" pitchFamily="2" charset="2"/>
              <a:buChar char="q"/>
            </a:pPr>
            <a:r>
              <a:rPr lang="en-US" b="0" i="0" dirty="0">
                <a:solidFill>
                  <a:srgbClr val="212529"/>
                </a:solidFill>
                <a:effectLst/>
                <a:latin typeface="Inter"/>
              </a:rPr>
              <a:t>it is common practice to minimize a cost function for optimization problems; therefore, we can invert the function.</a:t>
            </a:r>
            <a:endParaRPr lang="en-US" dirty="0"/>
          </a:p>
        </p:txBody>
      </p:sp>
      <p:pic>
        <p:nvPicPr>
          <p:cNvPr id="22" name="Picture 21">
            <a:extLst>
              <a:ext uri="{FF2B5EF4-FFF2-40B4-BE49-F238E27FC236}">
                <a16:creationId xmlns:a16="http://schemas.microsoft.com/office/drawing/2014/main" xmlns="" id="{23B6A961-CEA0-D7D0-6786-FD933AB7EC3D}"/>
              </a:ext>
            </a:extLst>
          </p:cNvPr>
          <p:cNvPicPr>
            <a:picLocks noChangeAspect="1"/>
          </p:cNvPicPr>
          <p:nvPr/>
        </p:nvPicPr>
        <p:blipFill>
          <a:blip r:embed="rId4"/>
          <a:stretch>
            <a:fillRect/>
          </a:stretch>
        </p:blipFill>
        <p:spPr>
          <a:xfrm>
            <a:off x="1830069" y="3638157"/>
            <a:ext cx="6038850" cy="828675"/>
          </a:xfrm>
          <a:prstGeom prst="rect">
            <a:avLst/>
          </a:prstGeom>
        </p:spPr>
      </p:pic>
    </p:spTree>
    <p:extLst>
      <p:ext uri="{BB962C8B-B14F-4D97-AF65-F5344CB8AC3E}">
        <p14:creationId xmlns:p14="http://schemas.microsoft.com/office/powerpoint/2010/main" val="3923599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Soft Margin SVM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18</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TextBox 4">
            <a:extLst>
              <a:ext uri="{FF2B5EF4-FFF2-40B4-BE49-F238E27FC236}">
                <a16:creationId xmlns:a16="http://schemas.microsoft.com/office/drawing/2014/main" xmlns="" id="{D244E3E1-94C6-6700-A98D-0F6DD0463A9B}"/>
              </a:ext>
            </a:extLst>
          </p:cNvPr>
          <p:cNvSpPr txBox="1"/>
          <p:nvPr/>
        </p:nvSpPr>
        <p:spPr>
          <a:xfrm>
            <a:off x="1511046" y="990444"/>
            <a:ext cx="9178290" cy="1754326"/>
          </a:xfrm>
          <a:prstGeom prst="rect">
            <a:avLst/>
          </a:prstGeom>
          <a:noFill/>
        </p:spPr>
        <p:txBody>
          <a:bodyPr wrap="square">
            <a:spAutoFit/>
          </a:bodyPr>
          <a:lstStyle/>
          <a:p>
            <a:pPr marL="285750" indent="-285750">
              <a:buFont typeface="Wingdings" panose="05000000000000000000" pitchFamily="2" charset="2"/>
              <a:buChar char="q"/>
            </a:pPr>
            <a:r>
              <a:rPr lang="en-US" b="0" i="0" dirty="0">
                <a:solidFill>
                  <a:srgbClr val="212529"/>
                </a:solidFill>
                <a:effectLst/>
                <a:latin typeface="Inter"/>
              </a:rPr>
              <a:t>In real-life applications, we rarely encounter datasets that are perfectly linearly separable. Instead, we often come across datasets that are either nearly linearly separable or entirely non-linearly separable.</a:t>
            </a:r>
          </a:p>
          <a:p>
            <a:pPr marL="285750" indent="-285750">
              <a:buFont typeface="Wingdings" panose="05000000000000000000" pitchFamily="2" charset="2"/>
              <a:buChar char="q"/>
            </a:pPr>
            <a:endParaRPr lang="en-US" dirty="0">
              <a:solidFill>
                <a:srgbClr val="212529"/>
              </a:solidFill>
              <a:latin typeface="Inter"/>
            </a:endParaRPr>
          </a:p>
          <a:p>
            <a:pPr marL="285750" indent="-285750">
              <a:buFont typeface="Wingdings" panose="05000000000000000000" pitchFamily="2" charset="2"/>
              <a:buChar char="q"/>
            </a:pPr>
            <a:r>
              <a:rPr lang="en-US" b="0" i="0" dirty="0">
                <a:solidFill>
                  <a:srgbClr val="212529"/>
                </a:solidFill>
                <a:effectLst/>
                <a:latin typeface="Inter"/>
              </a:rPr>
              <a:t>To tackle this problem what we do is modify that equation in such a way that it allows few misclassifications that means it allows few points to be wrongly classified.</a:t>
            </a:r>
            <a:endParaRPr lang="en-US" dirty="0"/>
          </a:p>
        </p:txBody>
      </p:sp>
      <p:pic>
        <p:nvPicPr>
          <p:cNvPr id="3" name="Picture 2">
            <a:extLst>
              <a:ext uri="{FF2B5EF4-FFF2-40B4-BE49-F238E27FC236}">
                <a16:creationId xmlns:a16="http://schemas.microsoft.com/office/drawing/2014/main" xmlns="" id="{F9FF9073-816A-76F0-CE95-12F349B29FBF}"/>
              </a:ext>
            </a:extLst>
          </p:cNvPr>
          <p:cNvPicPr>
            <a:picLocks noChangeAspect="1"/>
          </p:cNvPicPr>
          <p:nvPr/>
        </p:nvPicPr>
        <p:blipFill>
          <a:blip r:embed="rId3"/>
          <a:stretch>
            <a:fillRect/>
          </a:stretch>
        </p:blipFill>
        <p:spPr>
          <a:xfrm>
            <a:off x="8683877" y="2534575"/>
            <a:ext cx="3101918" cy="2557070"/>
          </a:xfrm>
          <a:prstGeom prst="rect">
            <a:avLst/>
          </a:prstGeom>
        </p:spPr>
      </p:pic>
      <p:sp>
        <p:nvSpPr>
          <p:cNvPr id="13" name="TextBox 12">
            <a:extLst>
              <a:ext uri="{FF2B5EF4-FFF2-40B4-BE49-F238E27FC236}">
                <a16:creationId xmlns:a16="http://schemas.microsoft.com/office/drawing/2014/main" xmlns="" id="{DC496A4F-83DB-2052-51CC-4C4741FE5AF5}"/>
              </a:ext>
            </a:extLst>
          </p:cNvPr>
          <p:cNvSpPr txBox="1"/>
          <p:nvPr/>
        </p:nvSpPr>
        <p:spPr>
          <a:xfrm>
            <a:off x="1540996" y="2866442"/>
            <a:ext cx="5292090" cy="923330"/>
          </a:xfrm>
          <a:prstGeom prst="rect">
            <a:avLst/>
          </a:prstGeom>
          <a:noFill/>
        </p:spPr>
        <p:txBody>
          <a:bodyPr wrap="square">
            <a:spAutoFit/>
          </a:bodyPr>
          <a:lstStyle/>
          <a:p>
            <a:pPr marL="285750" indent="-285750">
              <a:buFont typeface="Wingdings" panose="05000000000000000000" pitchFamily="2" charset="2"/>
              <a:buChar char="q"/>
            </a:pPr>
            <a:r>
              <a:rPr lang="en-US" b="0" i="0" dirty="0">
                <a:solidFill>
                  <a:srgbClr val="212529"/>
                </a:solidFill>
                <a:effectLst/>
                <a:latin typeface="Inter"/>
              </a:rPr>
              <a:t>To make a soft margin equation we add 2 more terms to this equation which is </a:t>
            </a:r>
            <a:r>
              <a:rPr lang="en-US" b="1" i="0" dirty="0">
                <a:solidFill>
                  <a:srgbClr val="212529"/>
                </a:solidFill>
                <a:effectLst/>
                <a:latin typeface="Inter"/>
              </a:rPr>
              <a:t>zeta </a:t>
            </a:r>
            <a:r>
              <a:rPr lang="en-US" b="0" i="0" dirty="0">
                <a:solidFill>
                  <a:srgbClr val="212529"/>
                </a:solidFill>
                <a:effectLst/>
                <a:latin typeface="Inter"/>
              </a:rPr>
              <a:t>and multiply that by a</a:t>
            </a:r>
            <a:r>
              <a:rPr lang="en-US" b="1" i="0" dirty="0">
                <a:solidFill>
                  <a:srgbClr val="212529"/>
                </a:solidFill>
                <a:effectLst/>
                <a:latin typeface="Inter"/>
              </a:rPr>
              <a:t> hyperparameter ‘c’</a:t>
            </a:r>
            <a:endParaRPr lang="en-US" dirty="0"/>
          </a:p>
        </p:txBody>
      </p:sp>
      <p:pic>
        <p:nvPicPr>
          <p:cNvPr id="14" name="Picture 13">
            <a:extLst>
              <a:ext uri="{FF2B5EF4-FFF2-40B4-BE49-F238E27FC236}">
                <a16:creationId xmlns:a16="http://schemas.microsoft.com/office/drawing/2014/main" xmlns="" id="{DE0E08E1-FBBD-1058-D622-8A907CEE64C2}"/>
              </a:ext>
            </a:extLst>
          </p:cNvPr>
          <p:cNvPicPr>
            <a:picLocks noChangeAspect="1"/>
          </p:cNvPicPr>
          <p:nvPr/>
        </p:nvPicPr>
        <p:blipFill>
          <a:blip r:embed="rId4"/>
          <a:stretch>
            <a:fillRect/>
          </a:stretch>
        </p:blipFill>
        <p:spPr>
          <a:xfrm>
            <a:off x="2836926" y="3789772"/>
            <a:ext cx="4095750" cy="990600"/>
          </a:xfrm>
          <a:prstGeom prst="rect">
            <a:avLst/>
          </a:prstGeom>
        </p:spPr>
      </p:pic>
      <p:sp>
        <p:nvSpPr>
          <p:cNvPr id="16" name="TextBox 15">
            <a:extLst>
              <a:ext uri="{FF2B5EF4-FFF2-40B4-BE49-F238E27FC236}">
                <a16:creationId xmlns:a16="http://schemas.microsoft.com/office/drawing/2014/main" xmlns="" id="{C67E8820-0887-12D7-02CB-A7CB07254266}"/>
              </a:ext>
            </a:extLst>
          </p:cNvPr>
          <p:cNvSpPr txBox="1"/>
          <p:nvPr/>
        </p:nvSpPr>
        <p:spPr>
          <a:xfrm>
            <a:off x="1554434" y="5059426"/>
            <a:ext cx="9516618" cy="1477328"/>
          </a:xfrm>
          <a:prstGeom prst="rect">
            <a:avLst/>
          </a:prstGeom>
          <a:noFill/>
        </p:spPr>
        <p:txBody>
          <a:bodyPr wrap="square">
            <a:spAutoFit/>
          </a:bodyPr>
          <a:lstStyle/>
          <a:p>
            <a:pPr marL="285750" indent="-285750">
              <a:buFont typeface="Wingdings" panose="05000000000000000000" pitchFamily="2" charset="2"/>
              <a:buChar char="q"/>
            </a:pPr>
            <a:r>
              <a:rPr lang="en-US" b="0" i="0" dirty="0">
                <a:solidFill>
                  <a:srgbClr val="212529"/>
                </a:solidFill>
                <a:effectLst/>
                <a:latin typeface="Inter"/>
              </a:rPr>
              <a:t>For all the </a:t>
            </a:r>
            <a:r>
              <a:rPr lang="en-US" b="1" i="1" dirty="0">
                <a:solidFill>
                  <a:srgbClr val="212529"/>
                </a:solidFill>
                <a:effectLst/>
                <a:latin typeface="Inter"/>
              </a:rPr>
              <a:t>correctly classified</a:t>
            </a:r>
            <a:r>
              <a:rPr lang="en-US" b="0" i="0" dirty="0">
                <a:solidFill>
                  <a:srgbClr val="212529"/>
                </a:solidFill>
                <a:effectLst/>
                <a:latin typeface="Inter"/>
              </a:rPr>
              <a:t> points our </a:t>
            </a:r>
            <a:r>
              <a:rPr lang="en-US" b="1" i="0" dirty="0">
                <a:solidFill>
                  <a:srgbClr val="212529"/>
                </a:solidFill>
                <a:effectLst/>
                <a:latin typeface="Inter"/>
              </a:rPr>
              <a:t>zeta</a:t>
            </a:r>
            <a:r>
              <a:rPr lang="en-US" b="0" i="0" dirty="0">
                <a:solidFill>
                  <a:srgbClr val="212529"/>
                </a:solidFill>
                <a:effectLst/>
                <a:latin typeface="Inter"/>
              </a:rPr>
              <a:t> will be equal to 0 and for all the </a:t>
            </a:r>
            <a:r>
              <a:rPr lang="en-US" b="1" i="1" dirty="0">
                <a:solidFill>
                  <a:srgbClr val="212529"/>
                </a:solidFill>
                <a:effectLst/>
                <a:latin typeface="Inter"/>
              </a:rPr>
              <a:t>incorrectly classified</a:t>
            </a:r>
            <a:r>
              <a:rPr lang="en-US" b="0" i="0" dirty="0">
                <a:solidFill>
                  <a:srgbClr val="212529"/>
                </a:solidFill>
                <a:effectLst/>
                <a:latin typeface="Inter"/>
              </a:rPr>
              <a:t> points the </a:t>
            </a:r>
            <a:r>
              <a:rPr lang="en-US" b="1" i="0" dirty="0">
                <a:solidFill>
                  <a:srgbClr val="212529"/>
                </a:solidFill>
                <a:effectLst/>
                <a:latin typeface="Inter"/>
              </a:rPr>
              <a:t>zeta</a:t>
            </a:r>
            <a:r>
              <a:rPr lang="en-US" b="0" i="0" dirty="0">
                <a:solidFill>
                  <a:srgbClr val="212529"/>
                </a:solidFill>
                <a:effectLst/>
                <a:latin typeface="Inter"/>
              </a:rPr>
              <a:t> is simply the distance of that particular point from its correct hyperplane that means if we see the wrongly classified green points the value of </a:t>
            </a:r>
            <a:r>
              <a:rPr lang="en-US" b="1" i="0" dirty="0">
                <a:solidFill>
                  <a:srgbClr val="212529"/>
                </a:solidFill>
                <a:effectLst/>
                <a:latin typeface="Inter"/>
              </a:rPr>
              <a:t>zeta</a:t>
            </a:r>
            <a:r>
              <a:rPr lang="en-US" b="0" i="0" dirty="0">
                <a:solidFill>
                  <a:srgbClr val="212529"/>
                </a:solidFill>
                <a:effectLst/>
                <a:latin typeface="Inter"/>
              </a:rPr>
              <a:t> will be the distance of these points from L1 hyperplane and for wrongly classified redpoint </a:t>
            </a:r>
            <a:r>
              <a:rPr lang="en-US" b="1" i="0" dirty="0">
                <a:solidFill>
                  <a:srgbClr val="212529"/>
                </a:solidFill>
                <a:effectLst/>
                <a:latin typeface="Inter"/>
              </a:rPr>
              <a:t>zeta</a:t>
            </a:r>
            <a:r>
              <a:rPr lang="en-US" b="0" i="0" dirty="0">
                <a:solidFill>
                  <a:srgbClr val="212529"/>
                </a:solidFill>
                <a:effectLst/>
                <a:latin typeface="Inter"/>
              </a:rPr>
              <a:t> will be the distance of that point from L2 hyperplane.</a:t>
            </a:r>
            <a:endParaRPr lang="en-US" dirty="0"/>
          </a:p>
        </p:txBody>
      </p:sp>
    </p:spTree>
    <p:extLst>
      <p:ext uri="{BB962C8B-B14F-4D97-AF65-F5344CB8AC3E}">
        <p14:creationId xmlns:p14="http://schemas.microsoft.com/office/powerpoint/2010/main" val="2831147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Soft Margin SVM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19</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TextBox 4">
            <a:extLst>
              <a:ext uri="{FF2B5EF4-FFF2-40B4-BE49-F238E27FC236}">
                <a16:creationId xmlns:a16="http://schemas.microsoft.com/office/drawing/2014/main" xmlns="" id="{D244E3E1-94C6-6700-A98D-0F6DD0463A9B}"/>
              </a:ext>
            </a:extLst>
          </p:cNvPr>
          <p:cNvSpPr txBox="1"/>
          <p:nvPr/>
        </p:nvSpPr>
        <p:spPr>
          <a:xfrm>
            <a:off x="1511046" y="1250942"/>
            <a:ext cx="8876538" cy="646331"/>
          </a:xfrm>
          <a:prstGeom prst="rect">
            <a:avLst/>
          </a:prstGeom>
          <a:noFill/>
        </p:spPr>
        <p:txBody>
          <a:bodyPr wrap="square">
            <a:spAutoFit/>
          </a:bodyPr>
          <a:lstStyle/>
          <a:p>
            <a:r>
              <a:rPr lang="en-US" b="1" i="0" dirty="0">
                <a:solidFill>
                  <a:srgbClr val="212529"/>
                </a:solidFill>
                <a:effectLst/>
                <a:latin typeface="Inter"/>
              </a:rPr>
              <a:t>SVM Error = Margin Error + Classification Error. </a:t>
            </a:r>
            <a:r>
              <a:rPr lang="en-US" b="0" i="0" dirty="0">
                <a:solidFill>
                  <a:srgbClr val="212529"/>
                </a:solidFill>
                <a:effectLst/>
                <a:latin typeface="Inter"/>
              </a:rPr>
              <a:t>The higher the margin, the lower would-be margin error, and vice versa.</a:t>
            </a:r>
            <a:endParaRPr lang="en-US" dirty="0"/>
          </a:p>
        </p:txBody>
      </p:sp>
      <p:sp>
        <p:nvSpPr>
          <p:cNvPr id="8" name="AutoShape 2" descr="Two SVM models">
            <a:extLst>
              <a:ext uri="{FF2B5EF4-FFF2-40B4-BE49-F238E27FC236}">
                <a16:creationId xmlns:a16="http://schemas.microsoft.com/office/drawing/2014/main" xmlns="" id="{A1BA602A-47C0-C65F-84BD-4C167DC0937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xmlns="" id="{228F8A8A-6582-7C8F-A6B2-4AF63E232E4B}"/>
              </a:ext>
            </a:extLst>
          </p:cNvPr>
          <p:cNvPicPr>
            <a:picLocks noChangeAspect="1"/>
          </p:cNvPicPr>
          <p:nvPr/>
        </p:nvPicPr>
        <p:blipFill>
          <a:blip r:embed="rId3"/>
          <a:stretch>
            <a:fillRect/>
          </a:stretch>
        </p:blipFill>
        <p:spPr>
          <a:xfrm>
            <a:off x="1671066" y="2882149"/>
            <a:ext cx="8154162" cy="2981997"/>
          </a:xfrm>
          <a:prstGeom prst="rect">
            <a:avLst/>
          </a:prstGeom>
        </p:spPr>
      </p:pic>
      <p:sp>
        <p:nvSpPr>
          <p:cNvPr id="11" name="TextBox 10">
            <a:extLst>
              <a:ext uri="{FF2B5EF4-FFF2-40B4-BE49-F238E27FC236}">
                <a16:creationId xmlns:a16="http://schemas.microsoft.com/office/drawing/2014/main" xmlns="" id="{247CA3AE-67A5-6014-C9EB-F41A036A2610}"/>
              </a:ext>
            </a:extLst>
          </p:cNvPr>
          <p:cNvSpPr txBox="1"/>
          <p:nvPr/>
        </p:nvSpPr>
        <p:spPr>
          <a:xfrm>
            <a:off x="1511046" y="1895350"/>
            <a:ext cx="8474202" cy="646331"/>
          </a:xfrm>
          <a:prstGeom prst="rect">
            <a:avLst/>
          </a:prstGeom>
          <a:noFill/>
        </p:spPr>
        <p:txBody>
          <a:bodyPr wrap="square">
            <a:spAutoFit/>
          </a:bodyPr>
          <a:lstStyle/>
          <a:p>
            <a:r>
              <a:rPr lang="en-US" b="0" i="0" dirty="0">
                <a:solidFill>
                  <a:srgbClr val="212529"/>
                </a:solidFill>
                <a:effectLst/>
                <a:latin typeface="Inter"/>
              </a:rPr>
              <a:t>Let’s say you take a high value of ‘c’ =1000, this would mean that you don’t want to focus on margin error and just want a model which doesn’t misclassify any data point.</a:t>
            </a:r>
            <a:endParaRPr lang="en-US" dirty="0"/>
          </a:p>
        </p:txBody>
      </p:sp>
    </p:spTree>
    <p:extLst>
      <p:ext uri="{BB962C8B-B14F-4D97-AF65-F5344CB8AC3E}">
        <p14:creationId xmlns:p14="http://schemas.microsoft.com/office/powerpoint/2010/main" val="1025186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Soft Margin SVM</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20</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8" name="AutoShape 2" descr="Two SVM models">
            <a:extLst>
              <a:ext uri="{FF2B5EF4-FFF2-40B4-BE49-F238E27FC236}">
                <a16:creationId xmlns:a16="http://schemas.microsoft.com/office/drawing/2014/main" xmlns="" id="{A1BA602A-47C0-C65F-84BD-4C167DC0937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xmlns="" id="{228F8A8A-6582-7C8F-A6B2-4AF63E232E4B}"/>
              </a:ext>
            </a:extLst>
          </p:cNvPr>
          <p:cNvPicPr>
            <a:picLocks noChangeAspect="1"/>
          </p:cNvPicPr>
          <p:nvPr/>
        </p:nvPicPr>
        <p:blipFill>
          <a:blip r:embed="rId3"/>
          <a:stretch>
            <a:fillRect/>
          </a:stretch>
        </p:blipFill>
        <p:spPr>
          <a:xfrm>
            <a:off x="1831086" y="968913"/>
            <a:ext cx="8154162" cy="2981997"/>
          </a:xfrm>
          <a:prstGeom prst="rect">
            <a:avLst/>
          </a:prstGeom>
        </p:spPr>
      </p:pic>
      <p:sp>
        <p:nvSpPr>
          <p:cNvPr id="11" name="TextBox 10">
            <a:extLst>
              <a:ext uri="{FF2B5EF4-FFF2-40B4-BE49-F238E27FC236}">
                <a16:creationId xmlns:a16="http://schemas.microsoft.com/office/drawing/2014/main" xmlns="" id="{247CA3AE-67A5-6014-C9EB-F41A036A2610}"/>
              </a:ext>
            </a:extLst>
          </p:cNvPr>
          <p:cNvSpPr txBox="1"/>
          <p:nvPr/>
        </p:nvSpPr>
        <p:spPr>
          <a:xfrm>
            <a:off x="1511046" y="1895350"/>
            <a:ext cx="8474202" cy="369332"/>
          </a:xfrm>
          <a:prstGeom prst="rect">
            <a:avLst/>
          </a:prstGeom>
          <a:noFill/>
        </p:spPr>
        <p:txBody>
          <a:bodyPr wrap="square">
            <a:spAutoFit/>
          </a:bodyPr>
          <a:lstStyle/>
          <a:p>
            <a:r>
              <a:rPr lang="en-US" b="0" i="0" dirty="0">
                <a:solidFill>
                  <a:srgbClr val="212529"/>
                </a:solidFill>
                <a:effectLst/>
                <a:latin typeface="Inter"/>
              </a:rPr>
              <a:t>.</a:t>
            </a:r>
            <a:endParaRPr lang="en-US" dirty="0"/>
          </a:p>
        </p:txBody>
      </p:sp>
      <p:sp>
        <p:nvSpPr>
          <p:cNvPr id="3" name="TextBox 2">
            <a:extLst>
              <a:ext uri="{FF2B5EF4-FFF2-40B4-BE49-F238E27FC236}">
                <a16:creationId xmlns:a16="http://schemas.microsoft.com/office/drawing/2014/main" xmlns="" id="{7C9BFB7A-98AD-98F8-4380-CD490620D76D}"/>
              </a:ext>
            </a:extLst>
          </p:cNvPr>
          <p:cNvSpPr txBox="1"/>
          <p:nvPr/>
        </p:nvSpPr>
        <p:spPr>
          <a:xfrm>
            <a:off x="1810131" y="4116788"/>
            <a:ext cx="8876538" cy="2585323"/>
          </a:xfrm>
          <a:prstGeom prst="rect">
            <a:avLst/>
          </a:prstGeom>
          <a:noFill/>
        </p:spPr>
        <p:txBody>
          <a:bodyPr wrap="square">
            <a:spAutoFit/>
          </a:bodyPr>
          <a:lstStyle/>
          <a:p>
            <a:pPr algn="l"/>
            <a:r>
              <a:rPr lang="en-US" b="1" i="0" dirty="0">
                <a:solidFill>
                  <a:srgbClr val="212529"/>
                </a:solidFill>
                <a:effectLst/>
                <a:latin typeface="Inter"/>
              </a:rPr>
              <a:t>If someone asks you which is a better model, the one where the margin is maximum and has 2 misclassified points or the one where the margin is very less, and all the points are correctly classified?</a:t>
            </a:r>
          </a:p>
          <a:p>
            <a:pPr algn="l"/>
            <a:r>
              <a:rPr lang="en-US" b="0" i="0" dirty="0">
                <a:solidFill>
                  <a:srgbClr val="212529"/>
                </a:solidFill>
                <a:effectLst/>
                <a:latin typeface="Inter"/>
              </a:rPr>
              <a:t>Well, there’s no correct answer to this question, but rather we can use </a:t>
            </a:r>
          </a:p>
          <a:p>
            <a:pPr algn="l"/>
            <a:r>
              <a:rPr lang="en-US" b="1" i="1" dirty="0">
                <a:solidFill>
                  <a:srgbClr val="212529"/>
                </a:solidFill>
                <a:effectLst/>
                <a:latin typeface="Inter"/>
              </a:rPr>
              <a:t>SVM Error = Margin Error + Classification Error </a:t>
            </a:r>
            <a:r>
              <a:rPr lang="en-US" b="0" i="1" dirty="0">
                <a:solidFill>
                  <a:srgbClr val="212529"/>
                </a:solidFill>
                <a:effectLst/>
                <a:latin typeface="Inter"/>
              </a:rPr>
              <a:t>to</a:t>
            </a:r>
            <a:r>
              <a:rPr lang="en-US" b="0" i="0" dirty="0">
                <a:solidFill>
                  <a:srgbClr val="212529"/>
                </a:solidFill>
                <a:effectLst/>
                <a:latin typeface="Inter"/>
              </a:rPr>
              <a:t> justify this. If you don’t want any misclassification in the model then you can choose </a:t>
            </a:r>
            <a:r>
              <a:rPr lang="en-US" b="0" i="1" dirty="0">
                <a:solidFill>
                  <a:srgbClr val="212529"/>
                </a:solidFill>
                <a:effectLst/>
                <a:latin typeface="Inter"/>
              </a:rPr>
              <a:t>figure 2</a:t>
            </a:r>
            <a:r>
              <a:rPr lang="en-US" b="0" i="0" dirty="0">
                <a:solidFill>
                  <a:srgbClr val="212529"/>
                </a:solidFill>
                <a:effectLst/>
                <a:latin typeface="Inter"/>
              </a:rPr>
              <a:t>. That means we’ll increase ‘c’ to decrease Classification Error but if you want that your margin should be maximized then the value of ‘c’ should be minimized. That’s why ‘c’ is a hyperparameter and we find the optimal value of ‘c’ using </a:t>
            </a:r>
            <a:r>
              <a:rPr lang="en-US" b="0" i="0" dirty="0" err="1">
                <a:solidFill>
                  <a:srgbClr val="212529"/>
                </a:solidFill>
                <a:effectLst/>
                <a:latin typeface="Inter"/>
              </a:rPr>
              <a:t>GridsearchCV</a:t>
            </a:r>
            <a:r>
              <a:rPr lang="en-US" b="0" i="0" dirty="0">
                <a:solidFill>
                  <a:srgbClr val="212529"/>
                </a:solidFill>
                <a:effectLst/>
                <a:latin typeface="Inter"/>
              </a:rPr>
              <a:t> and cross-validation.</a:t>
            </a:r>
          </a:p>
        </p:txBody>
      </p:sp>
    </p:spTree>
    <p:extLst>
      <p:ext uri="{BB962C8B-B14F-4D97-AF65-F5344CB8AC3E}">
        <p14:creationId xmlns:p14="http://schemas.microsoft.com/office/powerpoint/2010/main" val="546045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Kernels in Support Vector Machine</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21</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8" name="AutoShape 2" descr="Two SVM models">
            <a:extLst>
              <a:ext uri="{FF2B5EF4-FFF2-40B4-BE49-F238E27FC236}">
                <a16:creationId xmlns:a16="http://schemas.microsoft.com/office/drawing/2014/main" xmlns="" id="{A1BA602A-47C0-C65F-84BD-4C167DC0937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xmlns="" id="{ADF5B2B6-D85D-6920-41CA-8086BB914E26}"/>
              </a:ext>
            </a:extLst>
          </p:cNvPr>
          <p:cNvSpPr txBox="1"/>
          <p:nvPr/>
        </p:nvSpPr>
        <p:spPr>
          <a:xfrm>
            <a:off x="1540848" y="1167384"/>
            <a:ext cx="8805504" cy="2308324"/>
          </a:xfrm>
          <a:prstGeom prst="rect">
            <a:avLst/>
          </a:prstGeom>
          <a:noFill/>
        </p:spPr>
        <p:txBody>
          <a:bodyPr wrap="square">
            <a:spAutoFit/>
          </a:bodyPr>
          <a:lstStyle/>
          <a:p>
            <a:pPr algn="l"/>
            <a:r>
              <a:rPr lang="en-US" b="0" i="0" dirty="0">
                <a:solidFill>
                  <a:srgbClr val="212529"/>
                </a:solidFill>
                <a:effectLst/>
                <a:latin typeface="Inter"/>
              </a:rPr>
              <a:t>The most interesting feature of SVM is that it can even work with a non-linear dataset and for this, we use “Kernel Trick” which makes it easier to classifies the points. Suppose we have a dataset like this:</a:t>
            </a:r>
          </a:p>
          <a:p>
            <a:r>
              <a:rPr lang="en-US" dirty="0"/>
              <a:t/>
            </a:r>
            <a:br>
              <a:rPr lang="en-US" dirty="0"/>
            </a:br>
            <a:r>
              <a:rPr lang="en-US" dirty="0"/>
              <a:t>So what we do is try converting this lower dimension space to a higher dimension space using some quadratic functions which will allow us to find a decision boundary that clearly divides the data points. These functions which help us do this are called Kernels and which kernel to use is purely determined by hyperparameter tuning.</a:t>
            </a:r>
          </a:p>
        </p:txBody>
      </p:sp>
      <p:pic>
        <p:nvPicPr>
          <p:cNvPr id="12" name="Picture 11">
            <a:extLst>
              <a:ext uri="{FF2B5EF4-FFF2-40B4-BE49-F238E27FC236}">
                <a16:creationId xmlns:a16="http://schemas.microsoft.com/office/drawing/2014/main" xmlns="" id="{534F5E41-1A36-9E5A-72E2-91DB01BD4EB1}"/>
              </a:ext>
            </a:extLst>
          </p:cNvPr>
          <p:cNvPicPr>
            <a:picLocks noChangeAspect="1"/>
          </p:cNvPicPr>
          <p:nvPr/>
        </p:nvPicPr>
        <p:blipFill>
          <a:blip r:embed="rId3"/>
          <a:stretch>
            <a:fillRect/>
          </a:stretch>
        </p:blipFill>
        <p:spPr>
          <a:xfrm>
            <a:off x="2562352" y="3645210"/>
            <a:ext cx="7043589" cy="2807349"/>
          </a:xfrm>
          <a:prstGeom prst="rect">
            <a:avLst/>
          </a:prstGeom>
        </p:spPr>
      </p:pic>
    </p:spTree>
    <p:extLst>
      <p:ext uri="{BB962C8B-B14F-4D97-AF65-F5344CB8AC3E}">
        <p14:creationId xmlns:p14="http://schemas.microsoft.com/office/powerpoint/2010/main" val="1761178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How to Choose the Right Kernel?</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22</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8" name="AutoShape 2" descr="Two SVM models">
            <a:extLst>
              <a:ext uri="{FF2B5EF4-FFF2-40B4-BE49-F238E27FC236}">
                <a16:creationId xmlns:a16="http://schemas.microsoft.com/office/drawing/2014/main" xmlns="" id="{A1BA602A-47C0-C65F-84BD-4C167DC0937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xmlns="" id="{ADF5B2B6-D85D-6920-41CA-8086BB914E26}"/>
              </a:ext>
            </a:extLst>
          </p:cNvPr>
          <p:cNvSpPr txBox="1"/>
          <p:nvPr/>
        </p:nvSpPr>
        <p:spPr>
          <a:xfrm>
            <a:off x="1540848" y="1167384"/>
            <a:ext cx="8805504" cy="923330"/>
          </a:xfrm>
          <a:prstGeom prst="rect">
            <a:avLst/>
          </a:prstGeom>
          <a:noFill/>
        </p:spPr>
        <p:txBody>
          <a:bodyPr wrap="square">
            <a:spAutoFit/>
          </a:bodyPr>
          <a:lstStyle/>
          <a:p>
            <a:pPr algn="l"/>
            <a:r>
              <a:rPr lang="en-US" b="0" i="0" dirty="0">
                <a:solidFill>
                  <a:srgbClr val="212529"/>
                </a:solidFill>
                <a:effectLst/>
                <a:latin typeface="Inter"/>
              </a:rPr>
              <a:t>Choosing a kernel totally depends on what kind of dataset are you working on. If it is linearly separable then you must opt. for linear kernel function since it is very easy to use and the complexity is much lower compared to other kernel functions</a:t>
            </a:r>
            <a:endParaRPr lang="en-US" dirty="0"/>
          </a:p>
        </p:txBody>
      </p:sp>
      <p:pic>
        <p:nvPicPr>
          <p:cNvPr id="3" name="Picture 2">
            <a:extLst>
              <a:ext uri="{FF2B5EF4-FFF2-40B4-BE49-F238E27FC236}">
                <a16:creationId xmlns:a16="http://schemas.microsoft.com/office/drawing/2014/main" xmlns="" id="{08D08D27-2CEC-1B00-DD30-236E3E0F276A}"/>
              </a:ext>
            </a:extLst>
          </p:cNvPr>
          <p:cNvPicPr>
            <a:picLocks noChangeAspect="1"/>
          </p:cNvPicPr>
          <p:nvPr/>
        </p:nvPicPr>
        <p:blipFill>
          <a:blip r:embed="rId3"/>
          <a:stretch>
            <a:fillRect/>
          </a:stretch>
        </p:blipFill>
        <p:spPr>
          <a:xfrm>
            <a:off x="1418512" y="2341509"/>
            <a:ext cx="4525088" cy="3349107"/>
          </a:xfrm>
          <a:prstGeom prst="rect">
            <a:avLst/>
          </a:prstGeom>
        </p:spPr>
      </p:pic>
      <p:pic>
        <p:nvPicPr>
          <p:cNvPr id="5" name="Picture 4">
            <a:extLst>
              <a:ext uri="{FF2B5EF4-FFF2-40B4-BE49-F238E27FC236}">
                <a16:creationId xmlns:a16="http://schemas.microsoft.com/office/drawing/2014/main" xmlns="" id="{B8DFBC46-A74F-3DAC-E935-842AED02ACF4}"/>
              </a:ext>
            </a:extLst>
          </p:cNvPr>
          <p:cNvPicPr>
            <a:picLocks noChangeAspect="1"/>
          </p:cNvPicPr>
          <p:nvPr/>
        </p:nvPicPr>
        <p:blipFill>
          <a:blip r:embed="rId4"/>
          <a:stretch>
            <a:fillRect/>
          </a:stretch>
        </p:blipFill>
        <p:spPr>
          <a:xfrm>
            <a:off x="6716623" y="2201939"/>
            <a:ext cx="4056865" cy="3488677"/>
          </a:xfrm>
          <a:prstGeom prst="rect">
            <a:avLst/>
          </a:prstGeom>
        </p:spPr>
      </p:pic>
    </p:spTree>
    <p:extLst>
      <p:ext uri="{BB962C8B-B14F-4D97-AF65-F5344CB8AC3E}">
        <p14:creationId xmlns:p14="http://schemas.microsoft.com/office/powerpoint/2010/main" val="3655637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How to Choose the Right Kernel?</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23</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8" name="AutoShape 2" descr="Two SVM models">
            <a:extLst>
              <a:ext uri="{FF2B5EF4-FFF2-40B4-BE49-F238E27FC236}">
                <a16:creationId xmlns:a16="http://schemas.microsoft.com/office/drawing/2014/main" xmlns="" id="{A1BA602A-47C0-C65F-84BD-4C167DC0937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xmlns="" id="{C60CE137-32A2-1CFC-5AD9-092FDF00B373}"/>
              </a:ext>
            </a:extLst>
          </p:cNvPr>
          <p:cNvPicPr>
            <a:picLocks noChangeAspect="1"/>
          </p:cNvPicPr>
          <p:nvPr/>
        </p:nvPicPr>
        <p:blipFill>
          <a:blip r:embed="rId3"/>
          <a:stretch>
            <a:fillRect/>
          </a:stretch>
        </p:blipFill>
        <p:spPr>
          <a:xfrm>
            <a:off x="1751628" y="2796074"/>
            <a:ext cx="3528498" cy="2802294"/>
          </a:xfrm>
          <a:prstGeom prst="rect">
            <a:avLst/>
          </a:prstGeom>
        </p:spPr>
      </p:pic>
      <p:sp>
        <p:nvSpPr>
          <p:cNvPr id="12" name="TextBox 11">
            <a:extLst>
              <a:ext uri="{FF2B5EF4-FFF2-40B4-BE49-F238E27FC236}">
                <a16:creationId xmlns:a16="http://schemas.microsoft.com/office/drawing/2014/main" xmlns="" id="{2B02D0A4-8047-E1F0-CA2D-839DC617BDAF}"/>
              </a:ext>
            </a:extLst>
          </p:cNvPr>
          <p:cNvSpPr txBox="1"/>
          <p:nvPr/>
        </p:nvSpPr>
        <p:spPr>
          <a:xfrm>
            <a:off x="1588346" y="1124186"/>
            <a:ext cx="8991599" cy="646331"/>
          </a:xfrm>
          <a:prstGeom prst="rect">
            <a:avLst/>
          </a:prstGeom>
          <a:noFill/>
        </p:spPr>
        <p:txBody>
          <a:bodyPr wrap="square">
            <a:spAutoFit/>
          </a:bodyPr>
          <a:lstStyle/>
          <a:p>
            <a:r>
              <a:rPr lang="en-US" b="0" i="0" dirty="0">
                <a:solidFill>
                  <a:srgbClr val="212529"/>
                </a:solidFill>
                <a:effectLst/>
                <a:latin typeface="Inter"/>
              </a:rPr>
              <a:t>If the dataset is not linear then using linear kernel doesn’t make sense we’ll get a very low accuracy if we do so.</a:t>
            </a:r>
            <a:endParaRPr lang="en-US" dirty="0"/>
          </a:p>
        </p:txBody>
      </p:sp>
      <p:sp>
        <p:nvSpPr>
          <p:cNvPr id="13" name="AutoShape 2" descr="Using RBF kernel in Support Vector Machine(SVM)">
            <a:extLst>
              <a:ext uri="{FF2B5EF4-FFF2-40B4-BE49-F238E27FC236}">
                <a16:creationId xmlns:a16="http://schemas.microsoft.com/office/drawing/2014/main" xmlns="" id="{1CE44015-9E63-A550-A377-65B1FEFF5E9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xmlns="" id="{658129CF-3D3F-402C-3EA1-AF1215D295E8}"/>
              </a:ext>
            </a:extLst>
          </p:cNvPr>
          <p:cNvPicPr>
            <a:picLocks noChangeAspect="1"/>
          </p:cNvPicPr>
          <p:nvPr/>
        </p:nvPicPr>
        <p:blipFill>
          <a:blip r:embed="rId4"/>
          <a:stretch>
            <a:fillRect/>
          </a:stretch>
        </p:blipFill>
        <p:spPr>
          <a:xfrm>
            <a:off x="6553200" y="2673221"/>
            <a:ext cx="3767138" cy="3048000"/>
          </a:xfrm>
          <a:prstGeom prst="rect">
            <a:avLst/>
          </a:prstGeom>
        </p:spPr>
      </p:pic>
    </p:spTree>
    <p:extLst>
      <p:ext uri="{BB962C8B-B14F-4D97-AF65-F5344CB8AC3E}">
        <p14:creationId xmlns:p14="http://schemas.microsoft.com/office/powerpoint/2010/main" val="4238245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a:solidFill>
                  <a:schemeClr val="bg1"/>
                </a:solidFill>
              </a:rPr>
              <a:t>More about SVM</a:t>
            </a:r>
            <a:endParaRPr lang="en-US" sz="4000" b="1" spc="-13" dirty="0">
              <a:solidFill>
                <a:schemeClr val="bg1"/>
              </a:solidFill>
            </a:endParaRP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24</a:t>
            </a:fld>
            <a:endParaRPr lang="en-US" spc="-67" dirty="0"/>
          </a:p>
        </p:txBody>
      </p:sp>
      <p:sp>
        <p:nvSpPr>
          <p:cNvPr id="7" name="object 7"/>
          <p:cNvSpPr txBox="1">
            <a:spLocks noGrp="1"/>
          </p:cNvSpPr>
          <p:nvPr>
            <p:ph type="ftr" sz="quarter" idx="5"/>
          </p:nvPr>
        </p:nvSpPr>
        <p:spPr>
          <a:xfrm>
            <a:off x="7719017" y="3529820"/>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8" name="AutoShape 2" descr="Two SVM models">
            <a:extLst>
              <a:ext uri="{FF2B5EF4-FFF2-40B4-BE49-F238E27FC236}">
                <a16:creationId xmlns:a16="http://schemas.microsoft.com/office/drawing/2014/main" xmlns="" id="{A1BA602A-47C0-C65F-84BD-4C167DC0937D}"/>
              </a:ext>
            </a:extLst>
          </p:cNvPr>
          <p:cNvSpPr>
            <a:spLocks noChangeAspect="1" noChangeArrowheads="1"/>
          </p:cNvSpPr>
          <p:nvPr/>
        </p:nvSpPr>
        <p:spPr bwMode="auto">
          <a:xfrm>
            <a:off x="5793698" y="18375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2" descr="Using RBF kernel in Support Vector Machine(SVM)">
            <a:extLst>
              <a:ext uri="{FF2B5EF4-FFF2-40B4-BE49-F238E27FC236}">
                <a16:creationId xmlns:a16="http://schemas.microsoft.com/office/drawing/2014/main" xmlns="" id="{1CE44015-9E63-A550-A377-65B1FEFF5E95}"/>
              </a:ext>
            </a:extLst>
          </p:cNvPr>
          <p:cNvSpPr>
            <a:spLocks noChangeAspect="1" noChangeArrowheads="1"/>
          </p:cNvSpPr>
          <p:nvPr/>
        </p:nvSpPr>
        <p:spPr bwMode="auto">
          <a:xfrm>
            <a:off x="5946098" y="19899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xmlns="" id="{8E1CA624-86EC-793D-0D4E-089235E1D436}"/>
              </a:ext>
            </a:extLst>
          </p:cNvPr>
          <p:cNvSpPr txBox="1"/>
          <p:nvPr/>
        </p:nvSpPr>
        <p:spPr>
          <a:xfrm>
            <a:off x="2896849" y="1779046"/>
            <a:ext cx="6093500" cy="923330"/>
          </a:xfrm>
          <a:prstGeom prst="rect">
            <a:avLst/>
          </a:prstGeom>
          <a:noFill/>
        </p:spPr>
        <p:txBody>
          <a:bodyPr wrap="square">
            <a:spAutoFit/>
          </a:bodyPr>
          <a:lstStyle/>
          <a:p>
            <a:endParaRPr lang="en-US" dirty="0"/>
          </a:p>
          <a:p>
            <a:r>
              <a:rPr lang="en-US" dirty="0">
                <a:hlinkClick r:id="rId3"/>
              </a:rPr>
              <a:t>https://www.analyticsvidhya.com/support-vector-machine/</a:t>
            </a:r>
            <a:endParaRPr lang="en-US" dirty="0"/>
          </a:p>
          <a:p>
            <a:endParaRPr lang="en-US" dirty="0"/>
          </a:p>
        </p:txBody>
      </p:sp>
      <p:sp>
        <p:nvSpPr>
          <p:cNvPr id="11" name="TextBox 10">
            <a:extLst>
              <a:ext uri="{FF2B5EF4-FFF2-40B4-BE49-F238E27FC236}">
                <a16:creationId xmlns:a16="http://schemas.microsoft.com/office/drawing/2014/main" xmlns="" id="{AE09460A-A6DA-0B4D-9E58-2698F96791B7}"/>
              </a:ext>
            </a:extLst>
          </p:cNvPr>
          <p:cNvSpPr txBox="1"/>
          <p:nvPr/>
        </p:nvSpPr>
        <p:spPr>
          <a:xfrm>
            <a:off x="2896849" y="2646623"/>
            <a:ext cx="6093500" cy="923330"/>
          </a:xfrm>
          <a:prstGeom prst="rect">
            <a:avLst/>
          </a:prstGeom>
          <a:noFill/>
        </p:spPr>
        <p:txBody>
          <a:bodyPr wrap="square">
            <a:spAutoFit/>
          </a:bodyPr>
          <a:lstStyle/>
          <a:p>
            <a:r>
              <a:rPr lang="en-US" dirty="0">
                <a:hlinkClick r:id="rId4"/>
              </a:rPr>
              <a:t>https://www.analyticsvidhya.com/blog/2021/06/support-vector-machine-better-understanding/</a:t>
            </a:r>
            <a:endParaRPr lang="en-US" dirty="0"/>
          </a:p>
          <a:p>
            <a:endParaRPr lang="en-US" dirty="0"/>
          </a:p>
        </p:txBody>
      </p:sp>
    </p:spTree>
    <p:extLst>
      <p:ext uri="{BB962C8B-B14F-4D97-AF65-F5344CB8AC3E}">
        <p14:creationId xmlns:p14="http://schemas.microsoft.com/office/powerpoint/2010/main" val="3523552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423a9bc-f6b4-4119-8639-49f06be6048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861056F44CB24E9AFE29B868B75F6D" ma:contentTypeVersion="6" ma:contentTypeDescription="Create a new document." ma:contentTypeScope="" ma:versionID="1d9898b3eb27d2a7625f03f6a12e5b56">
  <xsd:schema xmlns:xsd="http://www.w3.org/2001/XMLSchema" xmlns:xs="http://www.w3.org/2001/XMLSchema" xmlns:p="http://schemas.microsoft.com/office/2006/metadata/properties" xmlns:ns3="3423a9bc-f6b4-4119-8639-49f06be6048f" targetNamespace="http://schemas.microsoft.com/office/2006/metadata/properties" ma:root="true" ma:fieldsID="437daef725167e1549e0aef01c78cd8b" ns3:_="">
    <xsd:import namespace="3423a9bc-f6b4-4119-8639-49f06be6048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23a9bc-f6b4-4119-8639-49f06be6048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5D7A4D-4CEB-4AF2-9AC5-B2B3D20E0AF2}">
  <ds:schemaRefs>
    <ds:schemaRef ds:uri="http://purl.org/dc/terms/"/>
    <ds:schemaRef ds:uri="http://schemas.openxmlformats.org/package/2006/metadata/core-properties"/>
    <ds:schemaRef ds:uri="http://purl.org/dc/dcmitype/"/>
    <ds:schemaRef ds:uri="http://schemas.microsoft.com/office/infopath/2007/PartnerControls"/>
    <ds:schemaRef ds:uri="3423a9bc-f6b4-4119-8639-49f06be6048f"/>
    <ds:schemaRef ds:uri="http://purl.org/dc/elements/1.1/"/>
    <ds:schemaRef ds:uri="http://schemas.microsoft.com/office/2006/documentManagement/typ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1CC0044B-333E-43C9-97AD-A09B8CFA6B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23a9bc-f6b4-4119-8639-49f06be604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DD7899-C445-43A0-A75E-35F3FA41CB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4108</TotalTime>
  <Words>1386</Words>
  <Application>Microsoft Office PowerPoint</Application>
  <PresentationFormat>Widescreen</PresentationFormat>
  <Paragraphs>151</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vt:lpstr>
      <vt:lpstr>Aptos Display</vt:lpstr>
      <vt:lpstr>Arial</vt:lpstr>
      <vt:lpstr>Arial MT</vt:lpstr>
      <vt:lpstr>Calibri</vt:lpstr>
      <vt:lpstr>Constantia</vt:lpstr>
      <vt:lpstr>Inter</vt:lpstr>
      <vt:lpstr>Wingdings</vt:lpstr>
      <vt:lpstr>Office Theme</vt:lpstr>
      <vt:lpstr>PowerPoint Presentation</vt:lpstr>
      <vt:lpstr>What is SVM?</vt:lpstr>
      <vt:lpstr>What is SVM?</vt:lpstr>
      <vt:lpstr>What is SVM?</vt:lpstr>
      <vt:lpstr>Types of SVM</vt:lpstr>
      <vt:lpstr>Mathematical Intuition</vt:lpstr>
      <vt:lpstr>Mathematical Intuition</vt:lpstr>
      <vt:lpstr>Mathematical Intuition</vt:lpstr>
      <vt:lpstr>Mathematical Intuition</vt:lpstr>
      <vt:lpstr>Mathematical Intuition</vt:lpstr>
      <vt:lpstr>Mathematical Intuition</vt:lpstr>
      <vt:lpstr>Mathematical Intuition</vt:lpstr>
      <vt:lpstr>Mathematical Intuition</vt:lpstr>
      <vt:lpstr>Mathematical Intuition</vt:lpstr>
      <vt:lpstr>Mathematical Intuition</vt:lpstr>
      <vt:lpstr>Mathematical Intuition</vt:lpstr>
      <vt:lpstr>Mathematical Intuition</vt:lpstr>
      <vt:lpstr>Soft Margin SVM</vt:lpstr>
      <vt:lpstr>Soft Margin SVM</vt:lpstr>
      <vt:lpstr>Soft Margin SVM</vt:lpstr>
      <vt:lpstr>Kernels in Support Vector Machine</vt:lpstr>
      <vt:lpstr>How to Choose the Right Kernel?</vt:lpstr>
      <vt:lpstr>How to Choose the Right Kernel?</vt:lpstr>
      <vt:lpstr>More about SVM</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social</dc:creator>
  <cp:lastModifiedBy>Microsoft account</cp:lastModifiedBy>
  <cp:revision>12</cp:revision>
  <dcterms:created xsi:type="dcterms:W3CDTF">2024-09-02T09:58:42Z</dcterms:created>
  <dcterms:modified xsi:type="dcterms:W3CDTF">2024-10-15T05:59:42Z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0x01010002861056F44CB24E9AFE29B868B75F6D</vt:lpwstr>
  </property>
</Properties>
</file>