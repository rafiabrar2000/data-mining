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357" r:id="rId6"/>
    <p:sldId id="359" r:id="rId7"/>
    <p:sldId id="360" r:id="rId8"/>
    <p:sldId id="361" r:id="rId9"/>
    <p:sldId id="362" r:id="rId10"/>
    <p:sldId id="364" r:id="rId11"/>
    <p:sldId id="363" r:id="rId12"/>
    <p:sldId id="365" r:id="rId13"/>
    <p:sldId id="366" r:id="rId14"/>
    <p:sldId id="371" r:id="rId15"/>
    <p:sldId id="367" r:id="rId16"/>
    <p:sldId id="368" r:id="rId17"/>
    <p:sldId id="369" r:id="rId18"/>
    <p:sldId id="370" r:id="rId19"/>
    <p:sldId id="372" r:id="rId20"/>
    <p:sldId id="373" r:id="rId21"/>
    <p:sldId id="374" r:id="rId22"/>
    <p:sldId id="375" r:id="rId23"/>
    <p:sldId id="376" r:id="rId24"/>
    <p:sldId id="378" r:id="rId25"/>
    <p:sldId id="377" r:id="rId26"/>
    <p:sldId id="379" r:id="rId27"/>
    <p:sldId id="380" r:id="rId28"/>
    <p:sldId id="381" r:id="rId29"/>
    <p:sldId id="382" r:id="rId30"/>
    <p:sldId id="38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BEBF6-CCEE-7133-428B-80DE60D12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1E092-946C-E49D-20E0-744264490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58307-447A-CEFA-E353-513FF41EF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824FA-9F98-CEF4-381E-E8F712BD4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019C4-7FDC-8B08-2D31-CC901BD11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35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5F28F-CAE1-4942-017F-81800F6EE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FBB54-F16F-5561-6C3D-FEDDBE693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5803F-61FF-91BD-3FFF-2B3BC4615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F40F8-75CC-1790-8425-132EF9040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6E42D-BB13-2D20-D5A4-5E71F7B91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51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2B655-5ED4-B4EA-55A6-249452A29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C6077-20C9-B22A-526E-06A0C52CA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AA3F8-0FB5-8DFE-572D-410F31E12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4C6C7-4905-E427-C56B-56E41C20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53032-3025-F7DE-CA90-CD95E37A1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5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37A96-45F2-8CDB-87C6-6667B385A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28CBD-72D7-29B6-8F16-C8F25FCDA2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6CBB0-46EA-6C3E-B546-6904F005D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104DB-9ACB-EE08-2FA9-3ED8BD87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98A4A4-3604-6AC1-3713-40277F9B9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B7A8A-53FE-99AC-842D-CA2BED4F2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9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76CF4-A831-B43C-0807-833CCDE8B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7DCA9-7681-6CE6-2B7D-C46C0E7D9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003DE-375A-7C42-5038-10676D52F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2DDA9F-DC89-1048-F8FD-E5CC7D487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A542D-9CA1-0A4E-0B70-2BC43CAA38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8B61D1-7D13-1095-3075-853B98716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572D27-C062-5112-17B4-0CF9ED89E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35538B-44CA-9812-985B-B6AFABC87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62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DE51-1C7C-0620-60CD-52929EC9C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C7314A-B9FE-E28F-7A28-84A015367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BEF77-B252-E444-EA97-6977FB130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DA495B-1579-C991-ACAF-2BD4A7E12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213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D7569F-475D-967E-E517-392767F8C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D378F8-2972-94B2-B59F-DA8071F84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65EEB-88ED-3455-0B35-00DC1CDE0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83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A6DA-2813-D217-3535-EE3C79343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E565C-8A1A-8226-9E2A-2417C3FC1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6288E-417A-1400-960B-461631BAE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FCEB7-3633-BAC3-7250-DC858BE06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D4D85-0847-A11B-3BE8-155B7EBC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63D61-3B07-B5B7-8020-45535E374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7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A47FB-6CBE-29FC-5296-DBA1091E1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71E7FF-89CA-6DC6-8A61-426AF695AB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855ED-86AE-622A-13AF-356D5D269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7A9FB-A7A2-F9F7-030E-72BBABA76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D79EB-417A-C7E0-49B8-D7AA53761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BAE0C-6F37-57DE-D044-C0CFF3C83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825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1877B-F9D3-F2CB-A55E-B481838A8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34E4B-ECAE-1B4A-BAB5-722EE7FDE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A9B50-212A-EA46-41A7-1B9CB343B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48BF4-4923-F2CD-36D2-B9CAE167F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5D363-7EFB-2853-09CD-FEF53BFB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797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D4834D-66D9-1538-2F82-75BA31E274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DA176F-48B7-48FF-5F4A-116EE77C1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92448-6633-E5A8-55EF-36145AFA1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190D9-75F0-C91E-3174-0F1153606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1AD56-938D-4FE4-076C-9CDBABDE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99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C4BC2A-694C-34DE-E00D-81B366B3D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D3285-D902-9C7B-53EF-50AC7E0F0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FBDDF-E0C7-FB68-DCDD-30C90A21A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077775-CA2F-4835-9DDA-43E84FC2EFA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C0CF3-AB81-1083-4691-292B1D038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AA741-B990-BA38-691D-7C945FE49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931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umaira@cse.uiu.ac.b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ftaliharris.com/blog/visualizing-dbscan-clustering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8240" y="3835400"/>
            <a:ext cx="9875520" cy="0"/>
          </a:xfrm>
          <a:custGeom>
            <a:avLst/>
            <a:gdLst/>
            <a:ahLst/>
            <a:cxnLst/>
            <a:rect l="l" t="t" r="r" b="b"/>
            <a:pathLst>
              <a:path w="7406640">
                <a:moveTo>
                  <a:pt x="0" y="0"/>
                </a:moveTo>
                <a:lnTo>
                  <a:pt x="7406640" y="0"/>
                </a:lnTo>
              </a:path>
            </a:pathLst>
          </a:custGeom>
          <a:ln w="9525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2079" y="616374"/>
            <a:ext cx="1626259" cy="14799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58240" y="3018536"/>
            <a:ext cx="8760460" cy="67375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US" sz="4267" dirty="0">
                <a:latin typeface="Calibri"/>
                <a:cs typeface="Calibri"/>
              </a:rPr>
              <a:t>Clustering – </a:t>
            </a:r>
            <a:r>
              <a:rPr lang="en-US" sz="4267">
                <a:latin typeface="Calibri"/>
                <a:cs typeface="Calibri"/>
              </a:rPr>
              <a:t>Part 3</a:t>
            </a:r>
            <a:endParaRPr sz="4267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8241" y="3943929"/>
            <a:ext cx="7036647" cy="884131"/>
          </a:xfrm>
          <a:prstGeom prst="rect">
            <a:avLst/>
          </a:prstGeom>
        </p:spPr>
        <p:txBody>
          <a:bodyPr vert="horz" wrap="square" lIns="0" tIns="39793" rIns="0" bIns="0" rtlCol="0">
            <a:spAutoFit/>
          </a:bodyPr>
          <a:lstStyle/>
          <a:p>
            <a:pPr marL="16933">
              <a:spcBef>
                <a:spcPts val="313"/>
              </a:spcBef>
            </a:pPr>
            <a:r>
              <a:rPr lang="en-US" sz="2667" dirty="0">
                <a:solidFill>
                  <a:srgbClr val="3E3E3E"/>
                </a:solidFill>
                <a:latin typeface="Calibri"/>
                <a:cs typeface="Calibri"/>
              </a:rPr>
              <a:t>Data Mining</a:t>
            </a:r>
            <a:r>
              <a:rPr sz="2667" dirty="0">
                <a:solidFill>
                  <a:srgbClr val="3E3E3E"/>
                </a:solidFill>
                <a:latin typeface="Calibri"/>
                <a:cs typeface="Calibri"/>
              </a:rPr>
              <a:t>–</a:t>
            </a:r>
            <a:r>
              <a:rPr sz="2667" spc="-67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3E3E3E"/>
                </a:solidFill>
                <a:latin typeface="Calibri"/>
                <a:cs typeface="Calibri"/>
              </a:rPr>
              <a:t>Final</a:t>
            </a:r>
            <a:r>
              <a:rPr sz="2667" spc="-47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3E3E3E"/>
                </a:solidFill>
                <a:latin typeface="Calibri"/>
                <a:cs typeface="Calibri"/>
              </a:rPr>
              <a:t>Week</a:t>
            </a:r>
            <a:r>
              <a:rPr sz="2667" spc="-53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n-US" sz="2667" spc="-67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endParaRPr sz="2667" dirty="0">
              <a:latin typeface="Calibri"/>
              <a:cs typeface="Calibri"/>
            </a:endParaRPr>
          </a:p>
          <a:p>
            <a:pPr marL="16933" marR="4059665">
              <a:lnSpc>
                <a:spcPct val="90100"/>
              </a:lnSpc>
              <a:spcBef>
                <a:spcPts val="507"/>
              </a:spcBef>
            </a:pPr>
            <a:endParaRPr sz="2667" dirty="0">
              <a:latin typeface="Calibri"/>
              <a:cs typeface="Calibri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36DBFFEF-B102-217A-056F-755C77016154}"/>
              </a:ext>
            </a:extLst>
          </p:cNvPr>
          <p:cNvSpPr txBox="1"/>
          <p:nvPr/>
        </p:nvSpPr>
        <p:spPr>
          <a:xfrm>
            <a:off x="1158240" y="4531500"/>
            <a:ext cx="8479536" cy="2032650"/>
          </a:xfrm>
          <a:prstGeom prst="rect">
            <a:avLst/>
          </a:prstGeom>
        </p:spPr>
        <p:txBody>
          <a:bodyPr vert="horz" wrap="square" lIns="0" tIns="39793" rIns="0" bIns="0" rtlCol="0">
            <a:spAutoFit/>
          </a:bodyPr>
          <a:lstStyle/>
          <a:p>
            <a:pPr marL="16933" marR="4059665">
              <a:lnSpc>
                <a:spcPct val="90100"/>
              </a:lnSpc>
              <a:spcBef>
                <a:spcPts val="507"/>
              </a:spcBef>
            </a:pPr>
            <a:r>
              <a:rPr lang="en-US" sz="2400" spc="-27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Calibri"/>
                <a:cs typeface="Calibri"/>
              </a:rPr>
              <a:t>Humaira Anzum Neha</a:t>
            </a:r>
            <a:r>
              <a:rPr lang="en-US" sz="2400" spc="-13" dirty="0">
                <a:solidFill>
                  <a:srgbClr val="6DAC1C"/>
                </a:solidFill>
                <a:latin typeface="Calibri"/>
                <a:cs typeface="Calibri"/>
              </a:rPr>
              <a:t> </a:t>
            </a:r>
          </a:p>
          <a:p>
            <a:pPr marL="16933" marR="4059665">
              <a:lnSpc>
                <a:spcPct val="90100"/>
              </a:lnSpc>
              <a:spcBef>
                <a:spcPts val="507"/>
              </a:spcBef>
            </a:pPr>
            <a:r>
              <a:rPr lang="en-US" sz="2400" spc="-13" dirty="0">
                <a:latin typeface="Calibri"/>
                <a:cs typeface="Calibri"/>
              </a:rPr>
              <a:t>Lecturer</a:t>
            </a:r>
          </a:p>
          <a:p>
            <a:pPr marL="16933" marR="4059665">
              <a:lnSpc>
                <a:spcPct val="90100"/>
              </a:lnSpc>
              <a:spcBef>
                <a:spcPts val="507"/>
              </a:spcBef>
            </a:pPr>
            <a:r>
              <a:rPr lang="en-US" sz="2400" dirty="0">
                <a:solidFill>
                  <a:srgbClr val="3E3E3E"/>
                </a:solidFill>
                <a:latin typeface="Calibri"/>
                <a:cs typeface="Calibri"/>
              </a:rPr>
              <a:t>Dept</a:t>
            </a:r>
            <a:r>
              <a:rPr lang="en-US" sz="240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E3E3E"/>
                </a:solidFill>
                <a:latin typeface="Calibri"/>
                <a:cs typeface="Calibri"/>
              </a:rPr>
              <a:t>of</a:t>
            </a:r>
            <a:r>
              <a:rPr lang="en-US" sz="2400" spc="-33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E3E3E"/>
                </a:solidFill>
                <a:latin typeface="Calibri"/>
                <a:cs typeface="Calibri"/>
              </a:rPr>
              <a:t>CSE,</a:t>
            </a:r>
            <a:r>
              <a:rPr lang="en-US" sz="2400" spc="-47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n-US" sz="2400" spc="-33" dirty="0">
                <a:solidFill>
                  <a:srgbClr val="3E3E3E"/>
                </a:solidFill>
                <a:latin typeface="Calibri"/>
                <a:cs typeface="Calibri"/>
              </a:rPr>
              <a:t>UIU </a:t>
            </a:r>
          </a:p>
          <a:p>
            <a:pPr marL="16933" marR="4059665">
              <a:lnSpc>
                <a:spcPct val="90100"/>
              </a:lnSpc>
              <a:spcBef>
                <a:spcPts val="507"/>
              </a:spcBef>
            </a:pPr>
            <a:r>
              <a:rPr lang="en-US" sz="2400" spc="-33" dirty="0">
                <a:solidFill>
                  <a:srgbClr val="3E3E3E"/>
                </a:solidFill>
                <a:latin typeface="Calibri"/>
                <a:cs typeface="Calibri"/>
                <a:hlinkClick r:id="rId3"/>
              </a:rPr>
              <a:t>humaira</a:t>
            </a:r>
            <a:r>
              <a:rPr lang="en-US" sz="2400" u="sng" spc="-13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Calibri"/>
                <a:cs typeface="Calibri"/>
                <a:hlinkClick r:id="rId3"/>
              </a:rPr>
              <a:t>@cse.uiu.ac.bd</a:t>
            </a:r>
            <a:endParaRPr lang="en-US" sz="2400" u="sng" spc="-13" dirty="0">
              <a:solidFill>
                <a:srgbClr val="6DAC1C"/>
              </a:solidFill>
              <a:uFill>
                <a:solidFill>
                  <a:srgbClr val="6DAC1C"/>
                </a:solidFill>
              </a:uFill>
              <a:latin typeface="Calibri"/>
              <a:cs typeface="Calibri"/>
            </a:endParaRPr>
          </a:p>
          <a:p>
            <a:pPr marL="16933" marR="4059665">
              <a:lnSpc>
                <a:spcPct val="90100"/>
              </a:lnSpc>
              <a:spcBef>
                <a:spcPts val="507"/>
              </a:spcBef>
            </a:pPr>
            <a:endParaRPr sz="2667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Density Based Clustering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2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5E852F-9CF8-FFC4-6F74-E76B64E5F2EA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1C4B4A-5DAC-0E38-242D-51C73864AD90}"/>
              </a:ext>
            </a:extLst>
          </p:cNvPr>
          <p:cNvSpPr txBox="1"/>
          <p:nvPr/>
        </p:nvSpPr>
        <p:spPr>
          <a:xfrm>
            <a:off x="1678219" y="789517"/>
            <a:ext cx="881185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Problem with K-Mean</a:t>
            </a:r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/>
              <a:t>Need to specify no of clusters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/>
              <a:t>Sensitive to outliers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b="1" i="0" dirty="0">
                <a:solidFill>
                  <a:srgbClr val="383838"/>
                </a:solidFill>
                <a:effectLst/>
                <a:latin typeface="Inter"/>
              </a:rPr>
              <a:t>K-Means</a:t>
            </a:r>
            <a:r>
              <a:rPr lang="en-US" sz="2400" b="0" i="0" dirty="0">
                <a:solidFill>
                  <a:srgbClr val="383838"/>
                </a:solidFill>
                <a:effectLst/>
                <a:latin typeface="Inter"/>
              </a:rPr>
              <a:t> and </a:t>
            </a:r>
            <a:r>
              <a:rPr lang="en-US" sz="2400" b="1" i="0" dirty="0">
                <a:solidFill>
                  <a:srgbClr val="383838"/>
                </a:solidFill>
                <a:effectLst/>
                <a:latin typeface="Inter"/>
              </a:rPr>
              <a:t>Hierarchical Clustering </a:t>
            </a:r>
            <a:r>
              <a:rPr lang="en-US" sz="2400" b="0" i="0" dirty="0">
                <a:solidFill>
                  <a:srgbClr val="383838"/>
                </a:solidFill>
                <a:effectLst/>
                <a:latin typeface="Inter"/>
              </a:rPr>
              <a:t>both fail in creating clusters of arbitrary shapes. They are not able to form clusters based on varying densities. That’s why we need DBSCAN clustering.</a:t>
            </a:r>
            <a:endParaRPr lang="en-US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BBB262-BFC1-7800-E532-8DBCC51FFB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3" t="3146" r="55051" b="3679"/>
          <a:stretch/>
        </p:blipFill>
        <p:spPr>
          <a:xfrm>
            <a:off x="1094619" y="3613666"/>
            <a:ext cx="4760536" cy="30805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221D8B7-C9DC-A438-A85D-807FAD7BDD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693" t="5879" r="1047" b="3859"/>
          <a:stretch/>
        </p:blipFill>
        <p:spPr>
          <a:xfrm>
            <a:off x="6336846" y="3642887"/>
            <a:ext cx="4875072" cy="281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998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Density Based Clustering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3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58A118-AE2D-33CD-D274-CB4994579A1F}"/>
              </a:ext>
            </a:extLst>
          </p:cNvPr>
          <p:cNvSpPr txBox="1"/>
          <p:nvPr/>
        </p:nvSpPr>
        <p:spPr>
          <a:xfrm>
            <a:off x="1588347" y="1419901"/>
            <a:ext cx="88340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FE029-D3A5-EF97-5EA8-E985643C9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61" y="1332211"/>
            <a:ext cx="4675561" cy="4441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E496FB-0506-01F2-D93C-8C26236BF4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305"/>
          <a:stretch/>
        </p:blipFill>
        <p:spPr>
          <a:xfrm>
            <a:off x="5635581" y="1312684"/>
            <a:ext cx="4604735" cy="448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602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Density Based Clustering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4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58A118-AE2D-33CD-D274-CB4994579A1F}"/>
              </a:ext>
            </a:extLst>
          </p:cNvPr>
          <p:cNvSpPr txBox="1"/>
          <p:nvPr/>
        </p:nvSpPr>
        <p:spPr>
          <a:xfrm>
            <a:off x="1588347" y="1419901"/>
            <a:ext cx="88340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FE029-D3A5-EF97-5EA8-E985643C9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61" y="1332211"/>
            <a:ext cx="4675561" cy="4441475"/>
          </a:xfrm>
          <a:prstGeom prst="rect">
            <a:avLst/>
          </a:prstGeom>
        </p:spPr>
      </p:pic>
      <p:pic>
        <p:nvPicPr>
          <p:cNvPr id="1026" name="Picture 2" descr="kmeans and hierarchical clustering">
            <a:extLst>
              <a:ext uri="{FF2B5EF4-FFF2-40B4-BE49-F238E27FC236}">
                <a16:creationId xmlns:a16="http://schemas.microsoft.com/office/drawing/2014/main" id="{8A7CB1BA-82D8-006C-868F-E13E0DF52A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46"/>
          <a:stretch/>
        </p:blipFill>
        <p:spPr bwMode="auto">
          <a:xfrm>
            <a:off x="6050346" y="1358409"/>
            <a:ext cx="4675561" cy="4428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2568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Density Based Clustering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5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58A118-AE2D-33CD-D274-CB4994579A1F}"/>
              </a:ext>
            </a:extLst>
          </p:cNvPr>
          <p:cNvSpPr txBox="1"/>
          <p:nvPr/>
        </p:nvSpPr>
        <p:spPr>
          <a:xfrm>
            <a:off x="1814590" y="2681456"/>
            <a:ext cx="88340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solidFill>
                  <a:srgbClr val="383838"/>
                </a:solidFill>
                <a:effectLst/>
                <a:latin typeface="Inter"/>
              </a:rPr>
              <a:t>Sadly, both of them failed to cluster the data points. Also, they were not able to properly detect the noise present in the dataset.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16651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Density Based Clustering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6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50" name="Picture 2" descr="dbscan clustering">
            <a:extLst>
              <a:ext uri="{FF2B5EF4-FFF2-40B4-BE49-F238E27FC236}">
                <a16:creationId xmlns:a16="http://schemas.microsoft.com/office/drawing/2014/main" id="{DAEA0D9D-E787-684E-2878-08C2361E0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238" y="1021720"/>
            <a:ext cx="5615381" cy="5471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0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What is DBSCAN Clustering?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7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B6954-96B4-2F16-DCB5-38C7BB679B40}"/>
              </a:ext>
            </a:extLst>
          </p:cNvPr>
          <p:cNvSpPr txBox="1"/>
          <p:nvPr/>
        </p:nvSpPr>
        <p:spPr>
          <a:xfrm>
            <a:off x="1824087" y="1136760"/>
            <a:ext cx="883291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DBSCAN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stands for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D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ensity-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B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ased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S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patial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C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lustering of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A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pplications with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N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oise.</a:t>
            </a:r>
          </a:p>
          <a:p>
            <a:endParaRPr lang="en-US" dirty="0">
              <a:solidFill>
                <a:srgbClr val="383838"/>
              </a:solidFill>
              <a:latin typeface="Inter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DBSCAN is a density-based clustering algorithm that works on the assumption that clusters are dense regions in space separated by regions of lower density.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It groups ‘densely grouped’ data points into a single cluster. It can identify clusters in large spatial datasets by looking at the local density of the data points.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most exciting feature of DBSCAN clustering is that it is robust to outliers.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It also does not require the number of clusters to be told beforehand, unlike K-Means, where we have to specify the number of centroids.</a:t>
            </a:r>
          </a:p>
        </p:txBody>
      </p:sp>
    </p:spTree>
    <p:extLst>
      <p:ext uri="{BB962C8B-B14F-4D97-AF65-F5344CB8AC3E}">
        <p14:creationId xmlns:p14="http://schemas.microsoft.com/office/powerpoint/2010/main" val="2722725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 Parameters Required for DBSCAN Algorithm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8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BE3E94-7ADC-59AF-F557-54AA6F448A66}"/>
              </a:ext>
            </a:extLst>
          </p:cNvPr>
          <p:cNvSpPr txBox="1"/>
          <p:nvPr/>
        </p:nvSpPr>
        <p:spPr>
          <a:xfrm>
            <a:off x="1743959" y="1150070"/>
            <a:ext cx="86160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i="0" dirty="0">
                <a:solidFill>
                  <a:srgbClr val="383838"/>
                </a:solidFill>
                <a:effectLst/>
                <a:latin typeface="Inter"/>
              </a:rPr>
              <a:t>eps (ε):</a:t>
            </a:r>
            <a:r>
              <a:rPr lang="en-US" sz="2400" b="0" i="0" dirty="0">
                <a:solidFill>
                  <a:srgbClr val="383838"/>
                </a:solidFill>
                <a:effectLst/>
                <a:latin typeface="Inter"/>
              </a:rPr>
              <a:t> This parameter defines the radius of a neighborhood around a data point. Points within this distance are considered neighbors of the central point.</a:t>
            </a:r>
          </a:p>
          <a:p>
            <a:endParaRPr lang="en-US" sz="2400" dirty="0">
              <a:solidFill>
                <a:srgbClr val="383838"/>
              </a:solidFill>
              <a:latin typeface="Inter"/>
            </a:endParaRPr>
          </a:p>
          <a:p>
            <a:endParaRPr lang="en-US" sz="2400" b="0" i="0" dirty="0">
              <a:solidFill>
                <a:srgbClr val="383838"/>
              </a:solidFill>
              <a:effectLst/>
              <a:latin typeface="Inter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i="0" dirty="0" err="1">
                <a:solidFill>
                  <a:srgbClr val="383838"/>
                </a:solidFill>
                <a:effectLst/>
                <a:latin typeface="Inter"/>
              </a:rPr>
              <a:t>minPts</a:t>
            </a:r>
            <a:r>
              <a:rPr lang="en-US" sz="2400" b="1" i="0" dirty="0">
                <a:solidFill>
                  <a:srgbClr val="383838"/>
                </a:solidFill>
                <a:effectLst/>
                <a:latin typeface="Inter"/>
              </a:rPr>
              <a:t>: </a:t>
            </a:r>
            <a:r>
              <a:rPr lang="en-US" sz="2400" b="0" i="0" dirty="0">
                <a:solidFill>
                  <a:srgbClr val="383838"/>
                </a:solidFill>
                <a:effectLst/>
                <a:latin typeface="Inter"/>
              </a:rPr>
              <a:t>This parameter represents the minimum number of points required within the ε-neighborhood of a point to classify it as a core point. A core point is considered to be dense enough to be part of a cluster.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40786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 Walkthrough of DBSCAN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9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4" name="Picture 2" descr="dbscan data points">
            <a:extLst>
              <a:ext uri="{FF2B5EF4-FFF2-40B4-BE49-F238E27FC236}">
                <a16:creationId xmlns:a16="http://schemas.microsoft.com/office/drawing/2014/main" id="{029354E5-9893-9E43-1D1E-825B975BB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1551" y="993674"/>
            <a:ext cx="2551606" cy="19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3FD5AA-F0DF-EB75-3672-DFB5082CE084}"/>
              </a:ext>
            </a:extLst>
          </p:cNvPr>
          <p:cNvSpPr txBox="1"/>
          <p:nvPr/>
        </p:nvSpPr>
        <p:spPr>
          <a:xfrm>
            <a:off x="1860897" y="3219576"/>
            <a:ext cx="883291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DBSCAN creates a circle of </a:t>
            </a:r>
            <a:r>
              <a:rPr lang="en-US" b="0" i="1" dirty="0">
                <a:solidFill>
                  <a:srgbClr val="383838"/>
                </a:solidFill>
                <a:effectLst/>
                <a:latin typeface="Inter"/>
              </a:rPr>
              <a:t>epsilon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radius around every data point and classifies them into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Core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point,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Border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point, and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Noise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rgbClr val="383838"/>
              </a:solidFill>
              <a:latin typeface="Inter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A data point is a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Core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point if the circle around it contains at least ‘</a:t>
            </a:r>
            <a:r>
              <a:rPr lang="en-US" b="0" i="1" dirty="0" err="1">
                <a:solidFill>
                  <a:srgbClr val="383838"/>
                </a:solidFill>
                <a:effectLst/>
                <a:latin typeface="Inter"/>
              </a:rPr>
              <a:t>minPoints</a:t>
            </a:r>
            <a:r>
              <a:rPr lang="en-US" b="0" i="1" dirty="0">
                <a:solidFill>
                  <a:srgbClr val="383838"/>
                </a:solidFill>
                <a:effectLst/>
                <a:latin typeface="Inter"/>
              </a:rPr>
              <a:t>’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number of points.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rgbClr val="383838"/>
              </a:solidFill>
              <a:latin typeface="Inter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If the number of points is less than </a:t>
            </a:r>
            <a:r>
              <a:rPr lang="en-US" b="0" i="1" dirty="0" err="1">
                <a:solidFill>
                  <a:srgbClr val="383838"/>
                </a:solidFill>
                <a:effectLst/>
                <a:latin typeface="Inter"/>
              </a:rPr>
              <a:t>minPoints</a:t>
            </a:r>
            <a:r>
              <a:rPr lang="en-US" b="0" i="1" dirty="0">
                <a:solidFill>
                  <a:srgbClr val="383838"/>
                </a:solidFill>
                <a:effectLst/>
                <a:latin typeface="Inter"/>
              </a:rPr>
              <a:t> but at least one core points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, then it is classified as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Border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Point.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rgbClr val="383838"/>
              </a:solidFill>
              <a:latin typeface="Inter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383838"/>
                </a:solidFill>
                <a:latin typeface="Inter"/>
              </a:rPr>
              <a:t>A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round any data point within </a:t>
            </a:r>
            <a:r>
              <a:rPr lang="en-US" b="0" i="1" dirty="0">
                <a:solidFill>
                  <a:srgbClr val="383838"/>
                </a:solidFill>
                <a:effectLst/>
                <a:latin typeface="Inter"/>
              </a:rPr>
              <a:t>epsilon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radius, if the number of points is less than </a:t>
            </a:r>
            <a:r>
              <a:rPr lang="en-US" b="0" i="0" dirty="0" err="1">
                <a:solidFill>
                  <a:srgbClr val="383838"/>
                </a:solidFill>
                <a:effectLst/>
                <a:latin typeface="Inter"/>
              </a:rPr>
              <a:t>minPoints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 but there are no core points, then it treated as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Noise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449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 Walkthrough of DBSCAN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10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4" name="Picture 2" descr="dbscan data points">
            <a:extLst>
              <a:ext uri="{FF2B5EF4-FFF2-40B4-BE49-F238E27FC236}">
                <a16:creationId xmlns:a16="http://schemas.microsoft.com/office/drawing/2014/main" id="{029354E5-9893-9E43-1D1E-825B975BB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219" y="1261071"/>
            <a:ext cx="2799217" cy="2145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DE24E6-E8F5-3858-E1C6-940E95799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4935" y="942678"/>
            <a:ext cx="3571875" cy="2933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1B623D-04D8-774F-EE57-63F508A6627A}"/>
              </a:ext>
            </a:extLst>
          </p:cNvPr>
          <p:cNvSpPr txBox="1"/>
          <p:nvPr/>
        </p:nvSpPr>
        <p:spPr>
          <a:xfrm>
            <a:off x="2054716" y="3908425"/>
            <a:ext cx="883291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383838"/>
                </a:solidFill>
                <a:effectLst/>
                <a:latin typeface="Inter"/>
              </a:rPr>
              <a:t>DBCAN with </a:t>
            </a:r>
            <a:r>
              <a:rPr lang="en-US" b="1" i="1" dirty="0" err="1">
                <a:solidFill>
                  <a:srgbClr val="383838"/>
                </a:solidFill>
                <a:effectLst/>
                <a:latin typeface="Inter"/>
              </a:rPr>
              <a:t>minPoints</a:t>
            </a:r>
            <a:r>
              <a:rPr lang="en-US" b="1" i="1" dirty="0">
                <a:solidFill>
                  <a:srgbClr val="383838"/>
                </a:solidFill>
                <a:effectLst/>
                <a:latin typeface="Inter"/>
              </a:rPr>
              <a:t> = 3</a:t>
            </a:r>
          </a:p>
          <a:p>
            <a:endParaRPr lang="en-US" b="1" i="1" dirty="0">
              <a:solidFill>
                <a:srgbClr val="383838"/>
              </a:solidFill>
              <a:effectLst/>
              <a:latin typeface="Inter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All the data points with at least 3 points in the circle including itself are considered as </a:t>
            </a:r>
            <a:r>
              <a:rPr lang="en-US" b="1" i="0" dirty="0">
                <a:solidFill>
                  <a:srgbClr val="FF0000"/>
                </a:solidFill>
                <a:effectLst/>
                <a:latin typeface="Inter"/>
              </a:rPr>
              <a:t>Core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points represented by </a:t>
            </a:r>
            <a:r>
              <a:rPr lang="en-US" b="0" i="0" dirty="0">
                <a:solidFill>
                  <a:srgbClr val="FF0000"/>
                </a:solidFill>
                <a:effectLst/>
                <a:latin typeface="Inter"/>
              </a:rPr>
              <a:t>red color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rgbClr val="383838"/>
              </a:solidFill>
              <a:latin typeface="Inter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All the data points with less than 3 point in the circle including itself but at least one </a:t>
            </a:r>
            <a:r>
              <a:rPr lang="en-US" b="0" i="0" dirty="0">
                <a:solidFill>
                  <a:srgbClr val="FF0000"/>
                </a:solidFill>
                <a:effectLst/>
                <a:latin typeface="Inter"/>
              </a:rPr>
              <a:t>core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 point are considered as </a:t>
            </a:r>
            <a:r>
              <a:rPr lang="en-US" b="1" i="0" dirty="0">
                <a:solidFill>
                  <a:srgbClr val="FFC000"/>
                </a:solidFill>
                <a:effectLst/>
                <a:latin typeface="Inter"/>
              </a:rPr>
              <a:t>Border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points. They are represented by yellow color.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rgbClr val="383838"/>
              </a:solidFill>
              <a:latin typeface="Inter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7030A0"/>
                </a:solidFill>
                <a:effectLst/>
                <a:latin typeface="Inter"/>
              </a:rPr>
              <a:t>Noise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represented by the purple color.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502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 Walkthrough of DBSCAN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11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88EA41-2C04-BBE2-DE88-B26FFBCBD7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49" t="1188" r="1730"/>
          <a:stretch/>
        </p:blipFill>
        <p:spPr>
          <a:xfrm>
            <a:off x="3064706" y="910441"/>
            <a:ext cx="5958642" cy="49926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60E622-CE4D-8B95-1AFB-2F0C97395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654" y="5689340"/>
            <a:ext cx="4908985" cy="101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860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 Walkthrough of DBSCAN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12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1B98A-658C-822E-0D63-02639DCF6C15}"/>
              </a:ext>
            </a:extLst>
          </p:cNvPr>
          <p:cNvSpPr txBox="1"/>
          <p:nvPr/>
        </p:nvSpPr>
        <p:spPr>
          <a:xfrm>
            <a:off x="1734532" y="1329179"/>
            <a:ext cx="884541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Reachability and Connectivity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0" i="0" dirty="0">
                <a:solidFill>
                  <a:srgbClr val="383838"/>
                </a:solidFill>
                <a:effectLst/>
                <a:latin typeface="Inter"/>
              </a:rPr>
              <a:t>Reachability states if a data point can be accessed from another data point directly or indirectly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383838"/>
              </a:solidFill>
              <a:latin typeface="Inter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0" i="0" dirty="0">
                <a:solidFill>
                  <a:srgbClr val="383838"/>
                </a:solidFill>
                <a:effectLst/>
                <a:latin typeface="Inter"/>
              </a:rPr>
              <a:t>Connectivity states whether two data points belong to the same cluster or not.</a:t>
            </a:r>
          </a:p>
          <a:p>
            <a:endParaRPr lang="en-US" sz="2000" dirty="0">
              <a:solidFill>
                <a:srgbClr val="383838"/>
              </a:solidFill>
              <a:latin typeface="Inter"/>
            </a:endParaRPr>
          </a:p>
          <a:p>
            <a:r>
              <a:rPr lang="en-US" sz="2000" b="0" i="0" dirty="0">
                <a:solidFill>
                  <a:srgbClr val="383838"/>
                </a:solidFill>
                <a:effectLst/>
                <a:latin typeface="Inter"/>
              </a:rPr>
              <a:t> In terms of reachability and connectivity, two points in DBSCAN can be referred to as:</a:t>
            </a:r>
          </a:p>
          <a:p>
            <a:endParaRPr lang="en-US" sz="2000" dirty="0">
              <a:solidFill>
                <a:srgbClr val="383838"/>
              </a:solidFill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83838"/>
                </a:solidFill>
                <a:effectLst/>
                <a:latin typeface="Inter"/>
              </a:rPr>
              <a:t>Directly Density-Reachable</a:t>
            </a:r>
            <a:endParaRPr lang="en-US" sz="2000" b="0" i="0" dirty="0">
              <a:solidFill>
                <a:srgbClr val="383838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83838"/>
                </a:solidFill>
                <a:effectLst/>
                <a:latin typeface="Inter"/>
              </a:rPr>
              <a:t>Density-Reachable</a:t>
            </a:r>
            <a:endParaRPr lang="en-US" sz="2000" b="0" i="0" dirty="0">
              <a:solidFill>
                <a:srgbClr val="383838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83838"/>
                </a:solidFill>
                <a:effectLst/>
                <a:latin typeface="Inter"/>
              </a:rPr>
              <a:t>Density-Connected</a:t>
            </a:r>
            <a:endParaRPr lang="en-US" sz="2000" b="0" i="0" dirty="0">
              <a:solidFill>
                <a:srgbClr val="383838"/>
              </a:solidFill>
              <a:effectLst/>
              <a:latin typeface="Inter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384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 Walkthrough of DBSCAN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13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1B98A-658C-822E-0D63-02639DCF6C15}"/>
              </a:ext>
            </a:extLst>
          </p:cNvPr>
          <p:cNvSpPr txBox="1"/>
          <p:nvPr/>
        </p:nvSpPr>
        <p:spPr>
          <a:xfrm>
            <a:off x="1734532" y="1329179"/>
            <a:ext cx="8845415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Reachability and Connectivity</a:t>
            </a:r>
          </a:p>
          <a:p>
            <a:endParaRPr lang="en-US" dirty="0">
              <a:solidFill>
                <a:srgbClr val="383838"/>
              </a:solidFill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Directly Density-Reachable</a:t>
            </a:r>
            <a:endParaRPr lang="en-US" b="0" i="0" dirty="0">
              <a:solidFill>
                <a:srgbClr val="383838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Density-Reachable</a:t>
            </a:r>
            <a:endParaRPr lang="en-US" b="0" i="0" dirty="0">
              <a:solidFill>
                <a:srgbClr val="383838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Density-Connected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383838"/>
              </a:solidFill>
              <a:latin typeface="Inter"/>
            </a:endParaRPr>
          </a:p>
          <a:p>
            <a:pPr algn="l"/>
            <a:r>
              <a:rPr lang="en-US" sz="2000" b="0" i="0" dirty="0">
                <a:solidFill>
                  <a:srgbClr val="383838"/>
                </a:solidFill>
                <a:effectLst/>
                <a:latin typeface="Inter"/>
              </a:rPr>
              <a:t>A point </a:t>
            </a:r>
            <a:r>
              <a:rPr lang="en-US" sz="2000" b="1" i="0" dirty="0">
                <a:solidFill>
                  <a:srgbClr val="383838"/>
                </a:solidFill>
                <a:effectLst/>
                <a:latin typeface="Inter"/>
              </a:rPr>
              <a:t>X</a:t>
            </a:r>
            <a:r>
              <a:rPr lang="en-US" sz="2000" b="0" i="0" dirty="0">
                <a:solidFill>
                  <a:srgbClr val="383838"/>
                </a:solidFill>
                <a:effectLst/>
                <a:latin typeface="Inter"/>
              </a:rPr>
              <a:t> is </a:t>
            </a:r>
            <a:r>
              <a:rPr lang="en-US" sz="2000" b="1" i="0" dirty="0">
                <a:solidFill>
                  <a:srgbClr val="383838"/>
                </a:solidFill>
                <a:effectLst/>
                <a:latin typeface="Inter"/>
              </a:rPr>
              <a:t>directly density-reachable</a:t>
            </a:r>
            <a:r>
              <a:rPr lang="en-US" sz="2000" b="0" i="0" dirty="0">
                <a:solidFill>
                  <a:srgbClr val="383838"/>
                </a:solidFill>
                <a:effectLst/>
                <a:latin typeface="Inter"/>
              </a:rPr>
              <a:t> from point </a:t>
            </a:r>
            <a:r>
              <a:rPr lang="en-US" sz="2000" b="1" i="0" dirty="0">
                <a:solidFill>
                  <a:srgbClr val="383838"/>
                </a:solidFill>
                <a:effectLst/>
                <a:latin typeface="Inter"/>
              </a:rPr>
              <a:t>Y</a:t>
            </a:r>
            <a:r>
              <a:rPr lang="en-US" sz="2000" b="0" i="0" dirty="0">
                <a:solidFill>
                  <a:srgbClr val="383838"/>
                </a:solidFill>
                <a:effectLst/>
                <a:latin typeface="Inter"/>
              </a:rPr>
              <a:t> w.r.t </a:t>
            </a:r>
            <a:r>
              <a:rPr lang="en-US" sz="2000" b="0" i="1" dirty="0">
                <a:solidFill>
                  <a:srgbClr val="383838"/>
                </a:solidFill>
                <a:effectLst/>
                <a:latin typeface="Inter"/>
              </a:rPr>
              <a:t>epsilon, </a:t>
            </a:r>
            <a:r>
              <a:rPr lang="en-US" sz="2000" b="0" i="1" dirty="0" err="1">
                <a:solidFill>
                  <a:srgbClr val="383838"/>
                </a:solidFill>
                <a:effectLst/>
                <a:latin typeface="Inter"/>
              </a:rPr>
              <a:t>minPoints</a:t>
            </a:r>
            <a:r>
              <a:rPr lang="en-US" sz="2000" b="0" i="0" dirty="0">
                <a:solidFill>
                  <a:srgbClr val="383838"/>
                </a:solidFill>
                <a:effectLst/>
                <a:latin typeface="Inter"/>
              </a:rPr>
              <a:t> if,</a:t>
            </a:r>
          </a:p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383838"/>
                </a:solidFill>
                <a:effectLst/>
                <a:latin typeface="Inter"/>
              </a:rPr>
              <a:t>X</a:t>
            </a:r>
            <a:r>
              <a:rPr lang="en-US" sz="2000" b="0" i="0" dirty="0">
                <a:solidFill>
                  <a:srgbClr val="383838"/>
                </a:solidFill>
                <a:effectLst/>
                <a:latin typeface="Inter"/>
              </a:rPr>
              <a:t> belongs to the neighborhood of </a:t>
            </a:r>
            <a:r>
              <a:rPr lang="en-US" sz="2000" b="1" i="0" dirty="0">
                <a:solidFill>
                  <a:srgbClr val="383838"/>
                </a:solidFill>
                <a:effectLst/>
                <a:latin typeface="Inter"/>
              </a:rPr>
              <a:t>Y</a:t>
            </a:r>
            <a:r>
              <a:rPr lang="en-US" sz="2000" b="0" i="0" dirty="0">
                <a:solidFill>
                  <a:srgbClr val="383838"/>
                </a:solidFill>
                <a:effectLst/>
                <a:latin typeface="Inter"/>
              </a:rPr>
              <a:t>, </a:t>
            </a:r>
            <a:r>
              <a:rPr lang="en-US" sz="2000" b="0" i="0" dirty="0" err="1">
                <a:solidFill>
                  <a:srgbClr val="383838"/>
                </a:solidFill>
                <a:effectLst/>
                <a:latin typeface="Inter"/>
              </a:rPr>
              <a:t>i.e</a:t>
            </a:r>
            <a:r>
              <a:rPr lang="en-US" sz="2000" b="0" i="0" dirty="0">
                <a:solidFill>
                  <a:srgbClr val="383838"/>
                </a:solidFill>
                <a:effectLst/>
                <a:latin typeface="Inter"/>
              </a:rPr>
              <a:t>, </a:t>
            </a:r>
            <a:r>
              <a:rPr lang="en-US" sz="2000" b="0" i="1" dirty="0" err="1">
                <a:solidFill>
                  <a:srgbClr val="383838"/>
                </a:solidFill>
                <a:effectLst/>
                <a:latin typeface="Inter"/>
              </a:rPr>
              <a:t>dist</a:t>
            </a:r>
            <a:r>
              <a:rPr lang="en-US" sz="2000" b="0" i="1" dirty="0">
                <a:solidFill>
                  <a:srgbClr val="383838"/>
                </a:solidFill>
                <a:effectLst/>
                <a:latin typeface="Inter"/>
              </a:rPr>
              <a:t>(X, Y) &lt;= epsilon</a:t>
            </a:r>
            <a:endParaRPr lang="en-US" sz="2000" b="0" i="0" dirty="0">
              <a:solidFill>
                <a:srgbClr val="383838"/>
              </a:solidFill>
              <a:effectLst/>
              <a:latin typeface="Inter"/>
            </a:endParaRPr>
          </a:p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383838"/>
                </a:solidFill>
                <a:effectLst/>
                <a:latin typeface="Inter"/>
              </a:rPr>
              <a:t>Y</a:t>
            </a:r>
            <a:r>
              <a:rPr lang="en-US" sz="2000" b="0" i="0" dirty="0">
                <a:solidFill>
                  <a:srgbClr val="383838"/>
                </a:solidFill>
                <a:effectLst/>
                <a:latin typeface="Inter"/>
              </a:rPr>
              <a:t> is a core point</a:t>
            </a:r>
          </a:p>
          <a:p>
            <a:pPr algn="l"/>
            <a:endParaRPr lang="en-US" b="1" i="0" dirty="0">
              <a:solidFill>
                <a:srgbClr val="383838"/>
              </a:solidFill>
              <a:effectLst/>
              <a:latin typeface="Inter"/>
            </a:endParaRPr>
          </a:p>
          <a:p>
            <a:pPr algn="l"/>
            <a:endParaRPr lang="en-US" b="0" i="0" dirty="0">
              <a:solidFill>
                <a:srgbClr val="383838"/>
              </a:solidFill>
              <a:effectLst/>
              <a:latin typeface="Inter"/>
            </a:endParaRP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D7E707-F57D-EEF0-8C6A-BB4AF4F8B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433" y="4026072"/>
            <a:ext cx="2086060" cy="20021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E59301-0210-313E-C666-80B8F398EA46}"/>
              </a:ext>
            </a:extLst>
          </p:cNvPr>
          <p:cNvSpPr txBox="1"/>
          <p:nvPr/>
        </p:nvSpPr>
        <p:spPr>
          <a:xfrm>
            <a:off x="6994687" y="4677674"/>
            <a:ext cx="38631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Here,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X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is directly density-reachable from Y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,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but vice versa is not valid.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723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 Walkthrough of DBSCAN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14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1B98A-658C-822E-0D63-02639DCF6C15}"/>
              </a:ext>
            </a:extLst>
          </p:cNvPr>
          <p:cNvSpPr txBox="1"/>
          <p:nvPr/>
        </p:nvSpPr>
        <p:spPr>
          <a:xfrm>
            <a:off x="1661439" y="1080760"/>
            <a:ext cx="884541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Reachability and Connectivity</a:t>
            </a:r>
          </a:p>
          <a:p>
            <a:endParaRPr lang="en-US" sz="2000" dirty="0">
              <a:solidFill>
                <a:srgbClr val="383838"/>
              </a:solidFill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83838"/>
                </a:solidFill>
                <a:effectLst/>
                <a:latin typeface="Inter"/>
              </a:rPr>
              <a:t>Directly Density-Reachable</a:t>
            </a:r>
            <a:endParaRPr lang="en-US" sz="2000" b="0" i="0" dirty="0">
              <a:solidFill>
                <a:srgbClr val="383838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83838"/>
                </a:solidFill>
                <a:effectLst/>
                <a:latin typeface="Inter"/>
              </a:rPr>
              <a:t>Density-Reachable</a:t>
            </a:r>
            <a:endParaRPr lang="en-US" sz="2000" b="0" i="0" dirty="0">
              <a:solidFill>
                <a:srgbClr val="383838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83838"/>
                </a:solidFill>
                <a:effectLst/>
                <a:latin typeface="Inter"/>
              </a:rPr>
              <a:t>Density-Connected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383838"/>
              </a:solidFill>
              <a:latin typeface="Inter"/>
            </a:endParaRPr>
          </a:p>
          <a:p>
            <a:pPr algn="l"/>
            <a:r>
              <a:rPr lang="en-US" sz="2000" b="0" i="0" dirty="0">
                <a:solidFill>
                  <a:srgbClr val="383838"/>
                </a:solidFill>
                <a:effectLst/>
                <a:latin typeface="Inter"/>
              </a:rPr>
              <a:t>A point </a:t>
            </a:r>
            <a:r>
              <a:rPr lang="en-US" sz="2000" b="1" i="0" dirty="0">
                <a:solidFill>
                  <a:srgbClr val="383838"/>
                </a:solidFill>
                <a:effectLst/>
                <a:latin typeface="Inter"/>
              </a:rPr>
              <a:t>X</a:t>
            </a:r>
            <a:r>
              <a:rPr lang="en-US" sz="2000" b="0" i="0" dirty="0">
                <a:solidFill>
                  <a:srgbClr val="383838"/>
                </a:solidFill>
                <a:effectLst/>
                <a:latin typeface="Inter"/>
              </a:rPr>
              <a:t> is </a:t>
            </a:r>
            <a:r>
              <a:rPr lang="en-US" sz="2000" b="1" i="0" dirty="0">
                <a:solidFill>
                  <a:srgbClr val="383838"/>
                </a:solidFill>
                <a:effectLst/>
                <a:latin typeface="Inter"/>
              </a:rPr>
              <a:t>density-reachable</a:t>
            </a:r>
            <a:r>
              <a:rPr lang="en-US" sz="2000" b="0" i="0" dirty="0">
                <a:solidFill>
                  <a:srgbClr val="383838"/>
                </a:solidFill>
                <a:effectLst/>
                <a:latin typeface="Inter"/>
              </a:rPr>
              <a:t> from point </a:t>
            </a:r>
            <a:r>
              <a:rPr lang="en-US" sz="2000" b="1" i="0" dirty="0">
                <a:solidFill>
                  <a:srgbClr val="383838"/>
                </a:solidFill>
                <a:effectLst/>
                <a:latin typeface="Inter"/>
              </a:rPr>
              <a:t>Y</a:t>
            </a:r>
            <a:r>
              <a:rPr lang="en-US" sz="2000" b="0" i="0" dirty="0">
                <a:solidFill>
                  <a:srgbClr val="383838"/>
                </a:solidFill>
                <a:effectLst/>
                <a:latin typeface="Inter"/>
              </a:rPr>
              <a:t> w.r.t </a:t>
            </a:r>
            <a:r>
              <a:rPr lang="en-US" sz="2000" b="0" i="1" dirty="0">
                <a:solidFill>
                  <a:srgbClr val="383838"/>
                </a:solidFill>
                <a:effectLst/>
                <a:latin typeface="Inter"/>
              </a:rPr>
              <a:t>epsilon, </a:t>
            </a:r>
            <a:r>
              <a:rPr lang="en-US" sz="2000" b="0" i="1" dirty="0" err="1">
                <a:solidFill>
                  <a:srgbClr val="383838"/>
                </a:solidFill>
                <a:effectLst/>
                <a:latin typeface="Inter"/>
              </a:rPr>
              <a:t>minPoints</a:t>
            </a:r>
            <a:r>
              <a:rPr lang="en-US" sz="2000" b="0" i="0" dirty="0">
                <a:solidFill>
                  <a:srgbClr val="383838"/>
                </a:solidFill>
                <a:effectLst/>
                <a:latin typeface="Inter"/>
              </a:rPr>
              <a:t> if there is a chain of points p1, p2, p3, …, </a:t>
            </a:r>
            <a:r>
              <a:rPr lang="en-US" sz="2000" b="0" i="0" dirty="0" err="1">
                <a:solidFill>
                  <a:srgbClr val="383838"/>
                </a:solidFill>
                <a:effectLst/>
                <a:latin typeface="Inter"/>
              </a:rPr>
              <a:t>pn</a:t>
            </a:r>
            <a:r>
              <a:rPr lang="en-US" sz="2000" b="0" i="0" dirty="0">
                <a:solidFill>
                  <a:srgbClr val="383838"/>
                </a:solidFill>
                <a:effectLst/>
                <a:latin typeface="Inter"/>
              </a:rPr>
              <a:t> and p1=</a:t>
            </a:r>
            <a:r>
              <a:rPr lang="en-US" sz="2000" b="1" i="0" dirty="0">
                <a:solidFill>
                  <a:srgbClr val="383838"/>
                </a:solidFill>
                <a:effectLst/>
                <a:latin typeface="Inter"/>
              </a:rPr>
              <a:t>X</a:t>
            </a:r>
            <a:r>
              <a:rPr lang="en-US" sz="2000" b="0" i="0" dirty="0">
                <a:solidFill>
                  <a:srgbClr val="383838"/>
                </a:solidFill>
                <a:effectLst/>
                <a:latin typeface="Inter"/>
              </a:rPr>
              <a:t> and </a:t>
            </a:r>
            <a:r>
              <a:rPr lang="en-US" sz="2000" b="0" i="0" dirty="0" err="1">
                <a:solidFill>
                  <a:srgbClr val="383838"/>
                </a:solidFill>
                <a:effectLst/>
                <a:latin typeface="Inter"/>
              </a:rPr>
              <a:t>pn</a:t>
            </a:r>
            <a:r>
              <a:rPr lang="en-US" sz="2000" b="0" i="0" dirty="0">
                <a:solidFill>
                  <a:srgbClr val="383838"/>
                </a:solidFill>
                <a:effectLst/>
                <a:latin typeface="Inter"/>
              </a:rPr>
              <a:t>=</a:t>
            </a:r>
            <a:r>
              <a:rPr lang="en-US" sz="2000" b="1" i="0" dirty="0">
                <a:solidFill>
                  <a:srgbClr val="383838"/>
                </a:solidFill>
                <a:effectLst/>
                <a:latin typeface="Inter"/>
              </a:rPr>
              <a:t>Y</a:t>
            </a:r>
            <a:r>
              <a:rPr lang="en-US" sz="2000" b="0" i="0" dirty="0">
                <a:solidFill>
                  <a:srgbClr val="383838"/>
                </a:solidFill>
                <a:effectLst/>
                <a:latin typeface="Inter"/>
              </a:rPr>
              <a:t> such that pi+1 is directly density-reachable from pi</a:t>
            </a:r>
            <a:endParaRPr lang="en-US" sz="2000" b="1" i="0" dirty="0">
              <a:solidFill>
                <a:srgbClr val="383838"/>
              </a:solidFill>
              <a:effectLst/>
              <a:latin typeface="Inter"/>
            </a:endParaRPr>
          </a:p>
          <a:p>
            <a:pPr algn="l"/>
            <a:endParaRPr lang="en-US" b="0" i="0" dirty="0">
              <a:solidFill>
                <a:srgbClr val="383838"/>
              </a:solidFill>
              <a:effectLst/>
              <a:latin typeface="Inter"/>
            </a:endParaRP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E59301-0210-313E-C666-80B8F398EA46}"/>
              </a:ext>
            </a:extLst>
          </p:cNvPr>
          <p:cNvSpPr txBox="1"/>
          <p:nvPr/>
        </p:nvSpPr>
        <p:spPr>
          <a:xfrm>
            <a:off x="6796725" y="4260699"/>
            <a:ext cx="42232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Here, both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X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and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Y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are density-reachable from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O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, therefore, we can say that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X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is density-connected from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Y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BC5D93-BE9C-FDE7-7EC4-71B527977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631" y="4069080"/>
            <a:ext cx="3057525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329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 Walkthrough of DBSCAN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15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1B98A-658C-822E-0D63-02639DCF6C15}"/>
              </a:ext>
            </a:extLst>
          </p:cNvPr>
          <p:cNvSpPr txBox="1"/>
          <p:nvPr/>
        </p:nvSpPr>
        <p:spPr>
          <a:xfrm>
            <a:off x="1734532" y="1329179"/>
            <a:ext cx="88454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Reachability and Connectivity</a:t>
            </a:r>
          </a:p>
          <a:p>
            <a:endParaRPr lang="en-US" dirty="0">
              <a:solidFill>
                <a:srgbClr val="383838"/>
              </a:solidFill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Directly Density-Reachable</a:t>
            </a:r>
            <a:endParaRPr lang="en-US" b="0" i="0" dirty="0">
              <a:solidFill>
                <a:srgbClr val="383838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Density-Reachable</a:t>
            </a:r>
            <a:endParaRPr lang="en-US" b="0" i="0" dirty="0">
              <a:solidFill>
                <a:srgbClr val="383838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Density-Connected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1" dirty="0">
              <a:solidFill>
                <a:srgbClr val="383838"/>
              </a:solidFill>
              <a:latin typeface="Inter"/>
            </a:endParaRPr>
          </a:p>
          <a:p>
            <a:pPr algn="l"/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A point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X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is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density-connected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from point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Y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w.r.t </a:t>
            </a:r>
            <a:r>
              <a:rPr lang="en-US" b="0" i="1" dirty="0">
                <a:solidFill>
                  <a:srgbClr val="383838"/>
                </a:solidFill>
                <a:effectLst/>
                <a:latin typeface="Inter"/>
              </a:rPr>
              <a:t>epsilon and </a:t>
            </a:r>
            <a:r>
              <a:rPr lang="en-US" b="0" i="1" dirty="0" err="1">
                <a:solidFill>
                  <a:srgbClr val="383838"/>
                </a:solidFill>
                <a:effectLst/>
                <a:latin typeface="Inter"/>
              </a:rPr>
              <a:t>minPoints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if there exists a point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O 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such that both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X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and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Y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are density-reachable from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O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w.r.t to </a:t>
            </a:r>
            <a:r>
              <a:rPr lang="en-US" b="0" i="1" dirty="0">
                <a:solidFill>
                  <a:srgbClr val="383838"/>
                </a:solidFill>
                <a:effectLst/>
                <a:latin typeface="Inter"/>
              </a:rPr>
              <a:t>epsilon and </a:t>
            </a:r>
            <a:r>
              <a:rPr lang="en-US" b="0" i="1" dirty="0" err="1">
                <a:solidFill>
                  <a:srgbClr val="383838"/>
                </a:solidFill>
                <a:effectLst/>
                <a:latin typeface="Inter"/>
              </a:rPr>
              <a:t>minPoints</a:t>
            </a:r>
            <a:r>
              <a:rPr lang="en-US" b="0" i="1" dirty="0">
                <a:solidFill>
                  <a:srgbClr val="383838"/>
                </a:solidFill>
                <a:effectLst/>
                <a:latin typeface="Inter"/>
              </a:rPr>
              <a:t>.</a:t>
            </a:r>
            <a:endParaRPr lang="en-US" b="0" i="0" dirty="0">
              <a:solidFill>
                <a:srgbClr val="383838"/>
              </a:solidFill>
              <a:effectLst/>
              <a:latin typeface="Inter"/>
            </a:endParaRP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E59301-0210-313E-C666-80B8F398EA46}"/>
              </a:ext>
            </a:extLst>
          </p:cNvPr>
          <p:cNvSpPr txBox="1"/>
          <p:nvPr/>
        </p:nvSpPr>
        <p:spPr>
          <a:xfrm>
            <a:off x="6796725" y="4260699"/>
            <a:ext cx="42232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Here,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X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is density-reachable from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Y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with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X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being directly density-reachable from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P2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,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P2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from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P3,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and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P3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from </a:t>
            </a:r>
            <a:r>
              <a:rPr lang="en-US" b="1" i="0" dirty="0">
                <a:solidFill>
                  <a:srgbClr val="383838"/>
                </a:solidFill>
                <a:effectLst/>
                <a:latin typeface="Inter"/>
              </a:rPr>
              <a:t>Y.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But, the inverse of this is not valid.</a:t>
            </a:r>
            <a:endParaRPr lang="en-US" dirty="0"/>
          </a:p>
        </p:txBody>
      </p:sp>
      <p:pic>
        <p:nvPicPr>
          <p:cNvPr id="4098" name="Picture 2" descr="density connected">
            <a:extLst>
              <a:ext uri="{FF2B5EF4-FFF2-40B4-BE49-F238E27FC236}">
                <a16:creationId xmlns:a16="http://schemas.microsoft.com/office/drawing/2014/main" id="{1CE8CB83-4146-BBF2-326C-80CE8B853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238" y="3871125"/>
            <a:ext cx="3322997" cy="251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3200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 Walkthrough of DBSCAN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16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1B98A-658C-822E-0D63-02639DCF6C15}"/>
              </a:ext>
            </a:extLst>
          </p:cNvPr>
          <p:cNvSpPr txBox="1"/>
          <p:nvPr/>
        </p:nvSpPr>
        <p:spPr>
          <a:xfrm>
            <a:off x="1734532" y="1329179"/>
            <a:ext cx="884541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DBSCAN Algorithm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Step 1: Identify all points as either core point, border point or noise point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Step 2: For all of the </a:t>
            </a:r>
            <a:r>
              <a:rPr lang="en-US" dirty="0" err="1"/>
              <a:t>unclustered</a:t>
            </a:r>
            <a:r>
              <a:rPr lang="en-US" dirty="0"/>
              <a:t> core points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Step 2a- Create a new cluster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Step 2b- Add all points that are </a:t>
            </a:r>
            <a:r>
              <a:rPr lang="en-US" dirty="0" err="1"/>
              <a:t>unclustered</a:t>
            </a:r>
            <a:r>
              <a:rPr lang="en-US" dirty="0"/>
              <a:t> and density connected to the current point into this cluster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Step  3: For each </a:t>
            </a:r>
            <a:r>
              <a:rPr lang="en-US" dirty="0" err="1"/>
              <a:t>unclustered</a:t>
            </a:r>
            <a:r>
              <a:rPr lang="en-US" dirty="0"/>
              <a:t> border point assign it to the cluster of nearest core point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Step 4: Leave all the noise points as it is.</a:t>
            </a:r>
          </a:p>
        </p:txBody>
      </p:sp>
    </p:spTree>
    <p:extLst>
      <p:ext uri="{BB962C8B-B14F-4D97-AF65-F5344CB8AC3E}">
        <p14:creationId xmlns:p14="http://schemas.microsoft.com/office/powerpoint/2010/main" val="3519753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 Walkthrough of DBSCAN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17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1B98A-658C-822E-0D63-02639DCF6C15}"/>
              </a:ext>
            </a:extLst>
          </p:cNvPr>
          <p:cNvSpPr txBox="1"/>
          <p:nvPr/>
        </p:nvSpPr>
        <p:spPr>
          <a:xfrm>
            <a:off x="1734532" y="1329179"/>
            <a:ext cx="88454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DBSCAN Algorithm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Step 1: Identify all points as either core point, border point or noise point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Step 2: For all of the </a:t>
            </a:r>
            <a:r>
              <a:rPr lang="en-US" dirty="0" err="1"/>
              <a:t>unclustered</a:t>
            </a:r>
            <a:r>
              <a:rPr lang="en-US" dirty="0"/>
              <a:t> core points</a:t>
            </a:r>
          </a:p>
          <a:p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Step 2a: Create a new cluster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Step 2b: Add all points that are </a:t>
            </a:r>
            <a:r>
              <a:rPr lang="en-US" dirty="0" err="1"/>
              <a:t>unclustered</a:t>
            </a:r>
            <a:r>
              <a:rPr lang="en-US" dirty="0"/>
              <a:t> and density connected to the current point into this cluster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Step  3: For each </a:t>
            </a:r>
            <a:r>
              <a:rPr lang="en-US" dirty="0" err="1"/>
              <a:t>unclustered</a:t>
            </a:r>
            <a:r>
              <a:rPr lang="en-US" dirty="0"/>
              <a:t> border point assign it to the cluster of nearest core point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Step 4: Leave all the noise points as it is.</a:t>
            </a:r>
          </a:p>
        </p:txBody>
      </p:sp>
    </p:spTree>
    <p:extLst>
      <p:ext uri="{BB962C8B-B14F-4D97-AF65-F5344CB8AC3E}">
        <p14:creationId xmlns:p14="http://schemas.microsoft.com/office/powerpoint/2010/main" val="2046052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 Walkthrough of DBSCAN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18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6E8C1162-CD67-7537-F48F-13849E3F96D1}"/>
              </a:ext>
            </a:extLst>
          </p:cNvPr>
          <p:cNvSpPr/>
          <p:nvPr/>
        </p:nvSpPr>
        <p:spPr>
          <a:xfrm>
            <a:off x="4251489" y="239903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0B554BCA-EA2A-5A5F-004C-EEA3DA8C63FB}"/>
              </a:ext>
            </a:extLst>
          </p:cNvPr>
          <p:cNvSpPr/>
          <p:nvPr/>
        </p:nvSpPr>
        <p:spPr>
          <a:xfrm>
            <a:off x="4706308" y="276490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36151742-C01D-1978-C081-80F19A53D413}"/>
              </a:ext>
            </a:extLst>
          </p:cNvPr>
          <p:cNvSpPr/>
          <p:nvPr/>
        </p:nvSpPr>
        <p:spPr>
          <a:xfrm>
            <a:off x="3762461" y="288194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0ABF5EAF-B3A6-0A25-B007-3BC5C2832E57}"/>
              </a:ext>
            </a:extLst>
          </p:cNvPr>
          <p:cNvSpPr/>
          <p:nvPr/>
        </p:nvSpPr>
        <p:spPr>
          <a:xfrm>
            <a:off x="4217280" y="322210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B33857D1-EB3E-4A03-09FD-CAD40A677601}"/>
              </a:ext>
            </a:extLst>
          </p:cNvPr>
          <p:cNvSpPr/>
          <p:nvPr/>
        </p:nvSpPr>
        <p:spPr>
          <a:xfrm>
            <a:off x="4745459" y="3251277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3AF3FCCC-FB9D-49E0-AAB5-0414905FA863}"/>
              </a:ext>
            </a:extLst>
          </p:cNvPr>
          <p:cNvSpPr/>
          <p:nvPr/>
        </p:nvSpPr>
        <p:spPr>
          <a:xfrm>
            <a:off x="3479657" y="397605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300666B3-ECB3-19F7-65DC-D043CEA98BFD}"/>
              </a:ext>
            </a:extLst>
          </p:cNvPr>
          <p:cNvSpPr/>
          <p:nvPr/>
        </p:nvSpPr>
        <p:spPr>
          <a:xfrm>
            <a:off x="5341774" y="210427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B277CA5D-8D42-30A8-01D4-39BC4C6D6E1A}"/>
              </a:ext>
            </a:extLst>
          </p:cNvPr>
          <p:cNvSpPr/>
          <p:nvPr/>
        </p:nvSpPr>
        <p:spPr>
          <a:xfrm>
            <a:off x="7307713" y="225165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C3E3C87A-D5CA-6398-F5C1-7D127DDE9A09}"/>
              </a:ext>
            </a:extLst>
          </p:cNvPr>
          <p:cNvSpPr/>
          <p:nvPr/>
        </p:nvSpPr>
        <p:spPr>
          <a:xfrm>
            <a:off x="7732230" y="265144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54809F40-9648-E4CD-B58D-C041FFFDBF46}"/>
              </a:ext>
            </a:extLst>
          </p:cNvPr>
          <p:cNvSpPr/>
          <p:nvPr/>
        </p:nvSpPr>
        <p:spPr>
          <a:xfrm>
            <a:off x="8011269" y="215743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ultiplication Sign 19">
            <a:extLst>
              <a:ext uri="{FF2B5EF4-FFF2-40B4-BE49-F238E27FC236}">
                <a16:creationId xmlns:a16="http://schemas.microsoft.com/office/drawing/2014/main" id="{C03BB289-ADBC-8929-C522-524A550B00F8}"/>
              </a:ext>
            </a:extLst>
          </p:cNvPr>
          <p:cNvSpPr/>
          <p:nvPr/>
        </p:nvSpPr>
        <p:spPr>
          <a:xfrm>
            <a:off x="7419619" y="355069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799FF259-B58C-08EA-735D-30F6952C3D46}"/>
              </a:ext>
            </a:extLst>
          </p:cNvPr>
          <p:cNvSpPr/>
          <p:nvPr/>
        </p:nvSpPr>
        <p:spPr>
          <a:xfrm>
            <a:off x="9305827" y="139192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F22F0007-06A2-7842-D740-59EDD70875B3}"/>
              </a:ext>
            </a:extLst>
          </p:cNvPr>
          <p:cNvSpPr/>
          <p:nvPr/>
        </p:nvSpPr>
        <p:spPr>
          <a:xfrm>
            <a:off x="2641792" y="4722313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21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 35">
            <a:extLst>
              <a:ext uri="{FF2B5EF4-FFF2-40B4-BE49-F238E27FC236}">
                <a16:creationId xmlns:a16="http://schemas.microsoft.com/office/drawing/2014/main" id="{A74B60B6-61E0-70BF-0E13-79CB45E44E91}"/>
              </a:ext>
            </a:extLst>
          </p:cNvPr>
          <p:cNvSpPr/>
          <p:nvPr/>
        </p:nvSpPr>
        <p:spPr>
          <a:xfrm>
            <a:off x="1997804" y="4836774"/>
            <a:ext cx="373574" cy="3915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E25DEF8-D7E3-7192-1541-AB5EFA970729}"/>
              </a:ext>
            </a:extLst>
          </p:cNvPr>
          <p:cNvSpPr/>
          <p:nvPr/>
        </p:nvSpPr>
        <p:spPr>
          <a:xfrm>
            <a:off x="9896750" y="1474375"/>
            <a:ext cx="373574" cy="3915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61BF578-F22D-863D-E5B3-1E3E195EC9A7}"/>
              </a:ext>
            </a:extLst>
          </p:cNvPr>
          <p:cNvSpPr/>
          <p:nvPr/>
        </p:nvSpPr>
        <p:spPr>
          <a:xfrm>
            <a:off x="7370022" y="3549769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7838B16-EE5A-FD66-8964-ECE933F5485A}"/>
              </a:ext>
            </a:extLst>
          </p:cNvPr>
          <p:cNvSpPr/>
          <p:nvPr/>
        </p:nvSpPr>
        <p:spPr>
          <a:xfrm>
            <a:off x="3429558" y="3941949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330A348-51C8-2B25-D16C-55490DDA3767}"/>
              </a:ext>
            </a:extLst>
          </p:cNvPr>
          <p:cNvSpPr/>
          <p:nvPr/>
        </p:nvSpPr>
        <p:spPr>
          <a:xfrm>
            <a:off x="5291675" y="2093163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40CFEB-C665-1C51-2F36-0E1C36CED869}"/>
              </a:ext>
            </a:extLst>
          </p:cNvPr>
          <p:cNvSpPr/>
          <p:nvPr/>
        </p:nvSpPr>
        <p:spPr>
          <a:xfrm>
            <a:off x="7659783" y="2669700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8A5BD85-1BC4-A564-CF1B-FB1AC3C4C93C}"/>
              </a:ext>
            </a:extLst>
          </p:cNvPr>
          <p:cNvSpPr/>
          <p:nvPr/>
        </p:nvSpPr>
        <p:spPr>
          <a:xfrm>
            <a:off x="7932990" y="2157439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BE6E4E2-385E-19B9-A8A5-67B41A571317}"/>
              </a:ext>
            </a:extLst>
          </p:cNvPr>
          <p:cNvSpPr/>
          <p:nvPr/>
        </p:nvSpPr>
        <p:spPr>
          <a:xfrm>
            <a:off x="7282267" y="2218910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D5C9536-F877-BF92-3417-A73D7A2812F2}"/>
              </a:ext>
            </a:extLst>
          </p:cNvPr>
          <p:cNvSpPr/>
          <p:nvPr/>
        </p:nvSpPr>
        <p:spPr>
          <a:xfrm>
            <a:off x="3719148" y="2852777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88485F7-D92D-B235-3701-52EE8B6371DF}"/>
              </a:ext>
            </a:extLst>
          </p:cNvPr>
          <p:cNvSpPr/>
          <p:nvPr/>
        </p:nvSpPr>
        <p:spPr>
          <a:xfrm>
            <a:off x="4183443" y="3233221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38EDBDF-E956-DF29-3CBD-29DF81757EA6}"/>
              </a:ext>
            </a:extLst>
          </p:cNvPr>
          <p:cNvSpPr/>
          <p:nvPr/>
        </p:nvSpPr>
        <p:spPr>
          <a:xfrm>
            <a:off x="4710084" y="3222109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43FD49-3BC5-C3A0-2475-1EDE8C9F6750}"/>
              </a:ext>
            </a:extLst>
          </p:cNvPr>
          <p:cNvSpPr/>
          <p:nvPr/>
        </p:nvSpPr>
        <p:spPr>
          <a:xfrm>
            <a:off x="4661758" y="2729952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C292634-F2EA-58BE-AA0C-7EEC303CB967}"/>
              </a:ext>
            </a:extLst>
          </p:cNvPr>
          <p:cNvSpPr/>
          <p:nvPr/>
        </p:nvSpPr>
        <p:spPr>
          <a:xfrm>
            <a:off x="4217280" y="2399035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 Walkthrough of DBSCAN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19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6E8C1162-CD67-7537-F48F-13849E3F96D1}"/>
              </a:ext>
            </a:extLst>
          </p:cNvPr>
          <p:cNvSpPr/>
          <p:nvPr/>
        </p:nvSpPr>
        <p:spPr>
          <a:xfrm>
            <a:off x="4251489" y="239903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0B554BCA-EA2A-5A5F-004C-EEA3DA8C63FB}"/>
              </a:ext>
            </a:extLst>
          </p:cNvPr>
          <p:cNvSpPr/>
          <p:nvPr/>
        </p:nvSpPr>
        <p:spPr>
          <a:xfrm>
            <a:off x="4706308" y="276490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36151742-C01D-1978-C081-80F19A53D413}"/>
              </a:ext>
            </a:extLst>
          </p:cNvPr>
          <p:cNvSpPr/>
          <p:nvPr/>
        </p:nvSpPr>
        <p:spPr>
          <a:xfrm>
            <a:off x="3762461" y="288194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0ABF5EAF-B3A6-0A25-B007-3BC5C2832E57}"/>
              </a:ext>
            </a:extLst>
          </p:cNvPr>
          <p:cNvSpPr/>
          <p:nvPr/>
        </p:nvSpPr>
        <p:spPr>
          <a:xfrm>
            <a:off x="4217280" y="322210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B33857D1-EB3E-4A03-09FD-CAD40A677601}"/>
              </a:ext>
            </a:extLst>
          </p:cNvPr>
          <p:cNvSpPr/>
          <p:nvPr/>
        </p:nvSpPr>
        <p:spPr>
          <a:xfrm>
            <a:off x="4745459" y="3251277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3AF3FCCC-FB9D-49E0-AAB5-0414905FA863}"/>
              </a:ext>
            </a:extLst>
          </p:cNvPr>
          <p:cNvSpPr/>
          <p:nvPr/>
        </p:nvSpPr>
        <p:spPr>
          <a:xfrm>
            <a:off x="3479657" y="397605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300666B3-ECB3-19F7-65DC-D043CEA98BFD}"/>
              </a:ext>
            </a:extLst>
          </p:cNvPr>
          <p:cNvSpPr/>
          <p:nvPr/>
        </p:nvSpPr>
        <p:spPr>
          <a:xfrm>
            <a:off x="5341774" y="210427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B277CA5D-8D42-30A8-01D4-39BC4C6D6E1A}"/>
              </a:ext>
            </a:extLst>
          </p:cNvPr>
          <p:cNvSpPr/>
          <p:nvPr/>
        </p:nvSpPr>
        <p:spPr>
          <a:xfrm>
            <a:off x="7307713" y="225165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C3E3C87A-D5CA-6398-F5C1-7D127DDE9A09}"/>
              </a:ext>
            </a:extLst>
          </p:cNvPr>
          <p:cNvSpPr/>
          <p:nvPr/>
        </p:nvSpPr>
        <p:spPr>
          <a:xfrm>
            <a:off x="7732230" y="265144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54809F40-9648-E4CD-B58D-C041FFFDBF46}"/>
              </a:ext>
            </a:extLst>
          </p:cNvPr>
          <p:cNvSpPr/>
          <p:nvPr/>
        </p:nvSpPr>
        <p:spPr>
          <a:xfrm>
            <a:off x="8011269" y="215743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ultiplication Sign 19">
            <a:extLst>
              <a:ext uri="{FF2B5EF4-FFF2-40B4-BE49-F238E27FC236}">
                <a16:creationId xmlns:a16="http://schemas.microsoft.com/office/drawing/2014/main" id="{C03BB289-ADBC-8929-C522-524A550B00F8}"/>
              </a:ext>
            </a:extLst>
          </p:cNvPr>
          <p:cNvSpPr/>
          <p:nvPr/>
        </p:nvSpPr>
        <p:spPr>
          <a:xfrm>
            <a:off x="7419619" y="355069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799FF259-B58C-08EA-735D-30F6952C3D46}"/>
              </a:ext>
            </a:extLst>
          </p:cNvPr>
          <p:cNvSpPr/>
          <p:nvPr/>
        </p:nvSpPr>
        <p:spPr>
          <a:xfrm>
            <a:off x="9946849" y="1496600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F22F0007-06A2-7842-D740-59EDD70875B3}"/>
              </a:ext>
            </a:extLst>
          </p:cNvPr>
          <p:cNvSpPr/>
          <p:nvPr/>
        </p:nvSpPr>
        <p:spPr>
          <a:xfrm>
            <a:off x="2047903" y="486421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6EE499-C870-8B13-DA4C-287D2E4296AD}"/>
              </a:ext>
            </a:extLst>
          </p:cNvPr>
          <p:cNvSpPr txBox="1"/>
          <p:nvPr/>
        </p:nvSpPr>
        <p:spPr>
          <a:xfrm>
            <a:off x="1770739" y="668160"/>
            <a:ext cx="88329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Step 1: Identify all points as either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core point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border point </a:t>
            </a:r>
            <a:r>
              <a:rPr lang="en-US" dirty="0"/>
              <a:t>or </a:t>
            </a:r>
            <a:r>
              <a:rPr lang="en-US" b="1" dirty="0">
                <a:solidFill>
                  <a:srgbClr val="FF0000"/>
                </a:solidFill>
              </a:rPr>
              <a:t>noise</a:t>
            </a:r>
            <a:r>
              <a:rPr lang="en-US" dirty="0"/>
              <a:t> point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13A4C5D-6098-D011-38D6-D16CB0536454}"/>
              </a:ext>
            </a:extLst>
          </p:cNvPr>
          <p:cNvSpPr/>
          <p:nvPr/>
        </p:nvSpPr>
        <p:spPr>
          <a:xfrm>
            <a:off x="8275943" y="4895866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0930AC0-473A-523F-A8DD-7BB88DCB1EF1}"/>
              </a:ext>
            </a:extLst>
          </p:cNvPr>
          <p:cNvSpPr/>
          <p:nvPr/>
        </p:nvSpPr>
        <p:spPr>
          <a:xfrm>
            <a:off x="8274890" y="4297418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3CD82FE-326B-1558-C5EB-B1C30C9A1361}"/>
              </a:ext>
            </a:extLst>
          </p:cNvPr>
          <p:cNvSpPr/>
          <p:nvPr/>
        </p:nvSpPr>
        <p:spPr>
          <a:xfrm>
            <a:off x="8284646" y="5408795"/>
            <a:ext cx="373574" cy="3915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B0F719-BAA3-8CE9-C0F2-16F733B06626}"/>
              </a:ext>
            </a:extLst>
          </p:cNvPr>
          <p:cNvSpPr txBox="1"/>
          <p:nvPr/>
        </p:nvSpPr>
        <p:spPr>
          <a:xfrm>
            <a:off x="8691689" y="4286854"/>
            <a:ext cx="127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Core Point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23E40E-3711-7612-07F2-A6C6CF5A3316}"/>
              </a:ext>
            </a:extLst>
          </p:cNvPr>
          <p:cNvSpPr txBox="1"/>
          <p:nvPr/>
        </p:nvSpPr>
        <p:spPr>
          <a:xfrm>
            <a:off x="8691689" y="4910858"/>
            <a:ext cx="1528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Border Point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B7E297-6DF8-3BC2-098E-03FFDF4BB27D}"/>
              </a:ext>
            </a:extLst>
          </p:cNvPr>
          <p:cNvSpPr txBox="1"/>
          <p:nvPr/>
        </p:nvSpPr>
        <p:spPr>
          <a:xfrm>
            <a:off x="8691689" y="5419907"/>
            <a:ext cx="127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Noise</a:t>
            </a:r>
          </a:p>
        </p:txBody>
      </p:sp>
    </p:spTree>
    <p:extLst>
      <p:ext uri="{BB962C8B-B14F-4D97-AF65-F5344CB8AC3E}">
        <p14:creationId xmlns:p14="http://schemas.microsoft.com/office/powerpoint/2010/main" val="768094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 35">
            <a:extLst>
              <a:ext uri="{FF2B5EF4-FFF2-40B4-BE49-F238E27FC236}">
                <a16:creationId xmlns:a16="http://schemas.microsoft.com/office/drawing/2014/main" id="{A74B60B6-61E0-70BF-0E13-79CB45E44E91}"/>
              </a:ext>
            </a:extLst>
          </p:cNvPr>
          <p:cNvSpPr/>
          <p:nvPr/>
        </p:nvSpPr>
        <p:spPr>
          <a:xfrm>
            <a:off x="1997804" y="4836774"/>
            <a:ext cx="373574" cy="3915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E25DEF8-D7E3-7192-1541-AB5EFA970729}"/>
              </a:ext>
            </a:extLst>
          </p:cNvPr>
          <p:cNvSpPr/>
          <p:nvPr/>
        </p:nvSpPr>
        <p:spPr>
          <a:xfrm>
            <a:off x="9896750" y="1474375"/>
            <a:ext cx="373574" cy="3915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61BF578-F22D-863D-E5B3-1E3E195EC9A7}"/>
              </a:ext>
            </a:extLst>
          </p:cNvPr>
          <p:cNvSpPr/>
          <p:nvPr/>
        </p:nvSpPr>
        <p:spPr>
          <a:xfrm>
            <a:off x="7370022" y="3549769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7838B16-EE5A-FD66-8964-ECE933F5485A}"/>
              </a:ext>
            </a:extLst>
          </p:cNvPr>
          <p:cNvSpPr/>
          <p:nvPr/>
        </p:nvSpPr>
        <p:spPr>
          <a:xfrm>
            <a:off x="3429558" y="3941949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330A348-51C8-2B25-D16C-55490DDA3767}"/>
              </a:ext>
            </a:extLst>
          </p:cNvPr>
          <p:cNvSpPr/>
          <p:nvPr/>
        </p:nvSpPr>
        <p:spPr>
          <a:xfrm>
            <a:off x="5291675" y="2093163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40CFEB-C665-1C51-2F36-0E1C36CED869}"/>
              </a:ext>
            </a:extLst>
          </p:cNvPr>
          <p:cNvSpPr/>
          <p:nvPr/>
        </p:nvSpPr>
        <p:spPr>
          <a:xfrm>
            <a:off x="7659783" y="2669700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8A5BD85-1BC4-A564-CF1B-FB1AC3C4C93C}"/>
              </a:ext>
            </a:extLst>
          </p:cNvPr>
          <p:cNvSpPr/>
          <p:nvPr/>
        </p:nvSpPr>
        <p:spPr>
          <a:xfrm>
            <a:off x="7932990" y="2157439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BE6E4E2-385E-19B9-A8A5-67B41A571317}"/>
              </a:ext>
            </a:extLst>
          </p:cNvPr>
          <p:cNvSpPr/>
          <p:nvPr/>
        </p:nvSpPr>
        <p:spPr>
          <a:xfrm>
            <a:off x="7282267" y="2218910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D5C9536-F877-BF92-3417-A73D7A2812F2}"/>
              </a:ext>
            </a:extLst>
          </p:cNvPr>
          <p:cNvSpPr/>
          <p:nvPr/>
        </p:nvSpPr>
        <p:spPr>
          <a:xfrm>
            <a:off x="3719148" y="2852777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88485F7-D92D-B235-3701-52EE8B6371DF}"/>
              </a:ext>
            </a:extLst>
          </p:cNvPr>
          <p:cNvSpPr/>
          <p:nvPr/>
        </p:nvSpPr>
        <p:spPr>
          <a:xfrm>
            <a:off x="4183443" y="3233221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38EDBDF-E956-DF29-3CBD-29DF81757EA6}"/>
              </a:ext>
            </a:extLst>
          </p:cNvPr>
          <p:cNvSpPr/>
          <p:nvPr/>
        </p:nvSpPr>
        <p:spPr>
          <a:xfrm>
            <a:off x="4710084" y="3222109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43FD49-3BC5-C3A0-2475-1EDE8C9F6750}"/>
              </a:ext>
            </a:extLst>
          </p:cNvPr>
          <p:cNvSpPr/>
          <p:nvPr/>
        </p:nvSpPr>
        <p:spPr>
          <a:xfrm>
            <a:off x="4661758" y="2729952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C292634-F2EA-58BE-AA0C-7EEC303CB967}"/>
              </a:ext>
            </a:extLst>
          </p:cNvPr>
          <p:cNvSpPr/>
          <p:nvPr/>
        </p:nvSpPr>
        <p:spPr>
          <a:xfrm>
            <a:off x="4217280" y="2399035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 Walkthrough of DBSCAN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20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6E8C1162-CD67-7537-F48F-13849E3F96D1}"/>
              </a:ext>
            </a:extLst>
          </p:cNvPr>
          <p:cNvSpPr/>
          <p:nvPr/>
        </p:nvSpPr>
        <p:spPr>
          <a:xfrm>
            <a:off x="4251489" y="239903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0B554BCA-EA2A-5A5F-004C-EEA3DA8C63FB}"/>
              </a:ext>
            </a:extLst>
          </p:cNvPr>
          <p:cNvSpPr/>
          <p:nvPr/>
        </p:nvSpPr>
        <p:spPr>
          <a:xfrm>
            <a:off x="4706308" y="276490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36151742-C01D-1978-C081-80F19A53D413}"/>
              </a:ext>
            </a:extLst>
          </p:cNvPr>
          <p:cNvSpPr/>
          <p:nvPr/>
        </p:nvSpPr>
        <p:spPr>
          <a:xfrm>
            <a:off x="3762461" y="288194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0ABF5EAF-B3A6-0A25-B007-3BC5C2832E57}"/>
              </a:ext>
            </a:extLst>
          </p:cNvPr>
          <p:cNvSpPr/>
          <p:nvPr/>
        </p:nvSpPr>
        <p:spPr>
          <a:xfrm>
            <a:off x="4217280" y="322210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B33857D1-EB3E-4A03-09FD-CAD40A677601}"/>
              </a:ext>
            </a:extLst>
          </p:cNvPr>
          <p:cNvSpPr/>
          <p:nvPr/>
        </p:nvSpPr>
        <p:spPr>
          <a:xfrm>
            <a:off x="4745459" y="3251277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3AF3FCCC-FB9D-49E0-AAB5-0414905FA863}"/>
              </a:ext>
            </a:extLst>
          </p:cNvPr>
          <p:cNvSpPr/>
          <p:nvPr/>
        </p:nvSpPr>
        <p:spPr>
          <a:xfrm>
            <a:off x="3479657" y="397605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300666B3-ECB3-19F7-65DC-D043CEA98BFD}"/>
              </a:ext>
            </a:extLst>
          </p:cNvPr>
          <p:cNvSpPr/>
          <p:nvPr/>
        </p:nvSpPr>
        <p:spPr>
          <a:xfrm>
            <a:off x="5341774" y="210427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B277CA5D-8D42-30A8-01D4-39BC4C6D6E1A}"/>
              </a:ext>
            </a:extLst>
          </p:cNvPr>
          <p:cNvSpPr/>
          <p:nvPr/>
        </p:nvSpPr>
        <p:spPr>
          <a:xfrm>
            <a:off x="7307713" y="225165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C3E3C87A-D5CA-6398-F5C1-7D127DDE9A09}"/>
              </a:ext>
            </a:extLst>
          </p:cNvPr>
          <p:cNvSpPr/>
          <p:nvPr/>
        </p:nvSpPr>
        <p:spPr>
          <a:xfrm>
            <a:off x="7732230" y="265144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54809F40-9648-E4CD-B58D-C041FFFDBF46}"/>
              </a:ext>
            </a:extLst>
          </p:cNvPr>
          <p:cNvSpPr/>
          <p:nvPr/>
        </p:nvSpPr>
        <p:spPr>
          <a:xfrm>
            <a:off x="8011269" y="215743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ultiplication Sign 19">
            <a:extLst>
              <a:ext uri="{FF2B5EF4-FFF2-40B4-BE49-F238E27FC236}">
                <a16:creationId xmlns:a16="http://schemas.microsoft.com/office/drawing/2014/main" id="{C03BB289-ADBC-8929-C522-524A550B00F8}"/>
              </a:ext>
            </a:extLst>
          </p:cNvPr>
          <p:cNvSpPr/>
          <p:nvPr/>
        </p:nvSpPr>
        <p:spPr>
          <a:xfrm>
            <a:off x="7419619" y="355069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799FF259-B58C-08EA-735D-30F6952C3D46}"/>
              </a:ext>
            </a:extLst>
          </p:cNvPr>
          <p:cNvSpPr/>
          <p:nvPr/>
        </p:nvSpPr>
        <p:spPr>
          <a:xfrm>
            <a:off x="9946849" y="1496600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F22F0007-06A2-7842-D740-59EDD70875B3}"/>
              </a:ext>
            </a:extLst>
          </p:cNvPr>
          <p:cNvSpPr/>
          <p:nvPr/>
        </p:nvSpPr>
        <p:spPr>
          <a:xfrm>
            <a:off x="2047903" y="486421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6EE499-C870-8B13-DA4C-287D2E4296AD}"/>
              </a:ext>
            </a:extLst>
          </p:cNvPr>
          <p:cNvSpPr txBox="1"/>
          <p:nvPr/>
        </p:nvSpPr>
        <p:spPr>
          <a:xfrm>
            <a:off x="1747033" y="999760"/>
            <a:ext cx="8832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Step 2: For all of the </a:t>
            </a:r>
            <a:r>
              <a:rPr lang="en-US" dirty="0" err="1"/>
              <a:t>unclustered</a:t>
            </a:r>
            <a:r>
              <a:rPr lang="en-US" dirty="0"/>
              <a:t> core points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13A4C5D-6098-D011-38D6-D16CB0536454}"/>
              </a:ext>
            </a:extLst>
          </p:cNvPr>
          <p:cNvSpPr/>
          <p:nvPr/>
        </p:nvSpPr>
        <p:spPr>
          <a:xfrm>
            <a:off x="8275943" y="4895866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0930AC0-473A-523F-A8DD-7BB88DCB1EF1}"/>
              </a:ext>
            </a:extLst>
          </p:cNvPr>
          <p:cNvSpPr/>
          <p:nvPr/>
        </p:nvSpPr>
        <p:spPr>
          <a:xfrm>
            <a:off x="8274890" y="4297418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3CD82FE-326B-1558-C5EB-B1C30C9A1361}"/>
              </a:ext>
            </a:extLst>
          </p:cNvPr>
          <p:cNvSpPr/>
          <p:nvPr/>
        </p:nvSpPr>
        <p:spPr>
          <a:xfrm>
            <a:off x="8284646" y="5408795"/>
            <a:ext cx="373574" cy="3915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B0F719-BAA3-8CE9-C0F2-16F733B06626}"/>
              </a:ext>
            </a:extLst>
          </p:cNvPr>
          <p:cNvSpPr txBox="1"/>
          <p:nvPr/>
        </p:nvSpPr>
        <p:spPr>
          <a:xfrm>
            <a:off x="8691689" y="4286854"/>
            <a:ext cx="127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Core Point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23E40E-3711-7612-07F2-A6C6CF5A3316}"/>
              </a:ext>
            </a:extLst>
          </p:cNvPr>
          <p:cNvSpPr txBox="1"/>
          <p:nvPr/>
        </p:nvSpPr>
        <p:spPr>
          <a:xfrm>
            <a:off x="8691689" y="4910858"/>
            <a:ext cx="1528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Border Point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B7E297-6DF8-3BC2-098E-03FFDF4BB27D}"/>
              </a:ext>
            </a:extLst>
          </p:cNvPr>
          <p:cNvSpPr txBox="1"/>
          <p:nvPr/>
        </p:nvSpPr>
        <p:spPr>
          <a:xfrm>
            <a:off x="8691689" y="5419907"/>
            <a:ext cx="127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Noise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9030B1-71F0-9B51-DD5F-18D265A09CA2}"/>
              </a:ext>
            </a:extLst>
          </p:cNvPr>
          <p:cNvSpPr txBox="1"/>
          <p:nvPr/>
        </p:nvSpPr>
        <p:spPr>
          <a:xfrm>
            <a:off x="3429558" y="2669700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479FEA-E871-2C53-6C6F-F9A2773473B3}"/>
              </a:ext>
            </a:extLst>
          </p:cNvPr>
          <p:cNvSpPr txBox="1"/>
          <p:nvPr/>
        </p:nvSpPr>
        <p:spPr>
          <a:xfrm>
            <a:off x="4092722" y="2034244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FA15AB-DADF-D73B-4FCA-5FED9663373D}"/>
              </a:ext>
            </a:extLst>
          </p:cNvPr>
          <p:cNvSpPr txBox="1"/>
          <p:nvPr/>
        </p:nvSpPr>
        <p:spPr>
          <a:xfrm>
            <a:off x="4807389" y="2364255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B5688B-09A7-FC79-DFAD-2DAB3120DAF1}"/>
              </a:ext>
            </a:extLst>
          </p:cNvPr>
          <p:cNvSpPr txBox="1"/>
          <p:nvPr/>
        </p:nvSpPr>
        <p:spPr>
          <a:xfrm>
            <a:off x="4752476" y="3642133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71FC1E-1DE4-60C7-2F50-5FFC31AA04B5}"/>
              </a:ext>
            </a:extLst>
          </p:cNvPr>
          <p:cNvSpPr txBox="1"/>
          <p:nvPr/>
        </p:nvSpPr>
        <p:spPr>
          <a:xfrm>
            <a:off x="4157599" y="3658917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D99A12-4D10-CCAB-8137-26BA04143184}"/>
              </a:ext>
            </a:extLst>
          </p:cNvPr>
          <p:cNvSpPr txBox="1"/>
          <p:nvPr/>
        </p:nvSpPr>
        <p:spPr>
          <a:xfrm>
            <a:off x="7154901" y="1850424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FAB310-7DC3-158B-D942-16CB72B4805C}"/>
              </a:ext>
            </a:extLst>
          </p:cNvPr>
          <p:cNvSpPr txBox="1"/>
          <p:nvPr/>
        </p:nvSpPr>
        <p:spPr>
          <a:xfrm>
            <a:off x="8005452" y="1841234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826A69-D87B-0A10-0C15-A1F334856521}"/>
              </a:ext>
            </a:extLst>
          </p:cNvPr>
          <p:cNvSpPr txBox="1"/>
          <p:nvPr/>
        </p:nvSpPr>
        <p:spPr>
          <a:xfrm>
            <a:off x="8033357" y="2917053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50960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 35">
            <a:extLst>
              <a:ext uri="{FF2B5EF4-FFF2-40B4-BE49-F238E27FC236}">
                <a16:creationId xmlns:a16="http://schemas.microsoft.com/office/drawing/2014/main" id="{A74B60B6-61E0-70BF-0E13-79CB45E44E91}"/>
              </a:ext>
            </a:extLst>
          </p:cNvPr>
          <p:cNvSpPr/>
          <p:nvPr/>
        </p:nvSpPr>
        <p:spPr>
          <a:xfrm>
            <a:off x="1997804" y="4836774"/>
            <a:ext cx="373574" cy="3915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E25DEF8-D7E3-7192-1541-AB5EFA970729}"/>
              </a:ext>
            </a:extLst>
          </p:cNvPr>
          <p:cNvSpPr/>
          <p:nvPr/>
        </p:nvSpPr>
        <p:spPr>
          <a:xfrm>
            <a:off x="9896750" y="1474375"/>
            <a:ext cx="373574" cy="3915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61BF578-F22D-863D-E5B3-1E3E195EC9A7}"/>
              </a:ext>
            </a:extLst>
          </p:cNvPr>
          <p:cNvSpPr/>
          <p:nvPr/>
        </p:nvSpPr>
        <p:spPr>
          <a:xfrm>
            <a:off x="7370022" y="3549769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7838B16-EE5A-FD66-8964-ECE933F5485A}"/>
              </a:ext>
            </a:extLst>
          </p:cNvPr>
          <p:cNvSpPr/>
          <p:nvPr/>
        </p:nvSpPr>
        <p:spPr>
          <a:xfrm>
            <a:off x="3429558" y="3941949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330A348-51C8-2B25-D16C-55490DDA3767}"/>
              </a:ext>
            </a:extLst>
          </p:cNvPr>
          <p:cNvSpPr/>
          <p:nvPr/>
        </p:nvSpPr>
        <p:spPr>
          <a:xfrm>
            <a:off x="5291675" y="2093163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40CFEB-C665-1C51-2F36-0E1C36CED869}"/>
              </a:ext>
            </a:extLst>
          </p:cNvPr>
          <p:cNvSpPr/>
          <p:nvPr/>
        </p:nvSpPr>
        <p:spPr>
          <a:xfrm>
            <a:off x="7659783" y="2669700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8A5BD85-1BC4-A564-CF1B-FB1AC3C4C93C}"/>
              </a:ext>
            </a:extLst>
          </p:cNvPr>
          <p:cNvSpPr/>
          <p:nvPr/>
        </p:nvSpPr>
        <p:spPr>
          <a:xfrm>
            <a:off x="7932990" y="2157439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BE6E4E2-385E-19B9-A8A5-67B41A571317}"/>
              </a:ext>
            </a:extLst>
          </p:cNvPr>
          <p:cNvSpPr/>
          <p:nvPr/>
        </p:nvSpPr>
        <p:spPr>
          <a:xfrm>
            <a:off x="7282267" y="2218910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D5C9536-F877-BF92-3417-A73D7A2812F2}"/>
              </a:ext>
            </a:extLst>
          </p:cNvPr>
          <p:cNvSpPr/>
          <p:nvPr/>
        </p:nvSpPr>
        <p:spPr>
          <a:xfrm>
            <a:off x="3719148" y="2852777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88485F7-D92D-B235-3701-52EE8B6371DF}"/>
              </a:ext>
            </a:extLst>
          </p:cNvPr>
          <p:cNvSpPr/>
          <p:nvPr/>
        </p:nvSpPr>
        <p:spPr>
          <a:xfrm>
            <a:off x="4183443" y="3233221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38EDBDF-E956-DF29-3CBD-29DF81757EA6}"/>
              </a:ext>
            </a:extLst>
          </p:cNvPr>
          <p:cNvSpPr/>
          <p:nvPr/>
        </p:nvSpPr>
        <p:spPr>
          <a:xfrm>
            <a:off x="4710084" y="3222109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43FD49-3BC5-C3A0-2475-1EDE8C9F6750}"/>
              </a:ext>
            </a:extLst>
          </p:cNvPr>
          <p:cNvSpPr/>
          <p:nvPr/>
        </p:nvSpPr>
        <p:spPr>
          <a:xfrm>
            <a:off x="4661758" y="2729952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C292634-F2EA-58BE-AA0C-7EEC303CB967}"/>
              </a:ext>
            </a:extLst>
          </p:cNvPr>
          <p:cNvSpPr/>
          <p:nvPr/>
        </p:nvSpPr>
        <p:spPr>
          <a:xfrm>
            <a:off x="4217280" y="2399035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 Walkthrough of DBSCAN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21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6E8C1162-CD67-7537-F48F-13849E3F96D1}"/>
              </a:ext>
            </a:extLst>
          </p:cNvPr>
          <p:cNvSpPr/>
          <p:nvPr/>
        </p:nvSpPr>
        <p:spPr>
          <a:xfrm>
            <a:off x="4251489" y="239903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0B554BCA-EA2A-5A5F-004C-EEA3DA8C63FB}"/>
              </a:ext>
            </a:extLst>
          </p:cNvPr>
          <p:cNvSpPr/>
          <p:nvPr/>
        </p:nvSpPr>
        <p:spPr>
          <a:xfrm>
            <a:off x="4706308" y="276490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36151742-C01D-1978-C081-80F19A53D413}"/>
              </a:ext>
            </a:extLst>
          </p:cNvPr>
          <p:cNvSpPr/>
          <p:nvPr/>
        </p:nvSpPr>
        <p:spPr>
          <a:xfrm>
            <a:off x="3762461" y="288194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0ABF5EAF-B3A6-0A25-B007-3BC5C2832E57}"/>
              </a:ext>
            </a:extLst>
          </p:cNvPr>
          <p:cNvSpPr/>
          <p:nvPr/>
        </p:nvSpPr>
        <p:spPr>
          <a:xfrm>
            <a:off x="4217280" y="322210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B33857D1-EB3E-4A03-09FD-CAD40A677601}"/>
              </a:ext>
            </a:extLst>
          </p:cNvPr>
          <p:cNvSpPr/>
          <p:nvPr/>
        </p:nvSpPr>
        <p:spPr>
          <a:xfrm>
            <a:off x="4745459" y="3251277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3AF3FCCC-FB9D-49E0-AAB5-0414905FA863}"/>
              </a:ext>
            </a:extLst>
          </p:cNvPr>
          <p:cNvSpPr/>
          <p:nvPr/>
        </p:nvSpPr>
        <p:spPr>
          <a:xfrm>
            <a:off x="3479657" y="397605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300666B3-ECB3-19F7-65DC-D043CEA98BFD}"/>
              </a:ext>
            </a:extLst>
          </p:cNvPr>
          <p:cNvSpPr/>
          <p:nvPr/>
        </p:nvSpPr>
        <p:spPr>
          <a:xfrm>
            <a:off x="5341774" y="210427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B277CA5D-8D42-30A8-01D4-39BC4C6D6E1A}"/>
              </a:ext>
            </a:extLst>
          </p:cNvPr>
          <p:cNvSpPr/>
          <p:nvPr/>
        </p:nvSpPr>
        <p:spPr>
          <a:xfrm>
            <a:off x="7307713" y="225165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C3E3C87A-D5CA-6398-F5C1-7D127DDE9A09}"/>
              </a:ext>
            </a:extLst>
          </p:cNvPr>
          <p:cNvSpPr/>
          <p:nvPr/>
        </p:nvSpPr>
        <p:spPr>
          <a:xfrm>
            <a:off x="7732230" y="265144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54809F40-9648-E4CD-B58D-C041FFFDBF46}"/>
              </a:ext>
            </a:extLst>
          </p:cNvPr>
          <p:cNvSpPr/>
          <p:nvPr/>
        </p:nvSpPr>
        <p:spPr>
          <a:xfrm>
            <a:off x="8011269" y="215743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ultiplication Sign 19">
            <a:extLst>
              <a:ext uri="{FF2B5EF4-FFF2-40B4-BE49-F238E27FC236}">
                <a16:creationId xmlns:a16="http://schemas.microsoft.com/office/drawing/2014/main" id="{C03BB289-ADBC-8929-C522-524A550B00F8}"/>
              </a:ext>
            </a:extLst>
          </p:cNvPr>
          <p:cNvSpPr/>
          <p:nvPr/>
        </p:nvSpPr>
        <p:spPr>
          <a:xfrm>
            <a:off x="7419619" y="355069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799FF259-B58C-08EA-735D-30F6952C3D46}"/>
              </a:ext>
            </a:extLst>
          </p:cNvPr>
          <p:cNvSpPr/>
          <p:nvPr/>
        </p:nvSpPr>
        <p:spPr>
          <a:xfrm>
            <a:off x="9946849" y="1496600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F22F0007-06A2-7842-D740-59EDD70875B3}"/>
              </a:ext>
            </a:extLst>
          </p:cNvPr>
          <p:cNvSpPr/>
          <p:nvPr/>
        </p:nvSpPr>
        <p:spPr>
          <a:xfrm>
            <a:off x="2047903" y="486421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6EE499-C870-8B13-DA4C-287D2E4296AD}"/>
              </a:ext>
            </a:extLst>
          </p:cNvPr>
          <p:cNvSpPr txBox="1"/>
          <p:nvPr/>
        </p:nvSpPr>
        <p:spPr>
          <a:xfrm>
            <a:off x="1667690" y="932713"/>
            <a:ext cx="88329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Step 2: For all of the </a:t>
            </a:r>
            <a:r>
              <a:rPr lang="en-US" dirty="0" err="1"/>
              <a:t>unclustered</a:t>
            </a:r>
            <a:r>
              <a:rPr lang="en-US" dirty="0"/>
              <a:t> core points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Step 2a: Create a new cluster</a:t>
            </a:r>
          </a:p>
          <a:p>
            <a:pPr lvl="1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13A4C5D-6098-D011-38D6-D16CB0536454}"/>
              </a:ext>
            </a:extLst>
          </p:cNvPr>
          <p:cNvSpPr/>
          <p:nvPr/>
        </p:nvSpPr>
        <p:spPr>
          <a:xfrm>
            <a:off x="8275943" y="4895866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0930AC0-473A-523F-A8DD-7BB88DCB1EF1}"/>
              </a:ext>
            </a:extLst>
          </p:cNvPr>
          <p:cNvSpPr/>
          <p:nvPr/>
        </p:nvSpPr>
        <p:spPr>
          <a:xfrm>
            <a:off x="8274890" y="4297418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3CD82FE-326B-1558-C5EB-B1C30C9A1361}"/>
              </a:ext>
            </a:extLst>
          </p:cNvPr>
          <p:cNvSpPr/>
          <p:nvPr/>
        </p:nvSpPr>
        <p:spPr>
          <a:xfrm>
            <a:off x="8284646" y="5408795"/>
            <a:ext cx="373574" cy="3915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B0F719-BAA3-8CE9-C0F2-16F733B06626}"/>
              </a:ext>
            </a:extLst>
          </p:cNvPr>
          <p:cNvSpPr txBox="1"/>
          <p:nvPr/>
        </p:nvSpPr>
        <p:spPr>
          <a:xfrm>
            <a:off x="8691689" y="4286854"/>
            <a:ext cx="127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Core Point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23E40E-3711-7612-07F2-A6C6CF5A3316}"/>
              </a:ext>
            </a:extLst>
          </p:cNvPr>
          <p:cNvSpPr txBox="1"/>
          <p:nvPr/>
        </p:nvSpPr>
        <p:spPr>
          <a:xfrm>
            <a:off x="8691689" y="4910858"/>
            <a:ext cx="1528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Border Point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B7E297-6DF8-3BC2-098E-03FFDF4BB27D}"/>
              </a:ext>
            </a:extLst>
          </p:cNvPr>
          <p:cNvSpPr txBox="1"/>
          <p:nvPr/>
        </p:nvSpPr>
        <p:spPr>
          <a:xfrm>
            <a:off x="8691689" y="5419907"/>
            <a:ext cx="127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Noise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9030B1-71F0-9B51-DD5F-18D265A09CA2}"/>
              </a:ext>
            </a:extLst>
          </p:cNvPr>
          <p:cNvSpPr txBox="1"/>
          <p:nvPr/>
        </p:nvSpPr>
        <p:spPr>
          <a:xfrm>
            <a:off x="3429558" y="2669700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479FEA-E871-2C53-6C6F-F9A2773473B3}"/>
              </a:ext>
            </a:extLst>
          </p:cNvPr>
          <p:cNvSpPr txBox="1"/>
          <p:nvPr/>
        </p:nvSpPr>
        <p:spPr>
          <a:xfrm>
            <a:off x="4092722" y="2034244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FA15AB-DADF-D73B-4FCA-5FED9663373D}"/>
              </a:ext>
            </a:extLst>
          </p:cNvPr>
          <p:cNvSpPr txBox="1"/>
          <p:nvPr/>
        </p:nvSpPr>
        <p:spPr>
          <a:xfrm>
            <a:off x="4807389" y="2364255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B5688B-09A7-FC79-DFAD-2DAB3120DAF1}"/>
              </a:ext>
            </a:extLst>
          </p:cNvPr>
          <p:cNvSpPr txBox="1"/>
          <p:nvPr/>
        </p:nvSpPr>
        <p:spPr>
          <a:xfrm>
            <a:off x="4752476" y="3642133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71FC1E-1DE4-60C7-2F50-5FFC31AA04B5}"/>
              </a:ext>
            </a:extLst>
          </p:cNvPr>
          <p:cNvSpPr txBox="1"/>
          <p:nvPr/>
        </p:nvSpPr>
        <p:spPr>
          <a:xfrm>
            <a:off x="4157599" y="3658917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D99A12-4D10-CCAB-8137-26BA04143184}"/>
              </a:ext>
            </a:extLst>
          </p:cNvPr>
          <p:cNvSpPr txBox="1"/>
          <p:nvPr/>
        </p:nvSpPr>
        <p:spPr>
          <a:xfrm>
            <a:off x="7154901" y="1850424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FAB310-7DC3-158B-D942-16CB72B4805C}"/>
              </a:ext>
            </a:extLst>
          </p:cNvPr>
          <p:cNvSpPr txBox="1"/>
          <p:nvPr/>
        </p:nvSpPr>
        <p:spPr>
          <a:xfrm>
            <a:off x="8005452" y="1841234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826A69-D87B-0A10-0C15-A1F334856521}"/>
              </a:ext>
            </a:extLst>
          </p:cNvPr>
          <p:cNvSpPr txBox="1"/>
          <p:nvPr/>
        </p:nvSpPr>
        <p:spPr>
          <a:xfrm>
            <a:off x="8033357" y="2917053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7F32281-6AD1-9C4F-6BF4-467F5D3A37EA}"/>
              </a:ext>
            </a:extLst>
          </p:cNvPr>
          <p:cNvSpPr/>
          <p:nvPr/>
        </p:nvSpPr>
        <p:spPr>
          <a:xfrm>
            <a:off x="3627973" y="2785235"/>
            <a:ext cx="533660" cy="5145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17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 35">
            <a:extLst>
              <a:ext uri="{FF2B5EF4-FFF2-40B4-BE49-F238E27FC236}">
                <a16:creationId xmlns:a16="http://schemas.microsoft.com/office/drawing/2014/main" id="{A74B60B6-61E0-70BF-0E13-79CB45E44E91}"/>
              </a:ext>
            </a:extLst>
          </p:cNvPr>
          <p:cNvSpPr/>
          <p:nvPr/>
        </p:nvSpPr>
        <p:spPr>
          <a:xfrm>
            <a:off x="1997804" y="4836774"/>
            <a:ext cx="373574" cy="3915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E25DEF8-D7E3-7192-1541-AB5EFA970729}"/>
              </a:ext>
            </a:extLst>
          </p:cNvPr>
          <p:cNvSpPr/>
          <p:nvPr/>
        </p:nvSpPr>
        <p:spPr>
          <a:xfrm>
            <a:off x="9896750" y="1474375"/>
            <a:ext cx="373574" cy="3915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61BF578-F22D-863D-E5B3-1E3E195EC9A7}"/>
              </a:ext>
            </a:extLst>
          </p:cNvPr>
          <p:cNvSpPr/>
          <p:nvPr/>
        </p:nvSpPr>
        <p:spPr>
          <a:xfrm>
            <a:off x="7370022" y="3549769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7838B16-EE5A-FD66-8964-ECE933F5485A}"/>
              </a:ext>
            </a:extLst>
          </p:cNvPr>
          <p:cNvSpPr/>
          <p:nvPr/>
        </p:nvSpPr>
        <p:spPr>
          <a:xfrm>
            <a:off x="3429558" y="3941949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330A348-51C8-2B25-D16C-55490DDA3767}"/>
              </a:ext>
            </a:extLst>
          </p:cNvPr>
          <p:cNvSpPr/>
          <p:nvPr/>
        </p:nvSpPr>
        <p:spPr>
          <a:xfrm>
            <a:off x="5291675" y="2093163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40CFEB-C665-1C51-2F36-0E1C36CED869}"/>
              </a:ext>
            </a:extLst>
          </p:cNvPr>
          <p:cNvSpPr/>
          <p:nvPr/>
        </p:nvSpPr>
        <p:spPr>
          <a:xfrm>
            <a:off x="7659783" y="2669700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8A5BD85-1BC4-A564-CF1B-FB1AC3C4C93C}"/>
              </a:ext>
            </a:extLst>
          </p:cNvPr>
          <p:cNvSpPr/>
          <p:nvPr/>
        </p:nvSpPr>
        <p:spPr>
          <a:xfrm>
            <a:off x="7932990" y="2157439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BE6E4E2-385E-19B9-A8A5-67B41A571317}"/>
              </a:ext>
            </a:extLst>
          </p:cNvPr>
          <p:cNvSpPr/>
          <p:nvPr/>
        </p:nvSpPr>
        <p:spPr>
          <a:xfrm>
            <a:off x="7282267" y="2218910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D5C9536-F877-BF92-3417-A73D7A2812F2}"/>
              </a:ext>
            </a:extLst>
          </p:cNvPr>
          <p:cNvSpPr/>
          <p:nvPr/>
        </p:nvSpPr>
        <p:spPr>
          <a:xfrm>
            <a:off x="3719148" y="2852777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88485F7-D92D-B235-3701-52EE8B6371DF}"/>
              </a:ext>
            </a:extLst>
          </p:cNvPr>
          <p:cNvSpPr/>
          <p:nvPr/>
        </p:nvSpPr>
        <p:spPr>
          <a:xfrm>
            <a:off x="4183443" y="3233221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38EDBDF-E956-DF29-3CBD-29DF81757EA6}"/>
              </a:ext>
            </a:extLst>
          </p:cNvPr>
          <p:cNvSpPr/>
          <p:nvPr/>
        </p:nvSpPr>
        <p:spPr>
          <a:xfrm>
            <a:off x="4710084" y="3222109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43FD49-3BC5-C3A0-2475-1EDE8C9F6750}"/>
              </a:ext>
            </a:extLst>
          </p:cNvPr>
          <p:cNvSpPr/>
          <p:nvPr/>
        </p:nvSpPr>
        <p:spPr>
          <a:xfrm>
            <a:off x="4661758" y="2729952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C292634-F2EA-58BE-AA0C-7EEC303CB967}"/>
              </a:ext>
            </a:extLst>
          </p:cNvPr>
          <p:cNvSpPr/>
          <p:nvPr/>
        </p:nvSpPr>
        <p:spPr>
          <a:xfrm>
            <a:off x="4217280" y="2399035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 Walkthrough of DBSCAN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22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6E8C1162-CD67-7537-F48F-13849E3F96D1}"/>
              </a:ext>
            </a:extLst>
          </p:cNvPr>
          <p:cNvSpPr/>
          <p:nvPr/>
        </p:nvSpPr>
        <p:spPr>
          <a:xfrm>
            <a:off x="4251489" y="239903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0B554BCA-EA2A-5A5F-004C-EEA3DA8C63FB}"/>
              </a:ext>
            </a:extLst>
          </p:cNvPr>
          <p:cNvSpPr/>
          <p:nvPr/>
        </p:nvSpPr>
        <p:spPr>
          <a:xfrm>
            <a:off x="4706308" y="276490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36151742-C01D-1978-C081-80F19A53D413}"/>
              </a:ext>
            </a:extLst>
          </p:cNvPr>
          <p:cNvSpPr/>
          <p:nvPr/>
        </p:nvSpPr>
        <p:spPr>
          <a:xfrm>
            <a:off x="3762461" y="288194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0ABF5EAF-B3A6-0A25-B007-3BC5C2832E57}"/>
              </a:ext>
            </a:extLst>
          </p:cNvPr>
          <p:cNvSpPr/>
          <p:nvPr/>
        </p:nvSpPr>
        <p:spPr>
          <a:xfrm>
            <a:off x="4217280" y="322210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B33857D1-EB3E-4A03-09FD-CAD40A677601}"/>
              </a:ext>
            </a:extLst>
          </p:cNvPr>
          <p:cNvSpPr/>
          <p:nvPr/>
        </p:nvSpPr>
        <p:spPr>
          <a:xfrm>
            <a:off x="4745459" y="3251277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3AF3FCCC-FB9D-49E0-AAB5-0414905FA863}"/>
              </a:ext>
            </a:extLst>
          </p:cNvPr>
          <p:cNvSpPr/>
          <p:nvPr/>
        </p:nvSpPr>
        <p:spPr>
          <a:xfrm>
            <a:off x="3479657" y="397605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300666B3-ECB3-19F7-65DC-D043CEA98BFD}"/>
              </a:ext>
            </a:extLst>
          </p:cNvPr>
          <p:cNvSpPr/>
          <p:nvPr/>
        </p:nvSpPr>
        <p:spPr>
          <a:xfrm>
            <a:off x="5341774" y="210427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B277CA5D-8D42-30A8-01D4-39BC4C6D6E1A}"/>
              </a:ext>
            </a:extLst>
          </p:cNvPr>
          <p:cNvSpPr/>
          <p:nvPr/>
        </p:nvSpPr>
        <p:spPr>
          <a:xfrm>
            <a:off x="7307713" y="225165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C3E3C87A-D5CA-6398-F5C1-7D127DDE9A09}"/>
              </a:ext>
            </a:extLst>
          </p:cNvPr>
          <p:cNvSpPr/>
          <p:nvPr/>
        </p:nvSpPr>
        <p:spPr>
          <a:xfrm>
            <a:off x="7732230" y="265144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54809F40-9648-E4CD-B58D-C041FFFDBF46}"/>
              </a:ext>
            </a:extLst>
          </p:cNvPr>
          <p:cNvSpPr/>
          <p:nvPr/>
        </p:nvSpPr>
        <p:spPr>
          <a:xfrm>
            <a:off x="8011269" y="215743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ultiplication Sign 19">
            <a:extLst>
              <a:ext uri="{FF2B5EF4-FFF2-40B4-BE49-F238E27FC236}">
                <a16:creationId xmlns:a16="http://schemas.microsoft.com/office/drawing/2014/main" id="{C03BB289-ADBC-8929-C522-524A550B00F8}"/>
              </a:ext>
            </a:extLst>
          </p:cNvPr>
          <p:cNvSpPr/>
          <p:nvPr/>
        </p:nvSpPr>
        <p:spPr>
          <a:xfrm>
            <a:off x="7419619" y="355069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799FF259-B58C-08EA-735D-30F6952C3D46}"/>
              </a:ext>
            </a:extLst>
          </p:cNvPr>
          <p:cNvSpPr/>
          <p:nvPr/>
        </p:nvSpPr>
        <p:spPr>
          <a:xfrm>
            <a:off x="9946849" y="1496600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F22F0007-06A2-7842-D740-59EDD70875B3}"/>
              </a:ext>
            </a:extLst>
          </p:cNvPr>
          <p:cNvSpPr/>
          <p:nvPr/>
        </p:nvSpPr>
        <p:spPr>
          <a:xfrm>
            <a:off x="2047903" y="486421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6EE499-C870-8B13-DA4C-287D2E4296AD}"/>
              </a:ext>
            </a:extLst>
          </p:cNvPr>
          <p:cNvSpPr txBox="1"/>
          <p:nvPr/>
        </p:nvSpPr>
        <p:spPr>
          <a:xfrm>
            <a:off x="1588347" y="772969"/>
            <a:ext cx="882401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Step 2: For all of the </a:t>
            </a:r>
            <a:r>
              <a:rPr lang="en-US" dirty="0" err="1"/>
              <a:t>unclustered</a:t>
            </a:r>
            <a:r>
              <a:rPr lang="en-US" dirty="0"/>
              <a:t> core points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Step 2a: Create a new cluster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Step 2b: Add all points that are </a:t>
            </a:r>
            <a:r>
              <a:rPr lang="en-US" dirty="0" err="1"/>
              <a:t>unclustered</a:t>
            </a:r>
            <a:r>
              <a:rPr lang="en-US" dirty="0"/>
              <a:t> and density connected to the current point into this cluster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13A4C5D-6098-D011-38D6-D16CB0536454}"/>
              </a:ext>
            </a:extLst>
          </p:cNvPr>
          <p:cNvSpPr/>
          <p:nvPr/>
        </p:nvSpPr>
        <p:spPr>
          <a:xfrm>
            <a:off x="8275943" y="4895866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0930AC0-473A-523F-A8DD-7BB88DCB1EF1}"/>
              </a:ext>
            </a:extLst>
          </p:cNvPr>
          <p:cNvSpPr/>
          <p:nvPr/>
        </p:nvSpPr>
        <p:spPr>
          <a:xfrm>
            <a:off x="8274890" y="4297418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3CD82FE-326B-1558-C5EB-B1C30C9A1361}"/>
              </a:ext>
            </a:extLst>
          </p:cNvPr>
          <p:cNvSpPr/>
          <p:nvPr/>
        </p:nvSpPr>
        <p:spPr>
          <a:xfrm>
            <a:off x="8284646" y="5408795"/>
            <a:ext cx="373574" cy="3915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B0F719-BAA3-8CE9-C0F2-16F733B06626}"/>
              </a:ext>
            </a:extLst>
          </p:cNvPr>
          <p:cNvSpPr txBox="1"/>
          <p:nvPr/>
        </p:nvSpPr>
        <p:spPr>
          <a:xfrm>
            <a:off x="8691689" y="4286854"/>
            <a:ext cx="127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Core Point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23E40E-3711-7612-07F2-A6C6CF5A3316}"/>
              </a:ext>
            </a:extLst>
          </p:cNvPr>
          <p:cNvSpPr txBox="1"/>
          <p:nvPr/>
        </p:nvSpPr>
        <p:spPr>
          <a:xfrm>
            <a:off x="8691689" y="4910858"/>
            <a:ext cx="1528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Border Point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B7E297-6DF8-3BC2-098E-03FFDF4BB27D}"/>
              </a:ext>
            </a:extLst>
          </p:cNvPr>
          <p:cNvSpPr txBox="1"/>
          <p:nvPr/>
        </p:nvSpPr>
        <p:spPr>
          <a:xfrm>
            <a:off x="8691689" y="5419907"/>
            <a:ext cx="127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Noise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9030B1-71F0-9B51-DD5F-18D265A09CA2}"/>
              </a:ext>
            </a:extLst>
          </p:cNvPr>
          <p:cNvSpPr txBox="1"/>
          <p:nvPr/>
        </p:nvSpPr>
        <p:spPr>
          <a:xfrm>
            <a:off x="3392101" y="2556398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479FEA-E871-2C53-6C6F-F9A2773473B3}"/>
              </a:ext>
            </a:extLst>
          </p:cNvPr>
          <p:cNvSpPr txBox="1"/>
          <p:nvPr/>
        </p:nvSpPr>
        <p:spPr>
          <a:xfrm>
            <a:off x="4092722" y="2034244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FA15AB-DADF-D73B-4FCA-5FED9663373D}"/>
              </a:ext>
            </a:extLst>
          </p:cNvPr>
          <p:cNvSpPr txBox="1"/>
          <p:nvPr/>
        </p:nvSpPr>
        <p:spPr>
          <a:xfrm>
            <a:off x="4807389" y="2364255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B5688B-09A7-FC79-DFAD-2DAB3120DAF1}"/>
              </a:ext>
            </a:extLst>
          </p:cNvPr>
          <p:cNvSpPr txBox="1"/>
          <p:nvPr/>
        </p:nvSpPr>
        <p:spPr>
          <a:xfrm>
            <a:off x="4752476" y="3642133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71FC1E-1DE4-60C7-2F50-5FFC31AA04B5}"/>
              </a:ext>
            </a:extLst>
          </p:cNvPr>
          <p:cNvSpPr txBox="1"/>
          <p:nvPr/>
        </p:nvSpPr>
        <p:spPr>
          <a:xfrm>
            <a:off x="4157599" y="3658917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D99A12-4D10-CCAB-8137-26BA04143184}"/>
              </a:ext>
            </a:extLst>
          </p:cNvPr>
          <p:cNvSpPr txBox="1"/>
          <p:nvPr/>
        </p:nvSpPr>
        <p:spPr>
          <a:xfrm>
            <a:off x="7154901" y="1850424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FAB310-7DC3-158B-D942-16CB72B4805C}"/>
              </a:ext>
            </a:extLst>
          </p:cNvPr>
          <p:cNvSpPr txBox="1"/>
          <p:nvPr/>
        </p:nvSpPr>
        <p:spPr>
          <a:xfrm>
            <a:off x="8005452" y="1841234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826A69-D87B-0A10-0C15-A1F334856521}"/>
              </a:ext>
            </a:extLst>
          </p:cNvPr>
          <p:cNvSpPr txBox="1"/>
          <p:nvPr/>
        </p:nvSpPr>
        <p:spPr>
          <a:xfrm>
            <a:off x="8033357" y="2917053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7F32281-6AD1-9C4F-6BF4-467F5D3A37EA}"/>
              </a:ext>
            </a:extLst>
          </p:cNvPr>
          <p:cNvSpPr/>
          <p:nvPr/>
        </p:nvSpPr>
        <p:spPr>
          <a:xfrm>
            <a:off x="3627973" y="2790591"/>
            <a:ext cx="527720" cy="509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798614-16B0-B5C8-2447-8B668DA5F453}"/>
              </a:ext>
            </a:extLst>
          </p:cNvPr>
          <p:cNvSpPr txBox="1"/>
          <p:nvPr/>
        </p:nvSpPr>
        <p:spPr>
          <a:xfrm>
            <a:off x="5083658" y="4836774"/>
            <a:ext cx="22863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Is 1 and 2 density connected? If yes add it to the cluster.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5B51F57-B59A-7A63-BE71-002AE8C11A60}"/>
              </a:ext>
            </a:extLst>
          </p:cNvPr>
          <p:cNvCxnSpPr>
            <a:cxnSpLocks/>
            <a:stCxn id="49" idx="7"/>
            <a:endCxn id="3" idx="3"/>
          </p:cNvCxnSpPr>
          <p:nvPr/>
        </p:nvCxnSpPr>
        <p:spPr>
          <a:xfrm flipV="1">
            <a:off x="4078410" y="2733250"/>
            <a:ext cx="193579" cy="1319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D9416AFF-B027-5AA7-F425-44DB68D2D767}"/>
              </a:ext>
            </a:extLst>
          </p:cNvPr>
          <p:cNvSpPr/>
          <p:nvPr/>
        </p:nvSpPr>
        <p:spPr>
          <a:xfrm rot="8633170">
            <a:off x="3445766" y="2496243"/>
            <a:ext cx="1271853" cy="6999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82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 35">
            <a:extLst>
              <a:ext uri="{FF2B5EF4-FFF2-40B4-BE49-F238E27FC236}">
                <a16:creationId xmlns:a16="http://schemas.microsoft.com/office/drawing/2014/main" id="{A74B60B6-61E0-70BF-0E13-79CB45E44E91}"/>
              </a:ext>
            </a:extLst>
          </p:cNvPr>
          <p:cNvSpPr/>
          <p:nvPr/>
        </p:nvSpPr>
        <p:spPr>
          <a:xfrm>
            <a:off x="1997804" y="4836774"/>
            <a:ext cx="373574" cy="3915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E25DEF8-D7E3-7192-1541-AB5EFA970729}"/>
              </a:ext>
            </a:extLst>
          </p:cNvPr>
          <p:cNvSpPr/>
          <p:nvPr/>
        </p:nvSpPr>
        <p:spPr>
          <a:xfrm>
            <a:off x="9896750" y="1474375"/>
            <a:ext cx="373574" cy="3915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61BF578-F22D-863D-E5B3-1E3E195EC9A7}"/>
              </a:ext>
            </a:extLst>
          </p:cNvPr>
          <p:cNvSpPr/>
          <p:nvPr/>
        </p:nvSpPr>
        <p:spPr>
          <a:xfrm>
            <a:off x="7370022" y="3549769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7838B16-EE5A-FD66-8964-ECE933F5485A}"/>
              </a:ext>
            </a:extLst>
          </p:cNvPr>
          <p:cNvSpPr/>
          <p:nvPr/>
        </p:nvSpPr>
        <p:spPr>
          <a:xfrm>
            <a:off x="3429558" y="3941949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330A348-51C8-2B25-D16C-55490DDA3767}"/>
              </a:ext>
            </a:extLst>
          </p:cNvPr>
          <p:cNvSpPr/>
          <p:nvPr/>
        </p:nvSpPr>
        <p:spPr>
          <a:xfrm>
            <a:off x="5291675" y="2093163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40CFEB-C665-1C51-2F36-0E1C36CED869}"/>
              </a:ext>
            </a:extLst>
          </p:cNvPr>
          <p:cNvSpPr/>
          <p:nvPr/>
        </p:nvSpPr>
        <p:spPr>
          <a:xfrm>
            <a:off x="7659783" y="2669700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8A5BD85-1BC4-A564-CF1B-FB1AC3C4C93C}"/>
              </a:ext>
            </a:extLst>
          </p:cNvPr>
          <p:cNvSpPr/>
          <p:nvPr/>
        </p:nvSpPr>
        <p:spPr>
          <a:xfrm>
            <a:off x="7932990" y="2157439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BE6E4E2-385E-19B9-A8A5-67B41A571317}"/>
              </a:ext>
            </a:extLst>
          </p:cNvPr>
          <p:cNvSpPr/>
          <p:nvPr/>
        </p:nvSpPr>
        <p:spPr>
          <a:xfrm>
            <a:off x="7282267" y="2218910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D5C9536-F877-BF92-3417-A73D7A2812F2}"/>
              </a:ext>
            </a:extLst>
          </p:cNvPr>
          <p:cNvSpPr/>
          <p:nvPr/>
        </p:nvSpPr>
        <p:spPr>
          <a:xfrm>
            <a:off x="3719148" y="2852777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88485F7-D92D-B235-3701-52EE8B6371DF}"/>
              </a:ext>
            </a:extLst>
          </p:cNvPr>
          <p:cNvSpPr/>
          <p:nvPr/>
        </p:nvSpPr>
        <p:spPr>
          <a:xfrm>
            <a:off x="4183443" y="3233221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38EDBDF-E956-DF29-3CBD-29DF81757EA6}"/>
              </a:ext>
            </a:extLst>
          </p:cNvPr>
          <p:cNvSpPr/>
          <p:nvPr/>
        </p:nvSpPr>
        <p:spPr>
          <a:xfrm>
            <a:off x="4710084" y="3222109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43FD49-3BC5-C3A0-2475-1EDE8C9F6750}"/>
              </a:ext>
            </a:extLst>
          </p:cNvPr>
          <p:cNvSpPr/>
          <p:nvPr/>
        </p:nvSpPr>
        <p:spPr>
          <a:xfrm>
            <a:off x="4661758" y="2729952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C292634-F2EA-58BE-AA0C-7EEC303CB967}"/>
              </a:ext>
            </a:extLst>
          </p:cNvPr>
          <p:cNvSpPr/>
          <p:nvPr/>
        </p:nvSpPr>
        <p:spPr>
          <a:xfrm>
            <a:off x="4217280" y="2399035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 Walkthrough of DBSCAN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23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6E8C1162-CD67-7537-F48F-13849E3F96D1}"/>
              </a:ext>
            </a:extLst>
          </p:cNvPr>
          <p:cNvSpPr/>
          <p:nvPr/>
        </p:nvSpPr>
        <p:spPr>
          <a:xfrm>
            <a:off x="4251489" y="239903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0B554BCA-EA2A-5A5F-004C-EEA3DA8C63FB}"/>
              </a:ext>
            </a:extLst>
          </p:cNvPr>
          <p:cNvSpPr/>
          <p:nvPr/>
        </p:nvSpPr>
        <p:spPr>
          <a:xfrm>
            <a:off x="4706308" y="276490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36151742-C01D-1978-C081-80F19A53D413}"/>
              </a:ext>
            </a:extLst>
          </p:cNvPr>
          <p:cNvSpPr/>
          <p:nvPr/>
        </p:nvSpPr>
        <p:spPr>
          <a:xfrm>
            <a:off x="3762461" y="288194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0ABF5EAF-B3A6-0A25-B007-3BC5C2832E57}"/>
              </a:ext>
            </a:extLst>
          </p:cNvPr>
          <p:cNvSpPr/>
          <p:nvPr/>
        </p:nvSpPr>
        <p:spPr>
          <a:xfrm>
            <a:off x="4217280" y="322210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B33857D1-EB3E-4A03-09FD-CAD40A677601}"/>
              </a:ext>
            </a:extLst>
          </p:cNvPr>
          <p:cNvSpPr/>
          <p:nvPr/>
        </p:nvSpPr>
        <p:spPr>
          <a:xfrm>
            <a:off x="4745459" y="3251277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3AF3FCCC-FB9D-49E0-AAB5-0414905FA863}"/>
              </a:ext>
            </a:extLst>
          </p:cNvPr>
          <p:cNvSpPr/>
          <p:nvPr/>
        </p:nvSpPr>
        <p:spPr>
          <a:xfrm>
            <a:off x="3479657" y="397605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300666B3-ECB3-19F7-65DC-D043CEA98BFD}"/>
              </a:ext>
            </a:extLst>
          </p:cNvPr>
          <p:cNvSpPr/>
          <p:nvPr/>
        </p:nvSpPr>
        <p:spPr>
          <a:xfrm>
            <a:off x="5341774" y="210427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B277CA5D-8D42-30A8-01D4-39BC4C6D6E1A}"/>
              </a:ext>
            </a:extLst>
          </p:cNvPr>
          <p:cNvSpPr/>
          <p:nvPr/>
        </p:nvSpPr>
        <p:spPr>
          <a:xfrm>
            <a:off x="7307713" y="225165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C3E3C87A-D5CA-6398-F5C1-7D127DDE9A09}"/>
              </a:ext>
            </a:extLst>
          </p:cNvPr>
          <p:cNvSpPr/>
          <p:nvPr/>
        </p:nvSpPr>
        <p:spPr>
          <a:xfrm>
            <a:off x="7732230" y="265144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54809F40-9648-E4CD-B58D-C041FFFDBF46}"/>
              </a:ext>
            </a:extLst>
          </p:cNvPr>
          <p:cNvSpPr/>
          <p:nvPr/>
        </p:nvSpPr>
        <p:spPr>
          <a:xfrm>
            <a:off x="8011269" y="215743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ultiplication Sign 19">
            <a:extLst>
              <a:ext uri="{FF2B5EF4-FFF2-40B4-BE49-F238E27FC236}">
                <a16:creationId xmlns:a16="http://schemas.microsoft.com/office/drawing/2014/main" id="{C03BB289-ADBC-8929-C522-524A550B00F8}"/>
              </a:ext>
            </a:extLst>
          </p:cNvPr>
          <p:cNvSpPr/>
          <p:nvPr/>
        </p:nvSpPr>
        <p:spPr>
          <a:xfrm>
            <a:off x="7419619" y="355069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799FF259-B58C-08EA-735D-30F6952C3D46}"/>
              </a:ext>
            </a:extLst>
          </p:cNvPr>
          <p:cNvSpPr/>
          <p:nvPr/>
        </p:nvSpPr>
        <p:spPr>
          <a:xfrm>
            <a:off x="9946849" y="1496600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F22F0007-06A2-7842-D740-59EDD70875B3}"/>
              </a:ext>
            </a:extLst>
          </p:cNvPr>
          <p:cNvSpPr/>
          <p:nvPr/>
        </p:nvSpPr>
        <p:spPr>
          <a:xfrm>
            <a:off x="2047903" y="486421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6EE499-C870-8B13-DA4C-287D2E4296AD}"/>
              </a:ext>
            </a:extLst>
          </p:cNvPr>
          <p:cNvSpPr txBox="1"/>
          <p:nvPr/>
        </p:nvSpPr>
        <p:spPr>
          <a:xfrm>
            <a:off x="1588347" y="772969"/>
            <a:ext cx="882401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Step 2: For all of the </a:t>
            </a:r>
            <a:r>
              <a:rPr lang="en-US" dirty="0" err="1"/>
              <a:t>unclustered</a:t>
            </a:r>
            <a:r>
              <a:rPr lang="en-US" dirty="0"/>
              <a:t> core points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Step 2a: Create a new cluster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Step 2b: Add all points that are </a:t>
            </a:r>
            <a:r>
              <a:rPr lang="en-US" dirty="0" err="1"/>
              <a:t>unclustered</a:t>
            </a:r>
            <a:r>
              <a:rPr lang="en-US" dirty="0"/>
              <a:t> and density connected to the current point into this cluster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13A4C5D-6098-D011-38D6-D16CB0536454}"/>
              </a:ext>
            </a:extLst>
          </p:cNvPr>
          <p:cNvSpPr/>
          <p:nvPr/>
        </p:nvSpPr>
        <p:spPr>
          <a:xfrm>
            <a:off x="8275943" y="4895866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0930AC0-473A-523F-A8DD-7BB88DCB1EF1}"/>
              </a:ext>
            </a:extLst>
          </p:cNvPr>
          <p:cNvSpPr/>
          <p:nvPr/>
        </p:nvSpPr>
        <p:spPr>
          <a:xfrm>
            <a:off x="8274890" y="4297418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3CD82FE-326B-1558-C5EB-B1C30C9A1361}"/>
              </a:ext>
            </a:extLst>
          </p:cNvPr>
          <p:cNvSpPr/>
          <p:nvPr/>
        </p:nvSpPr>
        <p:spPr>
          <a:xfrm>
            <a:off x="8284646" y="5408795"/>
            <a:ext cx="373574" cy="3915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B0F719-BAA3-8CE9-C0F2-16F733B06626}"/>
              </a:ext>
            </a:extLst>
          </p:cNvPr>
          <p:cNvSpPr txBox="1"/>
          <p:nvPr/>
        </p:nvSpPr>
        <p:spPr>
          <a:xfrm>
            <a:off x="8691689" y="4286854"/>
            <a:ext cx="127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Core Point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23E40E-3711-7612-07F2-A6C6CF5A3316}"/>
              </a:ext>
            </a:extLst>
          </p:cNvPr>
          <p:cNvSpPr txBox="1"/>
          <p:nvPr/>
        </p:nvSpPr>
        <p:spPr>
          <a:xfrm>
            <a:off x="8691689" y="4910858"/>
            <a:ext cx="1528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Border Point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B7E297-6DF8-3BC2-098E-03FFDF4BB27D}"/>
              </a:ext>
            </a:extLst>
          </p:cNvPr>
          <p:cNvSpPr txBox="1"/>
          <p:nvPr/>
        </p:nvSpPr>
        <p:spPr>
          <a:xfrm>
            <a:off x="8691689" y="5419907"/>
            <a:ext cx="127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Noise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9030B1-71F0-9B51-DD5F-18D265A09CA2}"/>
              </a:ext>
            </a:extLst>
          </p:cNvPr>
          <p:cNvSpPr txBox="1"/>
          <p:nvPr/>
        </p:nvSpPr>
        <p:spPr>
          <a:xfrm>
            <a:off x="3392101" y="2556398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479FEA-E871-2C53-6C6F-F9A2773473B3}"/>
              </a:ext>
            </a:extLst>
          </p:cNvPr>
          <p:cNvSpPr txBox="1"/>
          <p:nvPr/>
        </p:nvSpPr>
        <p:spPr>
          <a:xfrm>
            <a:off x="4092722" y="2034244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FA15AB-DADF-D73B-4FCA-5FED9663373D}"/>
              </a:ext>
            </a:extLst>
          </p:cNvPr>
          <p:cNvSpPr txBox="1"/>
          <p:nvPr/>
        </p:nvSpPr>
        <p:spPr>
          <a:xfrm>
            <a:off x="4807389" y="2364255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B5688B-09A7-FC79-DFAD-2DAB3120DAF1}"/>
              </a:ext>
            </a:extLst>
          </p:cNvPr>
          <p:cNvSpPr txBox="1"/>
          <p:nvPr/>
        </p:nvSpPr>
        <p:spPr>
          <a:xfrm>
            <a:off x="4752476" y="3642133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71FC1E-1DE4-60C7-2F50-5FFC31AA04B5}"/>
              </a:ext>
            </a:extLst>
          </p:cNvPr>
          <p:cNvSpPr txBox="1"/>
          <p:nvPr/>
        </p:nvSpPr>
        <p:spPr>
          <a:xfrm>
            <a:off x="4157599" y="3658917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D99A12-4D10-CCAB-8137-26BA04143184}"/>
              </a:ext>
            </a:extLst>
          </p:cNvPr>
          <p:cNvSpPr txBox="1"/>
          <p:nvPr/>
        </p:nvSpPr>
        <p:spPr>
          <a:xfrm>
            <a:off x="7154901" y="1850424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FAB310-7DC3-158B-D942-16CB72B4805C}"/>
              </a:ext>
            </a:extLst>
          </p:cNvPr>
          <p:cNvSpPr txBox="1"/>
          <p:nvPr/>
        </p:nvSpPr>
        <p:spPr>
          <a:xfrm>
            <a:off x="8005452" y="1841234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826A69-D87B-0A10-0C15-A1F334856521}"/>
              </a:ext>
            </a:extLst>
          </p:cNvPr>
          <p:cNvSpPr txBox="1"/>
          <p:nvPr/>
        </p:nvSpPr>
        <p:spPr>
          <a:xfrm>
            <a:off x="8033357" y="2917053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7F32281-6AD1-9C4F-6BF4-467F5D3A37EA}"/>
              </a:ext>
            </a:extLst>
          </p:cNvPr>
          <p:cNvSpPr/>
          <p:nvPr/>
        </p:nvSpPr>
        <p:spPr>
          <a:xfrm>
            <a:off x="3627973" y="2790591"/>
            <a:ext cx="527720" cy="509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798614-16B0-B5C8-2447-8B668DA5F453}"/>
              </a:ext>
            </a:extLst>
          </p:cNvPr>
          <p:cNvSpPr txBox="1"/>
          <p:nvPr/>
        </p:nvSpPr>
        <p:spPr>
          <a:xfrm>
            <a:off x="5083658" y="4836774"/>
            <a:ext cx="22863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Is 1 and 3 density connected? If yes add it to the cluster.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5B51F57-B59A-7A63-BE71-002AE8C11A60}"/>
              </a:ext>
            </a:extLst>
          </p:cNvPr>
          <p:cNvCxnSpPr>
            <a:cxnSpLocks/>
            <a:stCxn id="49" idx="7"/>
            <a:endCxn id="3" idx="3"/>
          </p:cNvCxnSpPr>
          <p:nvPr/>
        </p:nvCxnSpPr>
        <p:spPr>
          <a:xfrm flipV="1">
            <a:off x="4078410" y="2733250"/>
            <a:ext cx="193579" cy="1319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D9416AFF-B027-5AA7-F425-44DB68D2D767}"/>
              </a:ext>
            </a:extLst>
          </p:cNvPr>
          <p:cNvSpPr/>
          <p:nvPr/>
        </p:nvSpPr>
        <p:spPr>
          <a:xfrm rot="8633170">
            <a:off x="3445766" y="2496243"/>
            <a:ext cx="1271853" cy="6999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465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 35">
            <a:extLst>
              <a:ext uri="{FF2B5EF4-FFF2-40B4-BE49-F238E27FC236}">
                <a16:creationId xmlns:a16="http://schemas.microsoft.com/office/drawing/2014/main" id="{A74B60B6-61E0-70BF-0E13-79CB45E44E91}"/>
              </a:ext>
            </a:extLst>
          </p:cNvPr>
          <p:cNvSpPr/>
          <p:nvPr/>
        </p:nvSpPr>
        <p:spPr>
          <a:xfrm>
            <a:off x="1997804" y="4836774"/>
            <a:ext cx="373574" cy="3915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E25DEF8-D7E3-7192-1541-AB5EFA970729}"/>
              </a:ext>
            </a:extLst>
          </p:cNvPr>
          <p:cNvSpPr/>
          <p:nvPr/>
        </p:nvSpPr>
        <p:spPr>
          <a:xfrm>
            <a:off x="9896750" y="1474375"/>
            <a:ext cx="373574" cy="3915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61BF578-F22D-863D-E5B3-1E3E195EC9A7}"/>
              </a:ext>
            </a:extLst>
          </p:cNvPr>
          <p:cNvSpPr/>
          <p:nvPr/>
        </p:nvSpPr>
        <p:spPr>
          <a:xfrm>
            <a:off x="7370022" y="3549769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7838B16-EE5A-FD66-8964-ECE933F5485A}"/>
              </a:ext>
            </a:extLst>
          </p:cNvPr>
          <p:cNvSpPr/>
          <p:nvPr/>
        </p:nvSpPr>
        <p:spPr>
          <a:xfrm>
            <a:off x="3429558" y="3941949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330A348-51C8-2B25-D16C-55490DDA3767}"/>
              </a:ext>
            </a:extLst>
          </p:cNvPr>
          <p:cNvSpPr/>
          <p:nvPr/>
        </p:nvSpPr>
        <p:spPr>
          <a:xfrm>
            <a:off x="5291675" y="2093163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40CFEB-C665-1C51-2F36-0E1C36CED869}"/>
              </a:ext>
            </a:extLst>
          </p:cNvPr>
          <p:cNvSpPr/>
          <p:nvPr/>
        </p:nvSpPr>
        <p:spPr>
          <a:xfrm>
            <a:off x="7659783" y="2669700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8A5BD85-1BC4-A564-CF1B-FB1AC3C4C93C}"/>
              </a:ext>
            </a:extLst>
          </p:cNvPr>
          <p:cNvSpPr/>
          <p:nvPr/>
        </p:nvSpPr>
        <p:spPr>
          <a:xfrm>
            <a:off x="7932990" y="2157439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BE6E4E2-385E-19B9-A8A5-67B41A571317}"/>
              </a:ext>
            </a:extLst>
          </p:cNvPr>
          <p:cNvSpPr/>
          <p:nvPr/>
        </p:nvSpPr>
        <p:spPr>
          <a:xfrm>
            <a:off x="7282267" y="2218910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D5C9536-F877-BF92-3417-A73D7A2812F2}"/>
              </a:ext>
            </a:extLst>
          </p:cNvPr>
          <p:cNvSpPr/>
          <p:nvPr/>
        </p:nvSpPr>
        <p:spPr>
          <a:xfrm>
            <a:off x="3719148" y="2852777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88485F7-D92D-B235-3701-52EE8B6371DF}"/>
              </a:ext>
            </a:extLst>
          </p:cNvPr>
          <p:cNvSpPr/>
          <p:nvPr/>
        </p:nvSpPr>
        <p:spPr>
          <a:xfrm>
            <a:off x="4183443" y="3233221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38EDBDF-E956-DF29-3CBD-29DF81757EA6}"/>
              </a:ext>
            </a:extLst>
          </p:cNvPr>
          <p:cNvSpPr/>
          <p:nvPr/>
        </p:nvSpPr>
        <p:spPr>
          <a:xfrm>
            <a:off x="4710084" y="3222109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43FD49-3BC5-C3A0-2475-1EDE8C9F6750}"/>
              </a:ext>
            </a:extLst>
          </p:cNvPr>
          <p:cNvSpPr/>
          <p:nvPr/>
        </p:nvSpPr>
        <p:spPr>
          <a:xfrm>
            <a:off x="4661758" y="2729952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C292634-F2EA-58BE-AA0C-7EEC303CB967}"/>
              </a:ext>
            </a:extLst>
          </p:cNvPr>
          <p:cNvSpPr/>
          <p:nvPr/>
        </p:nvSpPr>
        <p:spPr>
          <a:xfrm>
            <a:off x="4217280" y="2399035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 Walkthrough of DBSCAN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24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6E8C1162-CD67-7537-F48F-13849E3F96D1}"/>
              </a:ext>
            </a:extLst>
          </p:cNvPr>
          <p:cNvSpPr/>
          <p:nvPr/>
        </p:nvSpPr>
        <p:spPr>
          <a:xfrm>
            <a:off x="4251489" y="239903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0B554BCA-EA2A-5A5F-004C-EEA3DA8C63FB}"/>
              </a:ext>
            </a:extLst>
          </p:cNvPr>
          <p:cNvSpPr/>
          <p:nvPr/>
        </p:nvSpPr>
        <p:spPr>
          <a:xfrm>
            <a:off x="4706308" y="276490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36151742-C01D-1978-C081-80F19A53D413}"/>
              </a:ext>
            </a:extLst>
          </p:cNvPr>
          <p:cNvSpPr/>
          <p:nvPr/>
        </p:nvSpPr>
        <p:spPr>
          <a:xfrm>
            <a:off x="3762461" y="288194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0ABF5EAF-B3A6-0A25-B007-3BC5C2832E57}"/>
              </a:ext>
            </a:extLst>
          </p:cNvPr>
          <p:cNvSpPr/>
          <p:nvPr/>
        </p:nvSpPr>
        <p:spPr>
          <a:xfrm>
            <a:off x="4217280" y="322210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B33857D1-EB3E-4A03-09FD-CAD40A677601}"/>
              </a:ext>
            </a:extLst>
          </p:cNvPr>
          <p:cNvSpPr/>
          <p:nvPr/>
        </p:nvSpPr>
        <p:spPr>
          <a:xfrm>
            <a:off x="4745459" y="3251277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3AF3FCCC-FB9D-49E0-AAB5-0414905FA863}"/>
              </a:ext>
            </a:extLst>
          </p:cNvPr>
          <p:cNvSpPr/>
          <p:nvPr/>
        </p:nvSpPr>
        <p:spPr>
          <a:xfrm>
            <a:off x="3479657" y="397605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300666B3-ECB3-19F7-65DC-D043CEA98BFD}"/>
              </a:ext>
            </a:extLst>
          </p:cNvPr>
          <p:cNvSpPr/>
          <p:nvPr/>
        </p:nvSpPr>
        <p:spPr>
          <a:xfrm>
            <a:off x="5341774" y="210427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B277CA5D-8D42-30A8-01D4-39BC4C6D6E1A}"/>
              </a:ext>
            </a:extLst>
          </p:cNvPr>
          <p:cNvSpPr/>
          <p:nvPr/>
        </p:nvSpPr>
        <p:spPr>
          <a:xfrm>
            <a:off x="7307713" y="225165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C3E3C87A-D5CA-6398-F5C1-7D127DDE9A09}"/>
              </a:ext>
            </a:extLst>
          </p:cNvPr>
          <p:cNvSpPr/>
          <p:nvPr/>
        </p:nvSpPr>
        <p:spPr>
          <a:xfrm>
            <a:off x="7732230" y="265144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54809F40-9648-E4CD-B58D-C041FFFDBF46}"/>
              </a:ext>
            </a:extLst>
          </p:cNvPr>
          <p:cNvSpPr/>
          <p:nvPr/>
        </p:nvSpPr>
        <p:spPr>
          <a:xfrm>
            <a:off x="8011269" y="215743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ultiplication Sign 19">
            <a:extLst>
              <a:ext uri="{FF2B5EF4-FFF2-40B4-BE49-F238E27FC236}">
                <a16:creationId xmlns:a16="http://schemas.microsoft.com/office/drawing/2014/main" id="{C03BB289-ADBC-8929-C522-524A550B00F8}"/>
              </a:ext>
            </a:extLst>
          </p:cNvPr>
          <p:cNvSpPr/>
          <p:nvPr/>
        </p:nvSpPr>
        <p:spPr>
          <a:xfrm>
            <a:off x="7419619" y="355069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799FF259-B58C-08EA-735D-30F6952C3D46}"/>
              </a:ext>
            </a:extLst>
          </p:cNvPr>
          <p:cNvSpPr/>
          <p:nvPr/>
        </p:nvSpPr>
        <p:spPr>
          <a:xfrm>
            <a:off x="9946849" y="1496600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F22F0007-06A2-7842-D740-59EDD70875B3}"/>
              </a:ext>
            </a:extLst>
          </p:cNvPr>
          <p:cNvSpPr/>
          <p:nvPr/>
        </p:nvSpPr>
        <p:spPr>
          <a:xfrm>
            <a:off x="2047903" y="486421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6EE499-C870-8B13-DA4C-287D2E4296AD}"/>
              </a:ext>
            </a:extLst>
          </p:cNvPr>
          <p:cNvSpPr txBox="1"/>
          <p:nvPr/>
        </p:nvSpPr>
        <p:spPr>
          <a:xfrm>
            <a:off x="1588347" y="772969"/>
            <a:ext cx="882401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Step 2: For all of the </a:t>
            </a:r>
            <a:r>
              <a:rPr lang="en-US" dirty="0" err="1"/>
              <a:t>unclustered</a:t>
            </a:r>
            <a:r>
              <a:rPr lang="en-US" dirty="0"/>
              <a:t> core points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Step 2a: Create a new cluster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Step 2b: Add all points that are </a:t>
            </a:r>
            <a:r>
              <a:rPr lang="en-US" dirty="0" err="1"/>
              <a:t>unclustered</a:t>
            </a:r>
            <a:r>
              <a:rPr lang="en-US" dirty="0"/>
              <a:t> and density connected to the current point into this cluster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13A4C5D-6098-D011-38D6-D16CB0536454}"/>
              </a:ext>
            </a:extLst>
          </p:cNvPr>
          <p:cNvSpPr/>
          <p:nvPr/>
        </p:nvSpPr>
        <p:spPr>
          <a:xfrm>
            <a:off x="8275943" y="4895866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0930AC0-473A-523F-A8DD-7BB88DCB1EF1}"/>
              </a:ext>
            </a:extLst>
          </p:cNvPr>
          <p:cNvSpPr/>
          <p:nvPr/>
        </p:nvSpPr>
        <p:spPr>
          <a:xfrm>
            <a:off x="8274890" y="4297418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3CD82FE-326B-1558-C5EB-B1C30C9A1361}"/>
              </a:ext>
            </a:extLst>
          </p:cNvPr>
          <p:cNvSpPr/>
          <p:nvPr/>
        </p:nvSpPr>
        <p:spPr>
          <a:xfrm>
            <a:off x="8284646" y="5408795"/>
            <a:ext cx="373574" cy="3915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B0F719-BAA3-8CE9-C0F2-16F733B06626}"/>
              </a:ext>
            </a:extLst>
          </p:cNvPr>
          <p:cNvSpPr txBox="1"/>
          <p:nvPr/>
        </p:nvSpPr>
        <p:spPr>
          <a:xfrm>
            <a:off x="8691689" y="4286854"/>
            <a:ext cx="127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Core Point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23E40E-3711-7612-07F2-A6C6CF5A3316}"/>
              </a:ext>
            </a:extLst>
          </p:cNvPr>
          <p:cNvSpPr txBox="1"/>
          <p:nvPr/>
        </p:nvSpPr>
        <p:spPr>
          <a:xfrm>
            <a:off x="8691689" y="4910858"/>
            <a:ext cx="1528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Border Point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B7E297-6DF8-3BC2-098E-03FFDF4BB27D}"/>
              </a:ext>
            </a:extLst>
          </p:cNvPr>
          <p:cNvSpPr txBox="1"/>
          <p:nvPr/>
        </p:nvSpPr>
        <p:spPr>
          <a:xfrm>
            <a:off x="8691689" y="5419907"/>
            <a:ext cx="127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Noise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9030B1-71F0-9B51-DD5F-18D265A09CA2}"/>
              </a:ext>
            </a:extLst>
          </p:cNvPr>
          <p:cNvSpPr txBox="1"/>
          <p:nvPr/>
        </p:nvSpPr>
        <p:spPr>
          <a:xfrm>
            <a:off x="3392101" y="2556398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479FEA-E871-2C53-6C6F-F9A2773473B3}"/>
              </a:ext>
            </a:extLst>
          </p:cNvPr>
          <p:cNvSpPr txBox="1"/>
          <p:nvPr/>
        </p:nvSpPr>
        <p:spPr>
          <a:xfrm>
            <a:off x="3863542" y="1987203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FA15AB-DADF-D73B-4FCA-5FED9663373D}"/>
              </a:ext>
            </a:extLst>
          </p:cNvPr>
          <p:cNvSpPr txBox="1"/>
          <p:nvPr/>
        </p:nvSpPr>
        <p:spPr>
          <a:xfrm>
            <a:off x="4807389" y="2364255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B5688B-09A7-FC79-DFAD-2DAB3120DAF1}"/>
              </a:ext>
            </a:extLst>
          </p:cNvPr>
          <p:cNvSpPr txBox="1"/>
          <p:nvPr/>
        </p:nvSpPr>
        <p:spPr>
          <a:xfrm>
            <a:off x="4752476" y="3642133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71FC1E-1DE4-60C7-2F50-5FFC31AA04B5}"/>
              </a:ext>
            </a:extLst>
          </p:cNvPr>
          <p:cNvSpPr txBox="1"/>
          <p:nvPr/>
        </p:nvSpPr>
        <p:spPr>
          <a:xfrm>
            <a:off x="4157599" y="3658917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D99A12-4D10-CCAB-8137-26BA04143184}"/>
              </a:ext>
            </a:extLst>
          </p:cNvPr>
          <p:cNvSpPr txBox="1"/>
          <p:nvPr/>
        </p:nvSpPr>
        <p:spPr>
          <a:xfrm>
            <a:off x="7154901" y="1850424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FAB310-7DC3-158B-D942-16CB72B4805C}"/>
              </a:ext>
            </a:extLst>
          </p:cNvPr>
          <p:cNvSpPr txBox="1"/>
          <p:nvPr/>
        </p:nvSpPr>
        <p:spPr>
          <a:xfrm>
            <a:off x="8005452" y="1841234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826A69-D87B-0A10-0C15-A1F334856521}"/>
              </a:ext>
            </a:extLst>
          </p:cNvPr>
          <p:cNvSpPr txBox="1"/>
          <p:nvPr/>
        </p:nvSpPr>
        <p:spPr>
          <a:xfrm>
            <a:off x="8033357" y="2917053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9416AFF-B027-5AA7-F425-44DB68D2D767}"/>
              </a:ext>
            </a:extLst>
          </p:cNvPr>
          <p:cNvSpPr/>
          <p:nvPr/>
        </p:nvSpPr>
        <p:spPr>
          <a:xfrm rot="8633170">
            <a:off x="3606309" y="2206442"/>
            <a:ext cx="1653899" cy="18292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2F96FCF-FC49-2ADC-D302-596C929DA25B}"/>
              </a:ext>
            </a:extLst>
          </p:cNvPr>
          <p:cNvSpPr/>
          <p:nvPr/>
        </p:nvSpPr>
        <p:spPr>
          <a:xfrm rot="8633170">
            <a:off x="7135545" y="1697464"/>
            <a:ext cx="1374476" cy="1680961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8213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 35">
            <a:extLst>
              <a:ext uri="{FF2B5EF4-FFF2-40B4-BE49-F238E27FC236}">
                <a16:creationId xmlns:a16="http://schemas.microsoft.com/office/drawing/2014/main" id="{A74B60B6-61E0-70BF-0E13-79CB45E44E91}"/>
              </a:ext>
            </a:extLst>
          </p:cNvPr>
          <p:cNvSpPr/>
          <p:nvPr/>
        </p:nvSpPr>
        <p:spPr>
          <a:xfrm>
            <a:off x="1997804" y="4836774"/>
            <a:ext cx="373574" cy="3915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E25DEF8-D7E3-7192-1541-AB5EFA970729}"/>
              </a:ext>
            </a:extLst>
          </p:cNvPr>
          <p:cNvSpPr/>
          <p:nvPr/>
        </p:nvSpPr>
        <p:spPr>
          <a:xfrm>
            <a:off x="9896750" y="1474375"/>
            <a:ext cx="373574" cy="3915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61BF578-F22D-863D-E5B3-1E3E195EC9A7}"/>
              </a:ext>
            </a:extLst>
          </p:cNvPr>
          <p:cNvSpPr/>
          <p:nvPr/>
        </p:nvSpPr>
        <p:spPr>
          <a:xfrm>
            <a:off x="7370022" y="3549769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7838B16-EE5A-FD66-8964-ECE933F5485A}"/>
              </a:ext>
            </a:extLst>
          </p:cNvPr>
          <p:cNvSpPr/>
          <p:nvPr/>
        </p:nvSpPr>
        <p:spPr>
          <a:xfrm>
            <a:off x="3429558" y="3941949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330A348-51C8-2B25-D16C-55490DDA3767}"/>
              </a:ext>
            </a:extLst>
          </p:cNvPr>
          <p:cNvSpPr/>
          <p:nvPr/>
        </p:nvSpPr>
        <p:spPr>
          <a:xfrm>
            <a:off x="5291675" y="2093163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40CFEB-C665-1C51-2F36-0E1C36CED869}"/>
              </a:ext>
            </a:extLst>
          </p:cNvPr>
          <p:cNvSpPr/>
          <p:nvPr/>
        </p:nvSpPr>
        <p:spPr>
          <a:xfrm>
            <a:off x="7659783" y="2669700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8A5BD85-1BC4-A564-CF1B-FB1AC3C4C93C}"/>
              </a:ext>
            </a:extLst>
          </p:cNvPr>
          <p:cNvSpPr/>
          <p:nvPr/>
        </p:nvSpPr>
        <p:spPr>
          <a:xfrm>
            <a:off x="7932990" y="2157439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BE6E4E2-385E-19B9-A8A5-67B41A571317}"/>
              </a:ext>
            </a:extLst>
          </p:cNvPr>
          <p:cNvSpPr/>
          <p:nvPr/>
        </p:nvSpPr>
        <p:spPr>
          <a:xfrm>
            <a:off x="7282267" y="2218910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D5C9536-F877-BF92-3417-A73D7A2812F2}"/>
              </a:ext>
            </a:extLst>
          </p:cNvPr>
          <p:cNvSpPr/>
          <p:nvPr/>
        </p:nvSpPr>
        <p:spPr>
          <a:xfrm>
            <a:off x="3719148" y="2852777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88485F7-D92D-B235-3701-52EE8B6371DF}"/>
              </a:ext>
            </a:extLst>
          </p:cNvPr>
          <p:cNvSpPr/>
          <p:nvPr/>
        </p:nvSpPr>
        <p:spPr>
          <a:xfrm>
            <a:off x="4183443" y="3233221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38EDBDF-E956-DF29-3CBD-29DF81757EA6}"/>
              </a:ext>
            </a:extLst>
          </p:cNvPr>
          <p:cNvSpPr/>
          <p:nvPr/>
        </p:nvSpPr>
        <p:spPr>
          <a:xfrm>
            <a:off x="4710084" y="3222109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43FD49-3BC5-C3A0-2475-1EDE8C9F6750}"/>
              </a:ext>
            </a:extLst>
          </p:cNvPr>
          <p:cNvSpPr/>
          <p:nvPr/>
        </p:nvSpPr>
        <p:spPr>
          <a:xfrm>
            <a:off x="4661758" y="2729952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C292634-F2EA-58BE-AA0C-7EEC303CB967}"/>
              </a:ext>
            </a:extLst>
          </p:cNvPr>
          <p:cNvSpPr/>
          <p:nvPr/>
        </p:nvSpPr>
        <p:spPr>
          <a:xfrm>
            <a:off x="4217280" y="2399035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 Walkthrough of DBSCAN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25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6E8C1162-CD67-7537-F48F-13849E3F96D1}"/>
              </a:ext>
            </a:extLst>
          </p:cNvPr>
          <p:cNvSpPr/>
          <p:nvPr/>
        </p:nvSpPr>
        <p:spPr>
          <a:xfrm>
            <a:off x="4251489" y="239903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0B554BCA-EA2A-5A5F-004C-EEA3DA8C63FB}"/>
              </a:ext>
            </a:extLst>
          </p:cNvPr>
          <p:cNvSpPr/>
          <p:nvPr/>
        </p:nvSpPr>
        <p:spPr>
          <a:xfrm>
            <a:off x="4706308" y="276490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36151742-C01D-1978-C081-80F19A53D413}"/>
              </a:ext>
            </a:extLst>
          </p:cNvPr>
          <p:cNvSpPr/>
          <p:nvPr/>
        </p:nvSpPr>
        <p:spPr>
          <a:xfrm>
            <a:off x="3762461" y="288194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0ABF5EAF-B3A6-0A25-B007-3BC5C2832E57}"/>
              </a:ext>
            </a:extLst>
          </p:cNvPr>
          <p:cNvSpPr/>
          <p:nvPr/>
        </p:nvSpPr>
        <p:spPr>
          <a:xfrm>
            <a:off x="4217280" y="322210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B33857D1-EB3E-4A03-09FD-CAD40A677601}"/>
              </a:ext>
            </a:extLst>
          </p:cNvPr>
          <p:cNvSpPr/>
          <p:nvPr/>
        </p:nvSpPr>
        <p:spPr>
          <a:xfrm>
            <a:off x="4745459" y="3251277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3AF3FCCC-FB9D-49E0-AAB5-0414905FA863}"/>
              </a:ext>
            </a:extLst>
          </p:cNvPr>
          <p:cNvSpPr/>
          <p:nvPr/>
        </p:nvSpPr>
        <p:spPr>
          <a:xfrm>
            <a:off x="3479657" y="3976055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300666B3-ECB3-19F7-65DC-D043CEA98BFD}"/>
              </a:ext>
            </a:extLst>
          </p:cNvPr>
          <p:cNvSpPr/>
          <p:nvPr/>
        </p:nvSpPr>
        <p:spPr>
          <a:xfrm>
            <a:off x="5341774" y="210427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B277CA5D-8D42-30A8-01D4-39BC4C6D6E1A}"/>
              </a:ext>
            </a:extLst>
          </p:cNvPr>
          <p:cNvSpPr/>
          <p:nvPr/>
        </p:nvSpPr>
        <p:spPr>
          <a:xfrm>
            <a:off x="7307713" y="225165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C3E3C87A-D5CA-6398-F5C1-7D127DDE9A09}"/>
              </a:ext>
            </a:extLst>
          </p:cNvPr>
          <p:cNvSpPr/>
          <p:nvPr/>
        </p:nvSpPr>
        <p:spPr>
          <a:xfrm>
            <a:off x="7732230" y="265144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54809F40-9648-E4CD-B58D-C041FFFDBF46}"/>
              </a:ext>
            </a:extLst>
          </p:cNvPr>
          <p:cNvSpPr/>
          <p:nvPr/>
        </p:nvSpPr>
        <p:spPr>
          <a:xfrm>
            <a:off x="8011269" y="215743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ultiplication Sign 19">
            <a:extLst>
              <a:ext uri="{FF2B5EF4-FFF2-40B4-BE49-F238E27FC236}">
                <a16:creationId xmlns:a16="http://schemas.microsoft.com/office/drawing/2014/main" id="{C03BB289-ADBC-8929-C522-524A550B00F8}"/>
              </a:ext>
            </a:extLst>
          </p:cNvPr>
          <p:cNvSpPr/>
          <p:nvPr/>
        </p:nvSpPr>
        <p:spPr>
          <a:xfrm>
            <a:off x="7419619" y="3550696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799FF259-B58C-08EA-735D-30F6952C3D46}"/>
              </a:ext>
            </a:extLst>
          </p:cNvPr>
          <p:cNvSpPr/>
          <p:nvPr/>
        </p:nvSpPr>
        <p:spPr>
          <a:xfrm>
            <a:off x="9946849" y="1496600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F22F0007-06A2-7842-D740-59EDD70875B3}"/>
              </a:ext>
            </a:extLst>
          </p:cNvPr>
          <p:cNvSpPr/>
          <p:nvPr/>
        </p:nvSpPr>
        <p:spPr>
          <a:xfrm>
            <a:off x="2047903" y="4864219"/>
            <a:ext cx="273377" cy="36933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6EE499-C870-8B13-DA4C-287D2E4296AD}"/>
              </a:ext>
            </a:extLst>
          </p:cNvPr>
          <p:cNvSpPr txBox="1"/>
          <p:nvPr/>
        </p:nvSpPr>
        <p:spPr>
          <a:xfrm>
            <a:off x="1588347" y="772969"/>
            <a:ext cx="88240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Step  3: For each </a:t>
            </a:r>
            <a:r>
              <a:rPr lang="en-US" dirty="0" err="1"/>
              <a:t>unclustered</a:t>
            </a:r>
            <a:r>
              <a:rPr lang="en-US" dirty="0"/>
              <a:t> border point assign it to the cluster of nearest core point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13A4C5D-6098-D011-38D6-D16CB0536454}"/>
              </a:ext>
            </a:extLst>
          </p:cNvPr>
          <p:cNvSpPr/>
          <p:nvPr/>
        </p:nvSpPr>
        <p:spPr>
          <a:xfrm>
            <a:off x="8275943" y="4895866"/>
            <a:ext cx="373574" cy="3915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0930AC0-473A-523F-A8DD-7BB88DCB1EF1}"/>
              </a:ext>
            </a:extLst>
          </p:cNvPr>
          <p:cNvSpPr/>
          <p:nvPr/>
        </p:nvSpPr>
        <p:spPr>
          <a:xfrm>
            <a:off x="8274890" y="4297418"/>
            <a:ext cx="373574" cy="391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3CD82FE-326B-1558-C5EB-B1C30C9A1361}"/>
              </a:ext>
            </a:extLst>
          </p:cNvPr>
          <p:cNvSpPr/>
          <p:nvPr/>
        </p:nvSpPr>
        <p:spPr>
          <a:xfrm>
            <a:off x="8284646" y="5408795"/>
            <a:ext cx="373574" cy="3915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B0F719-BAA3-8CE9-C0F2-16F733B06626}"/>
              </a:ext>
            </a:extLst>
          </p:cNvPr>
          <p:cNvSpPr txBox="1"/>
          <p:nvPr/>
        </p:nvSpPr>
        <p:spPr>
          <a:xfrm>
            <a:off x="8691689" y="4286854"/>
            <a:ext cx="127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Core Point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23E40E-3711-7612-07F2-A6C6CF5A3316}"/>
              </a:ext>
            </a:extLst>
          </p:cNvPr>
          <p:cNvSpPr txBox="1"/>
          <p:nvPr/>
        </p:nvSpPr>
        <p:spPr>
          <a:xfrm>
            <a:off x="8691689" y="4910858"/>
            <a:ext cx="1528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Border Point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B7E297-6DF8-3BC2-098E-03FFDF4BB27D}"/>
              </a:ext>
            </a:extLst>
          </p:cNvPr>
          <p:cNvSpPr txBox="1"/>
          <p:nvPr/>
        </p:nvSpPr>
        <p:spPr>
          <a:xfrm>
            <a:off x="8691689" y="5419907"/>
            <a:ext cx="127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Noise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9030B1-71F0-9B51-DD5F-18D265A09CA2}"/>
              </a:ext>
            </a:extLst>
          </p:cNvPr>
          <p:cNvSpPr txBox="1"/>
          <p:nvPr/>
        </p:nvSpPr>
        <p:spPr>
          <a:xfrm>
            <a:off x="3392101" y="2556398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479FEA-E871-2C53-6C6F-F9A2773473B3}"/>
              </a:ext>
            </a:extLst>
          </p:cNvPr>
          <p:cNvSpPr txBox="1"/>
          <p:nvPr/>
        </p:nvSpPr>
        <p:spPr>
          <a:xfrm>
            <a:off x="3863542" y="1987203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FA15AB-DADF-D73B-4FCA-5FED9663373D}"/>
              </a:ext>
            </a:extLst>
          </p:cNvPr>
          <p:cNvSpPr txBox="1"/>
          <p:nvPr/>
        </p:nvSpPr>
        <p:spPr>
          <a:xfrm>
            <a:off x="4807389" y="2364255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B5688B-09A7-FC79-DFAD-2DAB3120DAF1}"/>
              </a:ext>
            </a:extLst>
          </p:cNvPr>
          <p:cNvSpPr txBox="1"/>
          <p:nvPr/>
        </p:nvSpPr>
        <p:spPr>
          <a:xfrm>
            <a:off x="4752476" y="3642133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71FC1E-1DE4-60C7-2F50-5FFC31AA04B5}"/>
              </a:ext>
            </a:extLst>
          </p:cNvPr>
          <p:cNvSpPr txBox="1"/>
          <p:nvPr/>
        </p:nvSpPr>
        <p:spPr>
          <a:xfrm>
            <a:off x="4157599" y="3658917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D99A12-4D10-CCAB-8137-26BA04143184}"/>
              </a:ext>
            </a:extLst>
          </p:cNvPr>
          <p:cNvSpPr txBox="1"/>
          <p:nvPr/>
        </p:nvSpPr>
        <p:spPr>
          <a:xfrm>
            <a:off x="7154901" y="1850424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FAB310-7DC3-158B-D942-16CB72B4805C}"/>
              </a:ext>
            </a:extLst>
          </p:cNvPr>
          <p:cNvSpPr txBox="1"/>
          <p:nvPr/>
        </p:nvSpPr>
        <p:spPr>
          <a:xfrm>
            <a:off x="8005452" y="1841234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826A69-D87B-0A10-0C15-A1F334856521}"/>
              </a:ext>
            </a:extLst>
          </p:cNvPr>
          <p:cNvSpPr txBox="1"/>
          <p:nvPr/>
        </p:nvSpPr>
        <p:spPr>
          <a:xfrm>
            <a:off x="8033357" y="2917053"/>
            <a:ext cx="34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9416AFF-B027-5AA7-F425-44DB68D2D767}"/>
              </a:ext>
            </a:extLst>
          </p:cNvPr>
          <p:cNvSpPr/>
          <p:nvPr/>
        </p:nvSpPr>
        <p:spPr>
          <a:xfrm rot="8633170">
            <a:off x="2661117" y="2218622"/>
            <a:ext cx="3397439" cy="18292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2F96FCF-FC49-2ADC-D302-596C929DA25B}"/>
              </a:ext>
            </a:extLst>
          </p:cNvPr>
          <p:cNvSpPr/>
          <p:nvPr/>
        </p:nvSpPr>
        <p:spPr>
          <a:xfrm rot="8633170">
            <a:off x="6576905" y="1879590"/>
            <a:ext cx="2168098" cy="2219596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2093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 Advantages &amp; Limitations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26</a:t>
            </a:fld>
            <a:endParaRPr lang="en-US" spc="-67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6EE499-C870-8B13-DA4C-287D2E4296AD}"/>
              </a:ext>
            </a:extLst>
          </p:cNvPr>
          <p:cNvSpPr txBox="1"/>
          <p:nvPr/>
        </p:nvSpPr>
        <p:spPr>
          <a:xfrm>
            <a:off x="1588347" y="1018117"/>
            <a:ext cx="882401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Advantage:</a:t>
            </a:r>
          </a:p>
          <a:p>
            <a:pPr lvl="1"/>
            <a:endParaRPr lang="en-US" dirty="0"/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dirty="0"/>
              <a:t>Robust to outliers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dirty="0"/>
              <a:t>No need to specify clusters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dirty="0"/>
              <a:t>Can find arbitrary shaped clusters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dirty="0"/>
              <a:t>Only 2 hyperparameters to tune ( epsilon and </a:t>
            </a:r>
            <a:r>
              <a:rPr lang="en-US" dirty="0" err="1"/>
              <a:t>minPts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Limitations: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dirty="0"/>
              <a:t>Sensitivity to hyperparameters.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dirty="0"/>
              <a:t>Difficulty with varying density clusters. (sparse dense). Why? Think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dirty="0"/>
              <a:t>Does not predict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8773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Visualization tool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27</a:t>
            </a:fld>
            <a:endParaRPr lang="en-US" spc="-67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439" y="1876602"/>
            <a:ext cx="675935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3"/>
              </a:rPr>
              <a:t>https://www.naftaliharris.com/blog/visualizing-dbscan-clustering/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212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423a9bc-f6b4-4119-8639-49f06be6048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861056F44CB24E9AFE29B868B75F6D" ma:contentTypeVersion="6" ma:contentTypeDescription="Create a new document." ma:contentTypeScope="" ma:versionID="1d9898b3eb27d2a7625f03f6a12e5b56">
  <xsd:schema xmlns:xsd="http://www.w3.org/2001/XMLSchema" xmlns:xs="http://www.w3.org/2001/XMLSchema" xmlns:p="http://schemas.microsoft.com/office/2006/metadata/properties" xmlns:ns3="3423a9bc-f6b4-4119-8639-49f06be6048f" targetNamespace="http://schemas.microsoft.com/office/2006/metadata/properties" ma:root="true" ma:fieldsID="437daef725167e1549e0aef01c78cd8b" ns3:_="">
    <xsd:import namespace="3423a9bc-f6b4-4119-8639-49f06be6048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23a9bc-f6b4-4119-8639-49f06be6048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DD7899-C445-43A0-A75E-35F3FA41CB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5D7A4D-4CEB-4AF2-9AC5-B2B3D20E0AF2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3423a9bc-f6b4-4119-8639-49f06be6048f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CC0044B-333E-43C9-97AD-A09B8CFA6B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23a9bc-f6b4-4119-8639-49f06be604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3760</TotalTime>
  <Words>1508</Words>
  <Application>Microsoft Office PowerPoint</Application>
  <PresentationFormat>Widescreen</PresentationFormat>
  <Paragraphs>290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Inter</vt:lpstr>
      <vt:lpstr>Wingdings</vt:lpstr>
      <vt:lpstr>Office Theme</vt:lpstr>
      <vt:lpstr>PowerPoint Presentation</vt:lpstr>
      <vt:lpstr>Density Based Clustering</vt:lpstr>
      <vt:lpstr>Density Based Clustering</vt:lpstr>
      <vt:lpstr>Density Based Clustering</vt:lpstr>
      <vt:lpstr>Density Based Clustering</vt:lpstr>
      <vt:lpstr>Density Based Clustering</vt:lpstr>
      <vt:lpstr>What is DBSCAN Clustering?</vt:lpstr>
      <vt:lpstr> Parameters Required for DBSCAN Algorithm</vt:lpstr>
      <vt:lpstr> Walkthrough of DBSCAN</vt:lpstr>
      <vt:lpstr> Walkthrough of DBSCAN</vt:lpstr>
      <vt:lpstr> Walkthrough of DBSCAN</vt:lpstr>
      <vt:lpstr> Walkthrough of DBSCAN</vt:lpstr>
      <vt:lpstr> Walkthrough of DBSCAN</vt:lpstr>
      <vt:lpstr> Walkthrough of DBSCAN</vt:lpstr>
      <vt:lpstr> Walkthrough of DBSCAN</vt:lpstr>
      <vt:lpstr> Walkthrough of DBSCAN</vt:lpstr>
      <vt:lpstr> Walkthrough of DBSCAN</vt:lpstr>
      <vt:lpstr> Walkthrough of DBSCAN</vt:lpstr>
      <vt:lpstr> Walkthrough of DBSCAN</vt:lpstr>
      <vt:lpstr> Walkthrough of DBSCAN</vt:lpstr>
      <vt:lpstr> Walkthrough of DBSCAN</vt:lpstr>
      <vt:lpstr> Walkthrough of DBSCAN</vt:lpstr>
      <vt:lpstr> Walkthrough of DBSCAN</vt:lpstr>
      <vt:lpstr> Walkthrough of DBSCAN</vt:lpstr>
      <vt:lpstr> Walkthrough of DBSCAN</vt:lpstr>
      <vt:lpstr> Advantages &amp; Limitations</vt:lpstr>
      <vt:lpstr>Visualization tool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social</dc:creator>
  <cp:lastModifiedBy>social</cp:lastModifiedBy>
  <cp:revision>10</cp:revision>
  <dcterms:created xsi:type="dcterms:W3CDTF">2024-09-02T09:58:42Z</dcterms:created>
  <dcterms:modified xsi:type="dcterms:W3CDTF">2024-10-01T02:33:12Z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0x01010002861056F44CB24E9AFE29B868B75F6D</vt:lpwstr>
  </property>
</Properties>
</file>