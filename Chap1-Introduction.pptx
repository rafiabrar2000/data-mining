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 ContentType="image/tif"/>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1409" r:id="rId2"/>
    <p:sldId id="1374" r:id="rId3"/>
    <p:sldId id="1376" r:id="rId4"/>
    <p:sldId id="1421" r:id="rId5"/>
    <p:sldId id="1379" r:id="rId6"/>
    <p:sldId id="1422" r:id="rId7"/>
    <p:sldId id="1385" r:id="rId8"/>
    <p:sldId id="1386" r:id="rId9"/>
    <p:sldId id="1387" r:id="rId10"/>
    <p:sldId id="1388" r:id="rId11"/>
    <p:sldId id="1423" r:id="rId12"/>
    <p:sldId id="1389" r:id="rId13"/>
    <p:sldId id="1390" r:id="rId14"/>
    <p:sldId id="1391" r:id="rId15"/>
    <p:sldId id="1392" r:id="rId16"/>
    <p:sldId id="1394" r:id="rId17"/>
    <p:sldId id="1395" r:id="rId18"/>
    <p:sldId id="1397" r:id="rId19"/>
    <p:sldId id="1424" r:id="rId20"/>
    <p:sldId id="1420" r:id="rId21"/>
  </p:sldIdLst>
  <p:sldSz cx="12192000" cy="6858000"/>
  <p:notesSz cx="7010400" cy="9296400"/>
  <p:defaultTextStyle>
    <a:defPPr>
      <a:defRPr lang="en-US"/>
    </a:defPPr>
    <a:lvl1pPr marL="0" algn="l" defTabSz="457178" rtl="0" eaLnBrk="1" latinLnBrk="0" hangingPunct="1">
      <a:defRPr sz="1900" kern="1200">
        <a:solidFill>
          <a:schemeClr val="tx1"/>
        </a:solidFill>
        <a:latin typeface="+mn-lt"/>
        <a:ea typeface="+mn-ea"/>
        <a:cs typeface="+mn-cs"/>
      </a:defRPr>
    </a:lvl1pPr>
    <a:lvl2pPr marL="457178" algn="l" defTabSz="457178" rtl="0" eaLnBrk="1" latinLnBrk="0" hangingPunct="1">
      <a:defRPr sz="1900" kern="1200">
        <a:solidFill>
          <a:schemeClr val="tx1"/>
        </a:solidFill>
        <a:latin typeface="+mn-lt"/>
        <a:ea typeface="+mn-ea"/>
        <a:cs typeface="+mn-cs"/>
      </a:defRPr>
    </a:lvl2pPr>
    <a:lvl3pPr marL="914354" algn="l" defTabSz="457178" rtl="0" eaLnBrk="1" latinLnBrk="0" hangingPunct="1">
      <a:defRPr sz="1900" kern="1200">
        <a:solidFill>
          <a:schemeClr val="tx1"/>
        </a:solidFill>
        <a:latin typeface="+mn-lt"/>
        <a:ea typeface="+mn-ea"/>
        <a:cs typeface="+mn-cs"/>
      </a:defRPr>
    </a:lvl3pPr>
    <a:lvl4pPr marL="1371532" algn="l" defTabSz="457178" rtl="0" eaLnBrk="1" latinLnBrk="0" hangingPunct="1">
      <a:defRPr sz="1900" kern="1200">
        <a:solidFill>
          <a:schemeClr val="tx1"/>
        </a:solidFill>
        <a:latin typeface="+mn-lt"/>
        <a:ea typeface="+mn-ea"/>
        <a:cs typeface="+mn-cs"/>
      </a:defRPr>
    </a:lvl4pPr>
    <a:lvl5pPr marL="1828709" algn="l" defTabSz="457178" rtl="0" eaLnBrk="1" latinLnBrk="0" hangingPunct="1">
      <a:defRPr sz="1900" kern="1200">
        <a:solidFill>
          <a:schemeClr val="tx1"/>
        </a:solidFill>
        <a:latin typeface="+mn-lt"/>
        <a:ea typeface="+mn-ea"/>
        <a:cs typeface="+mn-cs"/>
      </a:defRPr>
    </a:lvl5pPr>
    <a:lvl6pPr marL="2285886" algn="l" defTabSz="457178" rtl="0" eaLnBrk="1" latinLnBrk="0" hangingPunct="1">
      <a:defRPr sz="1900" kern="1200">
        <a:solidFill>
          <a:schemeClr val="tx1"/>
        </a:solidFill>
        <a:latin typeface="+mn-lt"/>
        <a:ea typeface="+mn-ea"/>
        <a:cs typeface="+mn-cs"/>
      </a:defRPr>
    </a:lvl6pPr>
    <a:lvl7pPr marL="2743062" algn="l" defTabSz="457178" rtl="0" eaLnBrk="1" latinLnBrk="0" hangingPunct="1">
      <a:defRPr sz="1900" kern="1200">
        <a:solidFill>
          <a:schemeClr val="tx1"/>
        </a:solidFill>
        <a:latin typeface="+mn-lt"/>
        <a:ea typeface="+mn-ea"/>
        <a:cs typeface="+mn-cs"/>
      </a:defRPr>
    </a:lvl7pPr>
    <a:lvl8pPr marL="3200240" algn="l" defTabSz="457178" rtl="0" eaLnBrk="1" latinLnBrk="0" hangingPunct="1">
      <a:defRPr sz="1900" kern="1200">
        <a:solidFill>
          <a:schemeClr val="tx1"/>
        </a:solidFill>
        <a:latin typeface="+mn-lt"/>
        <a:ea typeface="+mn-ea"/>
        <a:cs typeface="+mn-cs"/>
      </a:defRPr>
    </a:lvl8pPr>
    <a:lvl9pPr marL="3657418" algn="l" defTabSz="457178"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eqing Liu" initials="XL" lastIdx="3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CDBC"/>
    <a:srgbClr val="008080"/>
    <a:srgbClr val="0033CC"/>
    <a:srgbClr val="0000CC"/>
    <a:srgbClr val="BD582C"/>
    <a:srgbClr val="E48312"/>
    <a:srgbClr val="7F7F7F"/>
    <a:srgbClr val="94A088"/>
    <a:srgbClr val="8656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66" autoAdjust="0"/>
    <p:restoredTop sz="88005" autoAdjust="0"/>
  </p:normalViewPr>
  <p:slideViewPr>
    <p:cSldViewPr snapToGrid="0">
      <p:cViewPr varScale="1">
        <p:scale>
          <a:sx n="61" d="100"/>
          <a:sy n="61" d="100"/>
        </p:scale>
        <p:origin x="1028" y="28"/>
      </p:cViewPr>
      <p:guideLst>
        <p:guide orient="horz" pos="2160"/>
        <p:guide pos="3840"/>
      </p:guideLst>
    </p:cSldViewPr>
  </p:slideViewPr>
  <p:outlineViewPr>
    <p:cViewPr>
      <p:scale>
        <a:sx n="33" d="100"/>
        <a:sy n="33" d="100"/>
      </p:scale>
      <p:origin x="0" y="-8358"/>
    </p:cViewPr>
    <p:sldLst>
      <p:sld r:id="rId1" collapse="1"/>
    </p:sldLst>
  </p:outlineViewPr>
  <p:notesTextViewPr>
    <p:cViewPr>
      <p:scale>
        <a:sx n="1" d="1"/>
        <a:sy n="1" d="1"/>
      </p:scale>
      <p:origin x="0" y="-2616"/>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67" tIns="46584" rIns="93167" bIns="46584"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67" tIns="46584" rIns="93167" bIns="46584" rtlCol="0"/>
          <a:lstStyle>
            <a:lvl1pPr algn="r">
              <a:defRPr sz="1200"/>
            </a:lvl1pPr>
          </a:lstStyle>
          <a:p>
            <a:fld id="{F87AF23C-6CAB-4A6A-B3BC-A88F610E0570}" type="datetimeFigureOut">
              <a:rPr lang="en-US" smtClean="0"/>
              <a:t>6/15/2024</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67" tIns="46584" rIns="93167" bIns="46584"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67" tIns="46584" rIns="93167" bIns="4658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9"/>
            <a:ext cx="3037840" cy="466433"/>
          </a:xfrm>
          <a:prstGeom prst="rect">
            <a:avLst/>
          </a:prstGeom>
        </p:spPr>
        <p:txBody>
          <a:bodyPr vert="horz" lIns="93167" tIns="46584" rIns="93167" bIns="46584"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9"/>
            <a:ext cx="3037840" cy="466433"/>
          </a:xfrm>
          <a:prstGeom prst="rect">
            <a:avLst/>
          </a:prstGeom>
        </p:spPr>
        <p:txBody>
          <a:bodyPr vert="horz" lIns="93167" tIns="46584" rIns="93167" bIns="46584" rtlCol="0" anchor="b"/>
          <a:lstStyle>
            <a:lvl1pPr algn="r">
              <a:defRPr sz="1200"/>
            </a:lvl1pPr>
          </a:lstStyle>
          <a:p>
            <a:fld id="{A6F8110F-5CB8-4B7A-89C2-96B671E6053B}" type="slidenum">
              <a:rPr lang="en-US" smtClean="0"/>
              <a:t>‹#›</a:t>
            </a:fld>
            <a:endParaRPr lang="en-US"/>
          </a:p>
        </p:txBody>
      </p:sp>
    </p:spTree>
    <p:extLst>
      <p:ext uri="{BB962C8B-B14F-4D97-AF65-F5344CB8AC3E}">
        <p14:creationId xmlns:p14="http://schemas.microsoft.com/office/powerpoint/2010/main" val="1849144875"/>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pPr eaLnBrk="1" hangingPunct="1"/>
              <a:t>1</a:t>
            </a:fld>
            <a:endParaRPr lang="en-US" altLang="en-US" sz="12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3784570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1E9AD48F-6A84-425B-91DC-38359CC00E39}" type="slidenum">
              <a:rPr lang="en-US" altLang="en-US" sz="1200"/>
              <a:pPr eaLnBrk="1" hangingPunct="1"/>
              <a:t>2</a:t>
            </a:fld>
            <a:endParaRPr lang="en-US" altLang="en-US" sz="120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985308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9FDB77E0-0643-4731-BF9E-5D4CE6D72A36}" type="slidenum">
              <a:rPr lang="en-US" altLang="en-US" sz="1200"/>
              <a:pPr eaLnBrk="1" hangingPunct="1"/>
              <a:t>3</a:t>
            </a:fld>
            <a:endParaRPr lang="en-US" altLang="en-US" sz="120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422981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CAC34B97-841C-4970-9BDB-CC086931394A}" type="slidenum">
              <a:rPr lang="en-US" altLang="en-US" sz="1200"/>
              <a:pPr eaLnBrk="1" hangingPunct="1"/>
              <a:t>4</a:t>
            </a:fld>
            <a:endParaRPr lang="en-US" altLang="en-US" sz="120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Structured Data</a:t>
            </a:r>
            <a:r>
              <a:rPr lang="en-US" dirty="0" smtClean="0"/>
              <a:t>: This is organized data that fits neatly into tables or spreadsheets, like numbers, dates, and strings. Examples include databases and Excel files.</a:t>
            </a:r>
          </a:p>
          <a:p>
            <a:r>
              <a:rPr lang="en-US" b="1" dirty="0" smtClean="0"/>
              <a:t>Semi-Structured Data</a:t>
            </a:r>
            <a:r>
              <a:rPr lang="en-US" dirty="0" smtClean="0"/>
              <a:t>: This is somewhat organized data that doesn't fit neatly into tables but still has some structure. Examples include JSON files, XML files, and email metadata.</a:t>
            </a:r>
          </a:p>
          <a:p>
            <a:r>
              <a:rPr lang="en-US" b="1" dirty="0" smtClean="0"/>
              <a:t>Unstructured Data</a:t>
            </a:r>
            <a:r>
              <a:rPr lang="en-US" dirty="0" smtClean="0"/>
              <a:t>: This is data that doesn't have a predefined structure, making it hard to organize in tables. Examples include text documents, images, videos, and social media posts.</a:t>
            </a:r>
          </a:p>
          <a:p>
            <a:r>
              <a:rPr lang="en-US" dirty="0" smtClean="0"/>
              <a:t>These categories help in understanding how data can be stored, managed, and analyzed.</a:t>
            </a:r>
          </a:p>
          <a:p>
            <a:pPr eaLnBrk="1" hangingPunct="1"/>
            <a:endParaRPr lang="en-US" altLang="en-US" dirty="0"/>
          </a:p>
        </p:txBody>
      </p:sp>
    </p:spTree>
    <p:extLst>
      <p:ext uri="{BB962C8B-B14F-4D97-AF65-F5344CB8AC3E}">
        <p14:creationId xmlns:p14="http://schemas.microsoft.com/office/powerpoint/2010/main" val="3334266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CAC34B97-841C-4970-9BDB-CC086931394A}" type="slidenum">
              <a:rPr lang="en-US" altLang="en-US" sz="1200"/>
              <a:pPr eaLnBrk="1" hangingPunct="1"/>
              <a:t>5</a:t>
            </a:fld>
            <a:endParaRPr lang="en-US" altLang="en-US" sz="120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Data Associated with Different Applications</a:t>
            </a:r>
          </a:p>
          <a:p>
            <a:r>
              <a:rPr lang="en-US" b="1" dirty="0" smtClean="0"/>
              <a:t>Different Applications</a:t>
            </a:r>
          </a:p>
          <a:p>
            <a:r>
              <a:rPr lang="en-US" b="1" dirty="0" smtClean="0"/>
              <a:t>Different applications require different data sets and analysis methods</a:t>
            </a:r>
            <a:r>
              <a:rPr lang="en-US" dirty="0" smtClean="0"/>
              <a:t>: The type of data and the</a:t>
            </a:r>
          </a:p>
          <a:p>
            <a:r>
              <a:rPr lang="en-US" dirty="0" smtClean="0"/>
              <a:t>analysis techniques vary widely depending on the application domain. Understanding these variations helps in choosing the appropriate data mining methods.</a:t>
            </a:r>
          </a:p>
          <a:p>
            <a:r>
              <a:rPr lang="en-US" b="1" dirty="0" smtClean="0"/>
              <a:t>Types of Data</a:t>
            </a:r>
          </a:p>
          <a:p>
            <a:r>
              <a:rPr lang="en-US" b="1" dirty="0" smtClean="0"/>
              <a:t>Sequence Data</a:t>
            </a:r>
            <a:r>
              <a:rPr lang="en-US" dirty="0" smtClean="0"/>
              <a:t>: This type includes data where the order of elements matters. Examples are:</a:t>
            </a:r>
          </a:p>
          <a:p>
            <a:pPr lvl="1"/>
            <a:r>
              <a:rPr lang="en-US" b="1" dirty="0" smtClean="0"/>
              <a:t>Biological sequences</a:t>
            </a:r>
            <a:r>
              <a:rPr lang="en-US" dirty="0" smtClean="0"/>
              <a:t>: Such as DNA, RNA, or protein sequences, where the order of nucleotides or amino acids is crucial.</a:t>
            </a:r>
          </a:p>
          <a:p>
            <a:pPr lvl="1"/>
            <a:r>
              <a:rPr lang="en-US" b="1" dirty="0" smtClean="0"/>
              <a:t>Shopping transaction sequences</a:t>
            </a:r>
            <a:r>
              <a:rPr lang="en-US" dirty="0" smtClean="0"/>
              <a:t>: Where the order of purchased items may provide insights into customer behavior and preferences.</a:t>
            </a:r>
          </a:p>
          <a:p>
            <a:r>
              <a:rPr lang="en-US" b="1" dirty="0" smtClean="0"/>
              <a:t>Time-Series Data</a:t>
            </a:r>
            <a:r>
              <a:rPr lang="en-US" dirty="0" smtClean="0"/>
              <a:t>: This consists of ordered sets of numerical values with equal time intervals between them. Examples include:</a:t>
            </a:r>
          </a:p>
          <a:p>
            <a:pPr lvl="1"/>
            <a:r>
              <a:rPr lang="en-US" b="1" dirty="0" smtClean="0"/>
              <a:t>Stock prices</a:t>
            </a:r>
            <a:r>
              <a:rPr lang="en-US" dirty="0" smtClean="0"/>
              <a:t>: Recorded at regular intervals (e.g., daily closing prices).</a:t>
            </a:r>
          </a:p>
          <a:p>
            <a:pPr lvl="1"/>
            <a:r>
              <a:rPr lang="en-US" b="1" dirty="0" smtClean="0"/>
              <a:t>Weather data</a:t>
            </a:r>
            <a:r>
              <a:rPr lang="en-US" dirty="0" smtClean="0"/>
              <a:t>: Such as hourly temperature readings.</a:t>
            </a:r>
          </a:p>
          <a:p>
            <a:r>
              <a:rPr lang="en-US" b="1" dirty="0" smtClean="0"/>
              <a:t>Spatial, Temporal, and Spatiotemporal Data</a:t>
            </a:r>
            <a:r>
              <a:rPr lang="en-US" dirty="0" smtClean="0"/>
              <a:t>: This includes data that is related to space (location), time, or both. Examples are:</a:t>
            </a:r>
          </a:p>
          <a:p>
            <a:pPr lvl="1"/>
            <a:r>
              <a:rPr lang="en-US" b="1" dirty="0" smtClean="0"/>
              <a:t>Spatial data</a:t>
            </a:r>
            <a:r>
              <a:rPr lang="en-US" dirty="0" smtClean="0"/>
              <a:t>: Geographical information such as maps or satellite imagery.</a:t>
            </a:r>
          </a:p>
          <a:p>
            <a:pPr lvl="1"/>
            <a:r>
              <a:rPr lang="en-US" b="1" dirty="0" smtClean="0"/>
              <a:t>Temporal data</a:t>
            </a:r>
            <a:r>
              <a:rPr lang="en-US" dirty="0" smtClean="0"/>
              <a:t>: Data related to time points or periods, such as historical event logs.</a:t>
            </a:r>
          </a:p>
          <a:p>
            <a:pPr lvl="1"/>
            <a:r>
              <a:rPr lang="en-US" b="1" dirty="0" smtClean="0"/>
              <a:t>Spatiotemporal data</a:t>
            </a:r>
            <a:r>
              <a:rPr lang="en-US" dirty="0" smtClean="0"/>
              <a:t>: Data that includes both spatial and temporal information, such as the movement of objects over time (e.g., tracking the movement of vehicles or animals).</a:t>
            </a:r>
          </a:p>
          <a:p>
            <a:r>
              <a:rPr lang="en-US" b="1" dirty="0" smtClean="0"/>
              <a:t>Graph and Network Data</a:t>
            </a:r>
            <a:r>
              <a:rPr lang="en-US" dirty="0" smtClean="0"/>
              <a:t>: This represents relationships and interactions within a set of entities. Examples are:</a:t>
            </a:r>
          </a:p>
          <a:p>
            <a:pPr lvl="1"/>
            <a:r>
              <a:rPr lang="en-US" b="1" dirty="0" smtClean="0"/>
              <a:t>Social networks</a:t>
            </a:r>
            <a:r>
              <a:rPr lang="en-US" dirty="0" smtClean="0"/>
              <a:t>: Showing connections between individuals (e.g., Facebook or LinkedIn networks).</a:t>
            </a:r>
          </a:p>
          <a:p>
            <a:pPr lvl="1"/>
            <a:r>
              <a:rPr lang="en-US" b="1" dirty="0" smtClean="0"/>
              <a:t>Computer communication networks</a:t>
            </a:r>
            <a:r>
              <a:rPr lang="en-US" dirty="0" smtClean="0"/>
              <a:t>: Such as the internet, where nodes represent computers and edges represent communication links.</a:t>
            </a:r>
          </a:p>
          <a:p>
            <a:pPr lvl="1"/>
            <a:r>
              <a:rPr lang="en-US" b="1" dirty="0" smtClean="0"/>
              <a:t>Biological networks</a:t>
            </a:r>
            <a:r>
              <a:rPr lang="en-US" dirty="0" smtClean="0"/>
              <a:t>: Such as protein-protein interaction networks.</a:t>
            </a:r>
          </a:p>
          <a:p>
            <a:pPr lvl="1"/>
            <a:r>
              <a:rPr lang="en-US" b="1" dirty="0" smtClean="0"/>
              <a:t>Information networks</a:t>
            </a:r>
            <a:r>
              <a:rPr lang="en-US" dirty="0" smtClean="0"/>
              <a:t>: Such as citation networks in academic papers.</a:t>
            </a:r>
          </a:p>
          <a:p>
            <a:r>
              <a:rPr lang="en-US" b="1" dirty="0" smtClean="0"/>
              <a:t>On the Same Data Set, Finding Different Kinds of Patterns</a:t>
            </a:r>
          </a:p>
          <a:p>
            <a:r>
              <a:rPr lang="en-US" b="1" dirty="0" smtClean="0"/>
              <a:t>Different mining methods for the same data set</a:t>
            </a:r>
            <a:r>
              <a:rPr lang="en-US" dirty="0" smtClean="0"/>
              <a:t>: Depending on the patterns or insights sought, various methods might be used to analyze the same data set.</a:t>
            </a:r>
          </a:p>
          <a:p>
            <a:pPr lvl="1"/>
            <a:r>
              <a:rPr lang="en-US" b="1" dirty="0" smtClean="0"/>
              <a:t>Example</a:t>
            </a:r>
            <a:r>
              <a:rPr lang="en-US" dirty="0" smtClean="0"/>
              <a:t>: In software programs:</a:t>
            </a:r>
          </a:p>
          <a:p>
            <a:pPr lvl="2"/>
            <a:r>
              <a:rPr lang="en-US" b="1" dirty="0" smtClean="0"/>
              <a:t>Finding plagiarized modules</a:t>
            </a:r>
            <a:r>
              <a:rPr lang="en-US" dirty="0" smtClean="0"/>
              <a:t>: This involves detecting duplicate or near-duplicate code blocks, possibly using similarity detection techniques.</a:t>
            </a:r>
          </a:p>
          <a:p>
            <a:pPr lvl="2"/>
            <a:r>
              <a:rPr lang="en-US" b="1" dirty="0" smtClean="0"/>
              <a:t>Finding copy-and-paste bugs</a:t>
            </a:r>
            <a:r>
              <a:rPr lang="en-US" dirty="0" smtClean="0"/>
              <a:t>: This requires identifying repetitive code that might introduce errors, often through static code analysis or pattern matching.</a:t>
            </a:r>
          </a:p>
          <a:p>
            <a:r>
              <a:rPr lang="en-US" b="1" dirty="0" smtClean="0"/>
              <a:t>Stored vs. Streaming Data</a:t>
            </a:r>
          </a:p>
          <a:p>
            <a:r>
              <a:rPr lang="en-US" b="1" dirty="0" smtClean="0"/>
              <a:t>Stored Data</a:t>
            </a:r>
          </a:p>
          <a:p>
            <a:r>
              <a:rPr lang="en-US" b="1" dirty="0" smtClean="0"/>
              <a:t>Finite and stored in various kinds of large data repositories</a:t>
            </a:r>
            <a:r>
              <a:rPr lang="en-US" dirty="0" smtClean="0"/>
              <a:t>: This type of data is static and does not change once stored. Examples include:</a:t>
            </a:r>
          </a:p>
          <a:p>
            <a:pPr lvl="1"/>
            <a:r>
              <a:rPr lang="en-US" b="1" dirty="0" smtClean="0"/>
              <a:t>Databases</a:t>
            </a:r>
            <a:r>
              <a:rPr lang="en-US" dirty="0" smtClean="0"/>
              <a:t>: Where data is structured and stored in tables.</a:t>
            </a:r>
          </a:p>
          <a:p>
            <a:pPr lvl="1"/>
            <a:r>
              <a:rPr lang="en-US" b="1" dirty="0" smtClean="0"/>
              <a:t>Data warehouses</a:t>
            </a:r>
            <a:r>
              <a:rPr lang="en-US" dirty="0" smtClean="0"/>
              <a:t>: Where large volumes of historical data are stored for analysis and reporting.</a:t>
            </a:r>
          </a:p>
          <a:p>
            <a:r>
              <a:rPr lang="en-US" b="1" dirty="0" smtClean="0"/>
              <a:t>Streaming Data</a:t>
            </a:r>
          </a:p>
          <a:p>
            <a:r>
              <a:rPr lang="en-US" b="1" dirty="0" smtClean="0"/>
              <a:t>Dynamic, constantly incoming, infinite data requiring real-time response</a:t>
            </a:r>
            <a:r>
              <a:rPr lang="en-US" dirty="0" smtClean="0"/>
              <a:t>: This type of data is continuously generated and needs to be processed on the fly. Examples include:</a:t>
            </a:r>
          </a:p>
          <a:p>
            <a:pPr lvl="1"/>
            <a:r>
              <a:rPr lang="en-US" b="1" dirty="0" smtClean="0"/>
              <a:t>Video surveillance</a:t>
            </a:r>
            <a:r>
              <a:rPr lang="en-US" dirty="0" smtClean="0"/>
              <a:t>: Continuous video feed that needs real-time analysis for security monitoring.</a:t>
            </a:r>
          </a:p>
          <a:p>
            <a:pPr lvl="1"/>
            <a:r>
              <a:rPr lang="en-US" b="1" dirty="0" smtClean="0"/>
              <a:t>Remote sensing</a:t>
            </a:r>
            <a:r>
              <a:rPr lang="en-US" dirty="0" smtClean="0"/>
              <a:t>: Data from sensors (e.g., weather stations, satellites) that continuously stream data for immediate analysis.</a:t>
            </a:r>
          </a:p>
          <a:p>
            <a:r>
              <a:rPr lang="en-US" b="1" dirty="0" smtClean="0"/>
              <a:t>Challenges and Techniques</a:t>
            </a:r>
          </a:p>
          <a:p>
            <a:r>
              <a:rPr lang="en-US" b="1" dirty="0" smtClean="0"/>
              <a:t>Challenges</a:t>
            </a:r>
            <a:r>
              <a:rPr lang="en-US" dirty="0" smtClean="0"/>
              <a:t>: Each type of data and application comes with its own set of challenges in terms of data collection, storage, processing, and analysis. For instance:</a:t>
            </a:r>
          </a:p>
          <a:p>
            <a:pPr lvl="1"/>
            <a:r>
              <a:rPr lang="en-US" b="1" dirty="0" smtClean="0"/>
              <a:t>Sequence data</a:t>
            </a:r>
            <a:r>
              <a:rPr lang="en-US" dirty="0" smtClean="0"/>
              <a:t> might require specialized algorithms for pattern recognition.</a:t>
            </a:r>
          </a:p>
          <a:p>
            <a:pPr lvl="1"/>
            <a:r>
              <a:rPr lang="en-US" b="1" dirty="0" smtClean="0"/>
              <a:t>Time-series data</a:t>
            </a:r>
            <a:r>
              <a:rPr lang="en-US" dirty="0" smtClean="0"/>
              <a:t> might need forecasting models like ARIMA or LSTM.</a:t>
            </a:r>
          </a:p>
          <a:p>
            <a:pPr lvl="1"/>
            <a:r>
              <a:rPr lang="en-US" b="1" dirty="0" smtClean="0"/>
              <a:t>Spatial data</a:t>
            </a:r>
            <a:r>
              <a:rPr lang="en-US" dirty="0" smtClean="0"/>
              <a:t> might involve geographic information systems (GIS) and spatial analysis techniques.</a:t>
            </a:r>
          </a:p>
          <a:p>
            <a:pPr lvl="1"/>
            <a:r>
              <a:rPr lang="en-US" b="1" dirty="0" smtClean="0"/>
              <a:t>Streaming data</a:t>
            </a:r>
            <a:r>
              <a:rPr lang="en-US" dirty="0" smtClean="0"/>
              <a:t> demands real-time processing capabilities, often utilizing frameworks like Apache Kafka or Apache </a:t>
            </a:r>
            <a:r>
              <a:rPr lang="en-US" dirty="0" err="1" smtClean="0"/>
              <a:t>Flink</a:t>
            </a:r>
            <a:r>
              <a:rPr lang="en-US" dirty="0" smtClean="0"/>
              <a:t>.</a:t>
            </a:r>
          </a:p>
          <a:p>
            <a:r>
              <a:rPr lang="en-US" dirty="0" smtClean="0"/>
              <a:t>Understanding these types of data and their respective challenges helps in selecting the appropriate data mining techniques and tools, leading to more effective and insightful analysis.</a:t>
            </a:r>
          </a:p>
          <a:p>
            <a:endParaRPr lang="en-US" dirty="0" smtClean="0"/>
          </a:p>
          <a:p>
            <a:pPr eaLnBrk="1" hangingPunct="1"/>
            <a:endParaRPr lang="en-US" altLang="en-US" dirty="0"/>
          </a:p>
        </p:txBody>
      </p:sp>
    </p:spTree>
    <p:extLst>
      <p:ext uri="{BB962C8B-B14F-4D97-AF65-F5344CB8AC3E}">
        <p14:creationId xmlns:p14="http://schemas.microsoft.com/office/powerpoint/2010/main" val="2028424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CAC34B97-841C-4970-9BDB-CC086931394A}" type="slidenum">
              <a:rPr lang="en-US" altLang="en-US" sz="1200"/>
              <a:pPr eaLnBrk="1" hangingPunct="1"/>
              <a:t>6</a:t>
            </a:fld>
            <a:endParaRPr lang="en-US" altLang="en-US" sz="120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437966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7FC057C-AF1A-4F7A-A0A5-2AF4A7517F0A}" type="slidenum">
              <a:rPr lang="en-US" altLang="en-US" sz="1200"/>
              <a:pPr eaLnBrk="1" hangingPunct="1"/>
              <a:t>7</a:t>
            </a:fld>
            <a:endParaRPr lang="en-US" altLang="en-US" sz="120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The image discusses multidimensional data summarization and highlights several key components and techniques used in the process. Here's a detailed explanation of each point:</a:t>
            </a:r>
          </a:p>
          <a:p>
            <a:r>
              <a:rPr lang="en-US" b="1" dirty="0" smtClean="0"/>
              <a:t>Multidimensional Data Summarization</a:t>
            </a:r>
          </a:p>
          <a:p>
            <a:r>
              <a:rPr lang="en-US" b="1" dirty="0" smtClean="0"/>
              <a:t>Information Integration and Data Warehouse Construction</a:t>
            </a:r>
          </a:p>
          <a:p>
            <a:r>
              <a:rPr lang="en-US" b="1" dirty="0" smtClean="0"/>
              <a:t>Data Cleaning, Transformation, Integration, and Multidimensional Data Model</a:t>
            </a:r>
            <a:r>
              <a:rPr lang="en-US" dirty="0" smtClean="0"/>
              <a:t>:</a:t>
            </a:r>
          </a:p>
          <a:p>
            <a:pPr lvl="1"/>
            <a:r>
              <a:rPr lang="en-US" b="1" dirty="0" smtClean="0"/>
              <a:t>Data Cleaning</a:t>
            </a:r>
            <a:r>
              <a:rPr lang="en-US" dirty="0" smtClean="0"/>
              <a:t>: The process of detecting and correcting (or removing) corrupt or inaccurate records from a dataset. It ensures that the data is accurate and consistent.</a:t>
            </a:r>
          </a:p>
          <a:p>
            <a:pPr lvl="1"/>
            <a:r>
              <a:rPr lang="en-US" b="1" dirty="0" smtClean="0"/>
              <a:t>Data Transformation</a:t>
            </a:r>
            <a:r>
              <a:rPr lang="en-US" dirty="0" smtClean="0"/>
              <a:t>: Converting data from one format or structure into another. This may involve aggregating data, normalizing, or encoding it.</a:t>
            </a:r>
          </a:p>
          <a:p>
            <a:pPr lvl="1"/>
            <a:r>
              <a:rPr lang="en-US" b="1" dirty="0" smtClean="0"/>
              <a:t>Data Integration</a:t>
            </a:r>
            <a:r>
              <a:rPr lang="en-US" dirty="0" smtClean="0"/>
              <a:t>: Combining data from different sources into a single, unified view. This is crucial for creating a comprehensive data warehouse.</a:t>
            </a:r>
          </a:p>
          <a:p>
            <a:pPr lvl="1"/>
            <a:r>
              <a:rPr lang="en-US" b="1" dirty="0" smtClean="0"/>
              <a:t>Multidimensional Data Model</a:t>
            </a:r>
            <a:r>
              <a:rPr lang="en-US" dirty="0" smtClean="0"/>
              <a:t>: Organizing data into dimensions and facts, typically represented as a data cube. This model allows for more intuitive data analysis and querying.</a:t>
            </a:r>
          </a:p>
          <a:p>
            <a:r>
              <a:rPr lang="en-US" b="1" dirty="0" smtClean="0"/>
              <a:t>Data Cube Technology</a:t>
            </a:r>
          </a:p>
          <a:p>
            <a:r>
              <a:rPr lang="en-US" b="1" dirty="0" smtClean="0"/>
              <a:t>Scalable Methods for Computing (i.e., Materializing) Multidimensional Aggregates</a:t>
            </a:r>
            <a:r>
              <a:rPr lang="en-US" dirty="0" smtClean="0"/>
              <a:t>:</a:t>
            </a:r>
          </a:p>
          <a:p>
            <a:pPr lvl="1"/>
            <a:r>
              <a:rPr lang="en-US" b="1" dirty="0" smtClean="0"/>
              <a:t>Data Cubes</a:t>
            </a:r>
            <a:r>
              <a:rPr lang="en-US" dirty="0" smtClean="0"/>
              <a:t>: A data cube is a multi-dimensional array of values, typically used to describe data along some measure of interest. Each cell in the cube represents an aggregate value of interest, such as total sales or average temperature.</a:t>
            </a:r>
          </a:p>
          <a:p>
            <a:pPr lvl="1"/>
            <a:r>
              <a:rPr lang="en-US" b="1" dirty="0" smtClean="0"/>
              <a:t>Materializing Aggregates</a:t>
            </a:r>
            <a:r>
              <a:rPr lang="en-US" dirty="0" smtClean="0"/>
              <a:t>: </a:t>
            </a:r>
            <a:r>
              <a:rPr lang="en-US" dirty="0" err="1" smtClean="0"/>
              <a:t>Precomputing</a:t>
            </a:r>
            <a:r>
              <a:rPr lang="en-US" dirty="0" smtClean="0"/>
              <a:t> the results of aggregations for quick retrieval. This is essential for scalable data analysis because it reduces the computation time during query processing.</a:t>
            </a:r>
          </a:p>
          <a:p>
            <a:r>
              <a:rPr lang="en-US" b="1" dirty="0" smtClean="0"/>
              <a:t>OLAP (Online Analytical Processing)</a:t>
            </a:r>
            <a:r>
              <a:rPr lang="en-US" dirty="0" smtClean="0"/>
              <a:t>:</a:t>
            </a:r>
          </a:p>
          <a:p>
            <a:pPr lvl="1"/>
            <a:r>
              <a:rPr lang="en-US" b="1" dirty="0" smtClean="0"/>
              <a:t>OLAP Tools</a:t>
            </a:r>
            <a:r>
              <a:rPr lang="en-US" dirty="0" smtClean="0"/>
              <a:t>: These tools allow for the interactive analysis of multidimensional data from multiple perspectives. They support complex queries, such as slicing, dicing, drilling down, and rolling up the data.</a:t>
            </a:r>
          </a:p>
          <a:p>
            <a:r>
              <a:rPr lang="en-US" b="1" dirty="0" smtClean="0"/>
              <a:t>Multidimensional Concept Description: Characterization and Discrimination</a:t>
            </a:r>
          </a:p>
          <a:p>
            <a:r>
              <a:rPr lang="en-US" b="1" dirty="0" smtClean="0"/>
              <a:t>Characterization</a:t>
            </a:r>
            <a:r>
              <a:rPr lang="en-US" dirty="0" smtClean="0"/>
              <a:t>: Describing the general features of the data. This involves summarizing the data to provide a high-level overview, often using techniques such as data aggregation or generalization.</a:t>
            </a:r>
          </a:p>
          <a:p>
            <a:r>
              <a:rPr lang="en-US" b="1" dirty="0" smtClean="0"/>
              <a:t>Discrimination</a:t>
            </a:r>
            <a:r>
              <a:rPr lang="en-US" dirty="0" smtClean="0"/>
              <a:t>: Differentiating between different data classes or categories. This involves identifying the distinctive features that separate one class from another.</a:t>
            </a:r>
          </a:p>
          <a:p>
            <a:r>
              <a:rPr lang="en-US" b="1" dirty="0" smtClean="0"/>
              <a:t>Generalize, Summarize, and Contrast Data Characteristics</a:t>
            </a:r>
            <a:r>
              <a:rPr lang="en-US" dirty="0" smtClean="0"/>
              <a:t>:</a:t>
            </a:r>
          </a:p>
          <a:p>
            <a:pPr lvl="1"/>
            <a:r>
              <a:rPr lang="en-US" b="1" dirty="0" smtClean="0"/>
              <a:t>Generalization</a:t>
            </a:r>
            <a:r>
              <a:rPr lang="en-US" dirty="0" smtClean="0"/>
              <a:t>: Abstracting low-level data to a higher conceptual level. For instance, converting specific data points into broader categories.</a:t>
            </a:r>
          </a:p>
          <a:p>
            <a:pPr lvl="1"/>
            <a:r>
              <a:rPr lang="en-US" b="1" dirty="0" smtClean="0"/>
              <a:t>Summarization</a:t>
            </a:r>
            <a:r>
              <a:rPr lang="en-US" dirty="0" smtClean="0"/>
              <a:t>: Providing concise descriptions of data sets. This could involve creating summary statistics like mean, median, and standard deviation.</a:t>
            </a:r>
          </a:p>
          <a:p>
            <a:pPr lvl="1"/>
            <a:r>
              <a:rPr lang="en-US" b="1" dirty="0" smtClean="0"/>
              <a:t>Contrasting Data Characteristics</a:t>
            </a:r>
            <a:r>
              <a:rPr lang="en-US" dirty="0" smtClean="0"/>
              <a:t>: Comparing different data sets or categories to highlight their differences. For example, contrasting the characteristics of data from dry vs. wet regions.</a:t>
            </a:r>
          </a:p>
          <a:p>
            <a:r>
              <a:rPr lang="en-US" b="1" dirty="0" smtClean="0"/>
              <a:t>Example: Data Cube Visualization</a:t>
            </a:r>
          </a:p>
          <a:p>
            <a:r>
              <a:rPr lang="en-US" dirty="0" smtClean="0"/>
              <a:t>The image also includes an example of a data cube with different dimensions:</a:t>
            </a:r>
          </a:p>
          <a:p>
            <a:pPr lvl="1"/>
            <a:r>
              <a:rPr lang="en-US" b="1" dirty="0" smtClean="0"/>
              <a:t>Demographic Data</a:t>
            </a:r>
            <a:r>
              <a:rPr lang="en-US" dirty="0" smtClean="0"/>
              <a:t>: Age, gender, job level, workforce segment.</a:t>
            </a:r>
          </a:p>
          <a:p>
            <a:pPr lvl="1"/>
            <a:r>
              <a:rPr lang="en-US" b="1" dirty="0" smtClean="0"/>
              <a:t>Organizational Process Data</a:t>
            </a:r>
            <a:r>
              <a:rPr lang="en-US" dirty="0" smtClean="0"/>
              <a:t>: Performance ratings, potential ratings, salary increases, turnover, training and development.</a:t>
            </a:r>
          </a:p>
          <a:p>
            <a:pPr lvl="1"/>
            <a:r>
              <a:rPr lang="en-US" b="1" dirty="0" smtClean="0"/>
              <a:t>Predictive Attitudinal Data</a:t>
            </a:r>
            <a:r>
              <a:rPr lang="en-US" dirty="0" smtClean="0"/>
              <a:t>: Competencies, intention to stay, affective commitment, discretionary effort.</a:t>
            </a:r>
          </a:p>
          <a:p>
            <a:r>
              <a:rPr lang="en-US" dirty="0" smtClean="0"/>
              <a:t>By using multidimensional data summarization techniques, one can integrate various data sources, clean and transform the data, and then organize it into a multidimensional data model. This allows for efficient and comprehensive analysis, providing valuable insights through OLAP tools and data cube technology.</a:t>
            </a:r>
          </a:p>
          <a:p>
            <a:pPr eaLnBrk="1" hangingPunct="1"/>
            <a:endParaRPr lang="en-US" altLang="en-US" dirty="0"/>
          </a:p>
        </p:txBody>
      </p:sp>
    </p:spTree>
    <p:extLst>
      <p:ext uri="{BB962C8B-B14F-4D97-AF65-F5344CB8AC3E}">
        <p14:creationId xmlns:p14="http://schemas.microsoft.com/office/powerpoint/2010/main" val="38288053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5059C54B-666E-4D5A-A8B4-A3041C8566A3}" type="slidenum">
              <a:rPr lang="en-US" altLang="en-US" sz="1200"/>
              <a:pPr eaLnBrk="1" hangingPunct="1"/>
              <a:t>8</a:t>
            </a:fld>
            <a:endParaRPr lang="en-US" altLang="en-US" sz="120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Pattern Discovery: Mining Frequent Patterns, Associations, and Correlations</a:t>
            </a:r>
          </a:p>
          <a:p>
            <a:r>
              <a:rPr lang="en-US" b="1" dirty="0" smtClean="0"/>
              <a:t>Frequent Patterns (or Frequent </a:t>
            </a:r>
            <a:r>
              <a:rPr lang="en-US" b="1" dirty="0" err="1" smtClean="0"/>
              <a:t>Itemsets</a:t>
            </a:r>
            <a:r>
              <a:rPr lang="en-US" b="1" dirty="0" smtClean="0"/>
              <a:t>)</a:t>
            </a:r>
          </a:p>
          <a:p>
            <a:r>
              <a:rPr lang="en-US" b="1" dirty="0" smtClean="0"/>
              <a:t>Definition</a:t>
            </a:r>
            <a:r>
              <a:rPr lang="en-US" dirty="0" smtClean="0"/>
              <a:t>: Frequent patterns are sets of items, sequences, or substructures that appear frequently in a dataset. In the context of retail, this could mean items that are often bought together.</a:t>
            </a:r>
          </a:p>
          <a:p>
            <a:r>
              <a:rPr lang="en-US" b="1" dirty="0" smtClean="0"/>
              <a:t>Example Question</a:t>
            </a:r>
            <a:r>
              <a:rPr lang="en-US" dirty="0" smtClean="0"/>
              <a:t>: What items are frequently purchased together in a store like Walmart? Identifying such patterns can help in optimizing store layout, inventory management, and targeted marketing.</a:t>
            </a:r>
          </a:p>
          <a:p>
            <a:r>
              <a:rPr lang="en-US" b="1" dirty="0" smtClean="0"/>
              <a:t>Association and Correlation Analysis</a:t>
            </a:r>
          </a:p>
          <a:p>
            <a:r>
              <a:rPr lang="en-US" b="1" dirty="0" smtClean="0"/>
              <a:t>Association Analysis</a:t>
            </a:r>
            <a:r>
              <a:rPr lang="en-US" dirty="0" smtClean="0"/>
              <a:t>: This involves finding interesting relationships (associations) between variables in large databases. An association rule is a popular method used in data mining.</a:t>
            </a:r>
          </a:p>
          <a:p>
            <a:pPr lvl="1"/>
            <a:r>
              <a:rPr lang="en-US" b="1" dirty="0" smtClean="0"/>
              <a:t>Typical Association Rule Example</a:t>
            </a:r>
            <a:r>
              <a:rPr lang="en-US" dirty="0" smtClean="0"/>
              <a:t>:</a:t>
            </a:r>
          </a:p>
          <a:p>
            <a:pPr lvl="2"/>
            <a:r>
              <a:rPr lang="en-US" b="1" dirty="0" smtClean="0"/>
              <a:t>Rule</a:t>
            </a:r>
            <a:r>
              <a:rPr lang="en-US" dirty="0" smtClean="0"/>
              <a:t>: Diaper → Beer</a:t>
            </a:r>
          </a:p>
          <a:p>
            <a:pPr lvl="2"/>
            <a:r>
              <a:rPr lang="en-US" b="1" dirty="0" smtClean="0"/>
              <a:t>Support</a:t>
            </a:r>
            <a:r>
              <a:rPr lang="en-US" dirty="0" smtClean="0"/>
              <a:t>: 0.5% (This means that 0.5% of all transactions in the dataset contain both diapers and beer.)</a:t>
            </a:r>
          </a:p>
          <a:p>
            <a:pPr lvl="2"/>
            <a:r>
              <a:rPr lang="en-US" b="1" dirty="0" smtClean="0"/>
              <a:t>Confidence</a:t>
            </a:r>
            <a:r>
              <a:rPr lang="en-US" dirty="0" smtClean="0"/>
              <a:t>: 75% (This means that 75% of the transactions that contain diapers also contain beer.)</a:t>
            </a:r>
          </a:p>
          <a:p>
            <a:r>
              <a:rPr lang="en-US" b="1" dirty="0" smtClean="0"/>
              <a:t>Correlation Analysis</a:t>
            </a:r>
            <a:r>
              <a:rPr lang="en-US" dirty="0" smtClean="0"/>
              <a:t>: This involves measuring the statistical relationships between two variables. The correlation coefficient (r) indicates the strength and direction of a linear relationship between variables.</a:t>
            </a:r>
          </a:p>
          <a:p>
            <a:pPr lvl="1"/>
            <a:r>
              <a:rPr lang="en-US" b="1" dirty="0" smtClean="0"/>
              <a:t>Graphs with Different Correlation Coefficients</a:t>
            </a:r>
            <a:r>
              <a:rPr lang="en-US" dirty="0" smtClean="0"/>
              <a:t>:</a:t>
            </a:r>
          </a:p>
          <a:p>
            <a:pPr lvl="2"/>
            <a:r>
              <a:rPr lang="en-US" b="1" dirty="0" smtClean="0"/>
              <a:t>r = 0.04</a:t>
            </a:r>
            <a:r>
              <a:rPr lang="en-US" dirty="0" smtClean="0"/>
              <a:t>: Almost no correlation.</a:t>
            </a:r>
          </a:p>
          <a:p>
            <a:pPr lvl="2"/>
            <a:r>
              <a:rPr lang="en-US" b="1" dirty="0" smtClean="0"/>
              <a:t>r = -0.37</a:t>
            </a:r>
            <a:r>
              <a:rPr lang="en-US" dirty="0" smtClean="0"/>
              <a:t>: Moderate negative correlation.</a:t>
            </a:r>
          </a:p>
          <a:p>
            <a:pPr lvl="2"/>
            <a:r>
              <a:rPr lang="en-US" b="1" dirty="0" smtClean="0"/>
              <a:t>r = 0.86</a:t>
            </a:r>
            <a:r>
              <a:rPr lang="en-US" dirty="0" smtClean="0"/>
              <a:t>: Strong positive correlation.</a:t>
            </a:r>
          </a:p>
          <a:p>
            <a:r>
              <a:rPr lang="en-US" b="1" dirty="0" smtClean="0"/>
              <a:t>Are Strongly Associated Items Also Strongly Correlated?</a:t>
            </a:r>
          </a:p>
          <a:p>
            <a:r>
              <a:rPr lang="en-US" dirty="0" smtClean="0"/>
              <a:t>This question addresses whether items that frequently appear together (high support and confidence) also show a strong correlation. It's important to note that association does not necessarily imply correlation, and vice versa.</a:t>
            </a:r>
          </a:p>
          <a:p>
            <a:r>
              <a:rPr lang="en-US" b="1" dirty="0" smtClean="0"/>
              <a:t>Mining Patterns and Rules Efficiently in Large Datasets</a:t>
            </a:r>
          </a:p>
          <a:p>
            <a:r>
              <a:rPr lang="en-US" b="1" dirty="0" smtClean="0"/>
              <a:t>Efficiency</a:t>
            </a:r>
            <a:r>
              <a:rPr lang="en-US" dirty="0" smtClean="0"/>
              <a:t>: Discovering frequent patterns and associations in large datasets requires efficient algorithms due to the potential size and complexity of the data.</a:t>
            </a:r>
          </a:p>
          <a:p>
            <a:pPr lvl="1"/>
            <a:r>
              <a:rPr lang="en-US" b="1" dirty="0" smtClean="0"/>
              <a:t>Algorithms</a:t>
            </a:r>
            <a:r>
              <a:rPr lang="en-US" dirty="0" smtClean="0"/>
              <a:t>: Some popular algorithms for this purpose include </a:t>
            </a:r>
            <a:r>
              <a:rPr lang="en-US" dirty="0" err="1" smtClean="0"/>
              <a:t>Apriori</a:t>
            </a:r>
            <a:r>
              <a:rPr lang="en-US" dirty="0" smtClean="0"/>
              <a:t>, FP-Growth, and </a:t>
            </a:r>
            <a:r>
              <a:rPr lang="en-US" dirty="0" err="1" smtClean="0"/>
              <a:t>Eclat</a:t>
            </a:r>
            <a:r>
              <a:rPr lang="en-US" dirty="0" smtClean="0"/>
              <a:t>.</a:t>
            </a:r>
          </a:p>
          <a:p>
            <a:pPr lvl="1"/>
            <a:r>
              <a:rPr lang="en-US" b="1" dirty="0" smtClean="0"/>
              <a:t>Challenges</a:t>
            </a:r>
            <a:r>
              <a:rPr lang="en-US" dirty="0" smtClean="0"/>
              <a:t>: Handling large datasets, ensuring computational efficiency, and reducing memory usage are key challenges.</a:t>
            </a:r>
          </a:p>
          <a:p>
            <a:r>
              <a:rPr lang="en-US" b="1" dirty="0" smtClean="0"/>
              <a:t>Applications of Patterns and Rules</a:t>
            </a:r>
          </a:p>
          <a:p>
            <a:r>
              <a:rPr lang="en-US" b="1" dirty="0" smtClean="0"/>
              <a:t>Classification</a:t>
            </a:r>
            <a:r>
              <a:rPr lang="en-US" dirty="0" smtClean="0"/>
              <a:t>: Using discovered patterns to classify data into predefined categories.</a:t>
            </a:r>
          </a:p>
          <a:p>
            <a:r>
              <a:rPr lang="en-US" b="1" dirty="0" smtClean="0"/>
              <a:t>Clustering</a:t>
            </a:r>
            <a:r>
              <a:rPr lang="en-US" dirty="0" smtClean="0"/>
              <a:t>: Grouping similar data points together based on the discovered patterns.</a:t>
            </a:r>
          </a:p>
          <a:p>
            <a:r>
              <a:rPr lang="en-US" b="1" dirty="0" smtClean="0"/>
              <a:t>Other Applications</a:t>
            </a:r>
            <a:r>
              <a:rPr lang="en-US" dirty="0" smtClean="0"/>
              <a:t>: Including anomaly detection, recommendation systems, market basket analysis, and more.</a:t>
            </a:r>
          </a:p>
          <a:p>
            <a:r>
              <a:rPr lang="en-US" b="1" dirty="0" smtClean="0"/>
              <a:t>Summary</a:t>
            </a:r>
          </a:p>
          <a:p>
            <a:r>
              <a:rPr lang="en-US" dirty="0" smtClean="0"/>
              <a:t>Understanding and discovering frequent patterns, associations, and correlations in data can provide valuable insights for various applications. Efficiently mining these patterns requires robust techniques and algorithms, especially when dealing with large datasets. These discovered patterns can then be applied to enhance decision-making in areas like retail, marketing, healthcare, and more.</a:t>
            </a:r>
          </a:p>
          <a:p>
            <a:pPr eaLnBrk="1" hangingPunct="1"/>
            <a:endParaRPr lang="en-US" altLang="en-US" dirty="0"/>
          </a:p>
        </p:txBody>
      </p:sp>
    </p:spTree>
    <p:extLst>
      <p:ext uri="{BB962C8B-B14F-4D97-AF65-F5344CB8AC3E}">
        <p14:creationId xmlns:p14="http://schemas.microsoft.com/office/powerpoint/2010/main" val="5505586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32FFD99C-DDEE-4B5A-8CD6-61A839F9CCBA}" type="slidenum">
              <a:rPr lang="en-US" altLang="en-US" sz="1200"/>
              <a:pPr eaLnBrk="1" hangingPunct="1"/>
              <a:t>9</a:t>
            </a:fld>
            <a:endParaRPr lang="en-US" altLang="en-US" sz="120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Classification and Label Prediction</a:t>
            </a:r>
          </a:p>
          <a:p>
            <a:r>
              <a:rPr lang="en-US" b="1" dirty="0" smtClean="0"/>
              <a:t>Construct Models (Functions) Based on Training Examples</a:t>
            </a:r>
            <a:r>
              <a:rPr lang="en-US" dirty="0" smtClean="0"/>
              <a:t>:</a:t>
            </a:r>
          </a:p>
          <a:p>
            <a:pPr lvl="1"/>
            <a:r>
              <a:rPr lang="en-US" dirty="0" smtClean="0"/>
              <a:t>This involves using a set of training data, where the outcome or label is known, to build a model that can predict the label of new, unseen data.</a:t>
            </a:r>
          </a:p>
          <a:p>
            <a:r>
              <a:rPr lang="en-US" b="1" dirty="0" smtClean="0"/>
              <a:t>Describe and Distinguish Classes or Concepts for Future Prediction</a:t>
            </a:r>
            <a:r>
              <a:rPr lang="en-US" dirty="0" smtClean="0"/>
              <a:t>:</a:t>
            </a:r>
          </a:p>
          <a:p>
            <a:pPr lvl="1"/>
            <a:r>
              <a:rPr lang="en-US" b="1" dirty="0" smtClean="0"/>
              <a:t>Example 1</a:t>
            </a:r>
            <a:r>
              <a:rPr lang="en-US" dirty="0" smtClean="0"/>
              <a:t>: Classify countries based on climate.</a:t>
            </a:r>
          </a:p>
          <a:p>
            <a:pPr lvl="1"/>
            <a:r>
              <a:rPr lang="en-US" b="1" dirty="0" smtClean="0"/>
              <a:t>Example 2</a:t>
            </a:r>
            <a:r>
              <a:rPr lang="en-US" dirty="0" smtClean="0"/>
              <a:t>: Classify cars based on gas mileage.</a:t>
            </a:r>
          </a:p>
          <a:p>
            <a:pPr lvl="1"/>
            <a:r>
              <a:rPr lang="en-US" dirty="0" smtClean="0"/>
              <a:t>The goal is to create clear distinctions between different categories based on the features of the data, enabling accurate predictions for new instances.</a:t>
            </a:r>
          </a:p>
          <a:p>
            <a:r>
              <a:rPr lang="en-US" b="1" dirty="0" smtClean="0"/>
              <a:t>Predict Some Unknown Class Labels</a:t>
            </a:r>
            <a:r>
              <a:rPr lang="en-US" dirty="0" smtClean="0"/>
              <a:t>:</a:t>
            </a:r>
          </a:p>
          <a:p>
            <a:pPr lvl="1"/>
            <a:r>
              <a:rPr lang="en-US" dirty="0" smtClean="0"/>
              <a:t>Once the model is trained, it can be used to predict the class labels of new, unknown data points.</a:t>
            </a:r>
          </a:p>
          <a:p>
            <a:r>
              <a:rPr lang="en-US" b="1" dirty="0" smtClean="0"/>
              <a:t>Typical Methods</a:t>
            </a:r>
          </a:p>
          <a:p>
            <a:r>
              <a:rPr lang="en-US" b="1" dirty="0" smtClean="0"/>
              <a:t>Decision Trees</a:t>
            </a:r>
            <a:r>
              <a:rPr lang="en-US" dirty="0" smtClean="0"/>
              <a:t>: A model that makes decisions based on a series of binary (yes/no) questions about the features of the data.</a:t>
            </a:r>
          </a:p>
          <a:p>
            <a:r>
              <a:rPr lang="en-US" b="1" dirty="0" smtClean="0"/>
              <a:t>Naïve Bayesian Classification</a:t>
            </a:r>
            <a:r>
              <a:rPr lang="en-US" dirty="0" smtClean="0"/>
              <a:t>: A probabilistic model based on Bayes' theorem, assuming independence between features.</a:t>
            </a:r>
          </a:p>
          <a:p>
            <a:r>
              <a:rPr lang="en-US" b="1" dirty="0" smtClean="0"/>
              <a:t>Support Vector Machines (SVM)</a:t>
            </a:r>
            <a:r>
              <a:rPr lang="en-US" dirty="0" smtClean="0"/>
              <a:t>: A model that finds the </a:t>
            </a:r>
            <a:r>
              <a:rPr lang="en-US" dirty="0" err="1" smtClean="0"/>
              <a:t>hyperplane</a:t>
            </a:r>
            <a:r>
              <a:rPr lang="en-US" dirty="0" smtClean="0"/>
              <a:t> that best separates different classes in the feature space.</a:t>
            </a:r>
          </a:p>
          <a:p>
            <a:r>
              <a:rPr lang="en-US" b="1" dirty="0" smtClean="0"/>
              <a:t>Neural Networks</a:t>
            </a:r>
            <a:r>
              <a:rPr lang="en-US" dirty="0" smtClean="0"/>
              <a:t>: Models inspired by the human brain, consisting of layers of interconnected nodes (neurons) that can learn complex patterns.</a:t>
            </a:r>
          </a:p>
          <a:p>
            <a:r>
              <a:rPr lang="en-US" b="1" dirty="0" smtClean="0"/>
              <a:t>Rule-Based Classification</a:t>
            </a:r>
            <a:r>
              <a:rPr lang="en-US" dirty="0" smtClean="0"/>
              <a:t>: A model that uses a set of if-then rules for classification.</a:t>
            </a:r>
          </a:p>
          <a:p>
            <a:r>
              <a:rPr lang="en-US" b="1" dirty="0" smtClean="0"/>
              <a:t>Pattern-Based Classification</a:t>
            </a:r>
            <a:r>
              <a:rPr lang="en-US" dirty="0" smtClean="0"/>
              <a:t>: This involves identifying patterns in the data that correspond to different classes.</a:t>
            </a:r>
          </a:p>
          <a:p>
            <a:r>
              <a:rPr lang="en-US" b="1" dirty="0" smtClean="0"/>
              <a:t>Logistic Regression</a:t>
            </a:r>
            <a:r>
              <a:rPr lang="en-US" dirty="0" smtClean="0"/>
              <a:t>: A statistical model that uses a logistic function to model binary outcomes.</a:t>
            </a:r>
          </a:p>
          <a:p>
            <a:r>
              <a:rPr lang="en-US" b="1" dirty="0" smtClean="0"/>
              <a:t>Typical Applications</a:t>
            </a:r>
          </a:p>
          <a:p>
            <a:r>
              <a:rPr lang="en-US" b="1" dirty="0" smtClean="0"/>
              <a:t>Credit Card Fraud Detection</a:t>
            </a:r>
            <a:r>
              <a:rPr lang="en-US" dirty="0" smtClean="0"/>
              <a:t>: Using transaction data to predict whether a transaction is fraudulent or not.</a:t>
            </a:r>
          </a:p>
          <a:p>
            <a:r>
              <a:rPr lang="en-US" b="1" dirty="0" smtClean="0"/>
              <a:t>Direct Marketing</a:t>
            </a:r>
            <a:r>
              <a:rPr lang="en-US" dirty="0" smtClean="0"/>
              <a:t>: Identifying which customers are most likely to respond to a marketing campaign.</a:t>
            </a:r>
          </a:p>
          <a:p>
            <a:r>
              <a:rPr lang="en-US" b="1" dirty="0" smtClean="0"/>
              <a:t>Classifying Stars</a:t>
            </a:r>
            <a:r>
              <a:rPr lang="en-US" dirty="0" smtClean="0"/>
              <a:t>: Categorizing stars based on their characteristics (e.g., brightness, size).</a:t>
            </a:r>
          </a:p>
          <a:p>
            <a:r>
              <a:rPr lang="en-US" b="1" dirty="0" smtClean="0"/>
              <a:t>Disease Classification</a:t>
            </a:r>
            <a:r>
              <a:rPr lang="en-US" dirty="0" smtClean="0"/>
              <a:t>: Predicting the presence of a disease based on patient data.</a:t>
            </a:r>
          </a:p>
          <a:p>
            <a:r>
              <a:rPr lang="en-US" b="1" dirty="0" smtClean="0"/>
              <a:t>Web Pages Classification</a:t>
            </a:r>
            <a:r>
              <a:rPr lang="en-US" dirty="0" smtClean="0"/>
              <a:t>: Categorizing web pages into different topics or genres.</a:t>
            </a:r>
          </a:p>
          <a:p>
            <a:r>
              <a:rPr lang="en-US" b="1" dirty="0" smtClean="0"/>
              <a:t>Visual Explanation (Confusion Matrix)</a:t>
            </a:r>
          </a:p>
          <a:p>
            <a:r>
              <a:rPr lang="en-US" dirty="0" smtClean="0"/>
              <a:t>The image includes a confusion matrix, which is used to evaluate the performance of a classification model:</a:t>
            </a:r>
          </a:p>
          <a:p>
            <a:pPr lvl="1"/>
            <a:r>
              <a:rPr lang="en-US" b="1" dirty="0" smtClean="0"/>
              <a:t>TP (True Positive)</a:t>
            </a:r>
            <a:r>
              <a:rPr lang="en-US" dirty="0" smtClean="0"/>
              <a:t>: The model correctly predicts the positive class.</a:t>
            </a:r>
          </a:p>
          <a:p>
            <a:pPr lvl="1"/>
            <a:r>
              <a:rPr lang="en-US" b="1" dirty="0" smtClean="0"/>
              <a:t>FP (False Positive)</a:t>
            </a:r>
            <a:r>
              <a:rPr lang="en-US" dirty="0" smtClean="0"/>
              <a:t>: The model incorrectly predicts the positive class.</a:t>
            </a:r>
          </a:p>
          <a:p>
            <a:pPr lvl="1"/>
            <a:r>
              <a:rPr lang="en-US" b="1" dirty="0" smtClean="0"/>
              <a:t>TN (True Negative)</a:t>
            </a:r>
            <a:r>
              <a:rPr lang="en-US" dirty="0" smtClean="0"/>
              <a:t>: The model correctly predicts the negative class.</a:t>
            </a:r>
          </a:p>
          <a:p>
            <a:pPr lvl="1"/>
            <a:r>
              <a:rPr lang="en-US" b="1" dirty="0" smtClean="0"/>
              <a:t>FN (False Negative)</a:t>
            </a:r>
            <a:r>
              <a:rPr lang="en-US" dirty="0" smtClean="0"/>
              <a:t>: The model incorrectly predicts the negative class.</a:t>
            </a:r>
          </a:p>
          <a:p>
            <a:pPr lvl="1"/>
            <a:r>
              <a:rPr lang="en-US" b="1" dirty="0" smtClean="0"/>
              <a:t>Precision (PPV - Positive Predictive Value)</a:t>
            </a:r>
            <a:r>
              <a:rPr lang="en-US" dirty="0" smtClean="0"/>
              <a:t>: The ratio of true positives to the sum of true positives and false positives.</a:t>
            </a:r>
          </a:p>
          <a:p>
            <a:pPr lvl="1"/>
            <a:r>
              <a:rPr lang="en-US" b="1" dirty="0" smtClean="0"/>
              <a:t>Recall (TPR - True Positive Rate)</a:t>
            </a:r>
            <a:r>
              <a:rPr lang="en-US" dirty="0" smtClean="0"/>
              <a:t>: The ratio of true positives to the sum of true positives and false negatives.</a:t>
            </a:r>
          </a:p>
          <a:p>
            <a:pPr lvl="1"/>
            <a:r>
              <a:rPr lang="en-US" b="1" dirty="0" smtClean="0"/>
              <a:t>FPR (False Positive Rate)</a:t>
            </a:r>
            <a:r>
              <a:rPr lang="en-US" dirty="0" smtClean="0"/>
              <a:t>: The ratio of false positives to the sum of false positives and true negatives.</a:t>
            </a:r>
          </a:p>
          <a:p>
            <a:pPr lvl="1"/>
            <a:r>
              <a:rPr lang="en-US" b="1" dirty="0" smtClean="0"/>
              <a:t>NPV (Negative Predictive Value)</a:t>
            </a:r>
            <a:r>
              <a:rPr lang="en-US" dirty="0" smtClean="0"/>
              <a:t>: The ratio of true negatives to the sum of true negatives and false negatives.</a:t>
            </a:r>
          </a:p>
          <a:p>
            <a:r>
              <a:rPr lang="en-US" dirty="0" smtClean="0"/>
              <a:t>Understanding these concepts and techniques allows for the effective use of classification and regression in predictive analytics, enabling accurate predictions and informed decision-making across various applications.</a:t>
            </a:r>
          </a:p>
          <a:p>
            <a:pPr eaLnBrk="1" hangingPunct="1"/>
            <a:endParaRPr lang="en-US" altLang="en-US" dirty="0"/>
          </a:p>
        </p:txBody>
      </p:sp>
    </p:spTree>
    <p:extLst>
      <p:ext uri="{BB962C8B-B14F-4D97-AF65-F5344CB8AC3E}">
        <p14:creationId xmlns:p14="http://schemas.microsoft.com/office/powerpoint/2010/main" val="2434698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920E5CC8-4B4D-43D2-A076-4228DBE574B7}" type="slidenum">
              <a:rPr lang="en-US" altLang="en-US" sz="1200"/>
              <a:pPr eaLnBrk="1" hangingPunct="1"/>
              <a:t>10</a:t>
            </a:fld>
            <a:endParaRPr lang="en-US" altLang="en-US" sz="120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Cluster Analysis</a:t>
            </a:r>
          </a:p>
          <a:p>
            <a:r>
              <a:rPr lang="en-US" b="1" dirty="0" smtClean="0"/>
              <a:t>Unsupervised Learning</a:t>
            </a:r>
          </a:p>
          <a:p>
            <a:r>
              <a:rPr lang="en-US" b="1" dirty="0" smtClean="0"/>
              <a:t>Definition</a:t>
            </a:r>
            <a:r>
              <a:rPr lang="en-US" dirty="0" smtClean="0"/>
              <a:t>: In unsupervised learning, the class labels of the data are unknown. The algorithm tries to learn the underlying structure of the data without any labeled training examples.</a:t>
            </a:r>
          </a:p>
          <a:p>
            <a:r>
              <a:rPr lang="en-US" b="1" dirty="0" smtClean="0"/>
              <a:t>Objective</a:t>
            </a:r>
            <a:r>
              <a:rPr lang="en-US" dirty="0" smtClean="0"/>
              <a:t>: The main goal is to find hidden patterns or intrinsic structures in the data.</a:t>
            </a:r>
          </a:p>
          <a:p>
            <a:r>
              <a:rPr lang="en-US" b="1" dirty="0" smtClean="0"/>
              <a:t>Group Data to Form New Categories (Clusters)</a:t>
            </a:r>
          </a:p>
          <a:p>
            <a:r>
              <a:rPr lang="en-US" b="1" dirty="0" smtClean="0"/>
              <a:t>Clustering</a:t>
            </a:r>
            <a:r>
              <a:rPr lang="en-US" dirty="0" smtClean="0"/>
              <a:t>: The process of grouping a set of objects in such a way that objects in the same group (cluster) are more similar to each other than to those in other groups (clusters).</a:t>
            </a:r>
          </a:p>
          <a:p>
            <a:r>
              <a:rPr lang="en-US" b="1" dirty="0" smtClean="0"/>
              <a:t>Example</a:t>
            </a:r>
            <a:r>
              <a:rPr lang="en-US" dirty="0" smtClean="0"/>
              <a:t>: Clustering houses to find distribution patterns based on features like price, size, and location.</a:t>
            </a:r>
          </a:p>
          <a:p>
            <a:r>
              <a:rPr lang="en-US" b="1" dirty="0" smtClean="0"/>
              <a:t>Principle</a:t>
            </a:r>
          </a:p>
          <a:p>
            <a:r>
              <a:rPr lang="en-US" b="1" dirty="0" smtClean="0"/>
              <a:t>Maximizing Intra-Class Similarity</a:t>
            </a:r>
            <a:r>
              <a:rPr lang="en-US" dirty="0" smtClean="0"/>
              <a:t>: Within a cluster, the data points should be as similar as possible to each other. This is achieved by minimizing the distance (or dissimilarity) between the points within the same cluster.</a:t>
            </a:r>
          </a:p>
          <a:p>
            <a:r>
              <a:rPr lang="en-US" b="1" dirty="0" smtClean="0"/>
              <a:t>Minimizing Interclass Similarity</a:t>
            </a:r>
            <a:r>
              <a:rPr lang="en-US" dirty="0" smtClean="0"/>
              <a:t>: Data points in different clusters should be as different as possible. This is achieved by maximizing the distance between points in different clusters.</a:t>
            </a:r>
          </a:p>
          <a:p>
            <a:r>
              <a:rPr lang="en-US" b="1" dirty="0" smtClean="0"/>
              <a:t>Methods and Applications</a:t>
            </a:r>
          </a:p>
          <a:p>
            <a:r>
              <a:rPr lang="en-US" b="1" dirty="0" smtClean="0"/>
              <a:t>Many Methods</a:t>
            </a:r>
            <a:r>
              <a:rPr lang="en-US" dirty="0" smtClean="0"/>
              <a:t>:</a:t>
            </a:r>
          </a:p>
          <a:p>
            <a:pPr lvl="1"/>
            <a:r>
              <a:rPr lang="en-US" b="1" dirty="0" smtClean="0"/>
              <a:t>K-means Clustering</a:t>
            </a:r>
            <a:r>
              <a:rPr lang="en-US" dirty="0" smtClean="0"/>
              <a:t>: Partitions the data into K clusters, with each data point belonging to the cluster with the nearest mean.</a:t>
            </a:r>
          </a:p>
          <a:p>
            <a:pPr lvl="1"/>
            <a:r>
              <a:rPr lang="en-US" b="1" dirty="0" smtClean="0"/>
              <a:t>Hierarchical Clustering</a:t>
            </a:r>
            <a:r>
              <a:rPr lang="en-US" dirty="0" smtClean="0"/>
              <a:t>: Builds a tree of clusters, where each node is a cluster consisting of its children clusters.</a:t>
            </a:r>
          </a:p>
          <a:p>
            <a:pPr lvl="1"/>
            <a:r>
              <a:rPr lang="en-US" b="1" dirty="0" smtClean="0"/>
              <a:t>DBSCAN (Density-Based Spatial Clustering of Applications with Noise)</a:t>
            </a:r>
            <a:r>
              <a:rPr lang="en-US" dirty="0" smtClean="0"/>
              <a:t>: Clusters data based on the density of data points, capable of finding arbitrarily shaped clusters and dealing with noise.</a:t>
            </a:r>
          </a:p>
          <a:p>
            <a:pPr lvl="1"/>
            <a:r>
              <a:rPr lang="en-US" b="1" dirty="0" smtClean="0"/>
              <a:t>Gaussian Mixture Models (GMM)</a:t>
            </a:r>
            <a:r>
              <a:rPr lang="en-US" dirty="0" smtClean="0"/>
              <a:t>: Assumes that the data is generated from a mixture of several Gaussian distributions and assigns a probability to each data point for belonging to each cluster.</a:t>
            </a:r>
          </a:p>
          <a:p>
            <a:r>
              <a:rPr lang="en-US" b="1" dirty="0" smtClean="0"/>
              <a:t>Applications</a:t>
            </a:r>
            <a:r>
              <a:rPr lang="en-US" dirty="0" smtClean="0"/>
              <a:t>:</a:t>
            </a:r>
          </a:p>
          <a:p>
            <a:pPr lvl="1"/>
            <a:r>
              <a:rPr lang="en-US" b="1" dirty="0" smtClean="0"/>
              <a:t>Market Segmentation</a:t>
            </a:r>
            <a:r>
              <a:rPr lang="en-US" dirty="0" smtClean="0"/>
              <a:t>: Grouping customers based on purchasing behavior.</a:t>
            </a:r>
          </a:p>
          <a:p>
            <a:pPr lvl="1"/>
            <a:r>
              <a:rPr lang="en-US" b="1" dirty="0" smtClean="0"/>
              <a:t>Social Network Analysis</a:t>
            </a:r>
            <a:r>
              <a:rPr lang="en-US" dirty="0" smtClean="0"/>
              <a:t>: Detecting communities within social networks.</a:t>
            </a:r>
          </a:p>
          <a:p>
            <a:pPr lvl="1"/>
            <a:r>
              <a:rPr lang="en-US" b="1" dirty="0" smtClean="0"/>
              <a:t>Image Segmentation</a:t>
            </a:r>
            <a:r>
              <a:rPr lang="en-US" dirty="0" smtClean="0"/>
              <a:t>: Partitioning an image into meaningful regions.</a:t>
            </a:r>
          </a:p>
          <a:p>
            <a:pPr lvl="1"/>
            <a:r>
              <a:rPr lang="en-US" b="1" dirty="0" smtClean="0"/>
              <a:t>Anomaly Detection</a:t>
            </a:r>
            <a:r>
              <a:rPr lang="en-US" dirty="0" smtClean="0"/>
              <a:t>: Identifying unusual data points that do not fit into any cluster.</a:t>
            </a:r>
          </a:p>
          <a:p>
            <a:pPr lvl="1"/>
            <a:r>
              <a:rPr lang="en-US" b="1" dirty="0" smtClean="0"/>
              <a:t>Document Clustering</a:t>
            </a:r>
            <a:r>
              <a:rPr lang="en-US" dirty="0" smtClean="0"/>
              <a:t>: Organizing a large collection of documents into smaller groups of related documents.</a:t>
            </a:r>
          </a:p>
          <a:p>
            <a:r>
              <a:rPr lang="en-US" b="1" dirty="0" smtClean="0"/>
              <a:t>Visual Representation</a:t>
            </a:r>
          </a:p>
          <a:p>
            <a:r>
              <a:rPr lang="en-US" dirty="0" smtClean="0"/>
              <a:t>The image includes a scatter plot with clusters represented by different colors. This visual representation shows how data points are grouped into clusters based on their similarities.</a:t>
            </a:r>
          </a:p>
          <a:p>
            <a:r>
              <a:rPr lang="en-US" dirty="0" smtClean="0"/>
              <a:t>Cluster analysis is a versatile tool in data mining that helps in understanding the structure of the data and uncovering hidden patterns, making it useful across various domains and applications.</a:t>
            </a:r>
          </a:p>
          <a:p>
            <a:endParaRPr lang="en-US" dirty="0" smtClean="0"/>
          </a:p>
          <a:p>
            <a:pPr eaLnBrk="1" hangingPunct="1"/>
            <a:endParaRPr lang="en-US" altLang="en-US" dirty="0"/>
          </a:p>
        </p:txBody>
      </p:sp>
    </p:spTree>
    <p:extLst>
      <p:ext uri="{BB962C8B-B14F-4D97-AF65-F5344CB8AC3E}">
        <p14:creationId xmlns:p14="http://schemas.microsoft.com/office/powerpoint/2010/main" val="25827233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920E5CC8-4B4D-43D2-A076-4228DBE574B7}" type="slidenum">
              <a:rPr lang="en-US" altLang="en-US" sz="1200"/>
              <a:pPr eaLnBrk="1" hangingPunct="1"/>
              <a:t>11</a:t>
            </a:fld>
            <a:endParaRPr lang="en-US" altLang="en-US" sz="120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Deep Learning</a:t>
            </a:r>
          </a:p>
          <a:p>
            <a:r>
              <a:rPr lang="en-US" b="1" dirty="0" smtClean="0"/>
              <a:t>A Fast Expanding Dynamic Frontier in Machine Learning</a:t>
            </a:r>
          </a:p>
          <a:p>
            <a:r>
              <a:rPr lang="en-US" b="1" dirty="0" smtClean="0"/>
              <a:t>Definition</a:t>
            </a:r>
            <a:r>
              <a:rPr lang="en-US" dirty="0" smtClean="0"/>
              <a:t>: Deep learning is a subset of machine learning involving neural networks with many layers (hence "deep"). It is particularly powerful in learning from large amounts of data and capturing complex patterns.</a:t>
            </a:r>
          </a:p>
          <a:p>
            <a:r>
              <a:rPr lang="en-US" b="1" dirty="0" smtClean="0"/>
              <a:t>Neural Network Architectures</a:t>
            </a:r>
          </a:p>
          <a:p>
            <a:r>
              <a:rPr lang="en-US" b="1" dirty="0" smtClean="0"/>
              <a:t>Feed-Forward Neural Networks (FFNN)</a:t>
            </a:r>
            <a:r>
              <a:rPr lang="en-US" dirty="0" smtClean="0"/>
              <a:t>: The simplest type of artificial neural network, where connections between nodes do not form cycles. It consists of an input layer, one or more hidden layers, and an output layer. Each neuron in one layer is connected to every neuron in the next layer.</a:t>
            </a:r>
          </a:p>
          <a:p>
            <a:r>
              <a:rPr lang="en-US" b="1" dirty="0" smtClean="0"/>
              <a:t>Convolutional Neural Networks (CNN)</a:t>
            </a:r>
            <a:r>
              <a:rPr lang="en-US" dirty="0" smtClean="0"/>
              <a:t>: Especially useful for processing grid-like data such as images. CNNs use convolutional layers that apply a set of filters to the input, capturing spatial hierarchies in data. Commonly used in image and video recognition.</a:t>
            </a:r>
          </a:p>
          <a:p>
            <a:r>
              <a:rPr lang="en-US" b="1" dirty="0" smtClean="0"/>
              <a:t>Recurrent Neural Networks (RNN)</a:t>
            </a:r>
            <a:r>
              <a:rPr lang="en-US" dirty="0" smtClean="0"/>
              <a:t>: Designed to recognize patterns in sequences of data. Unlike feed-forward networks, RNNs have connections that form cycles, allowing them to maintain a memory of previous inputs. This makes them suitable for tasks like language modeling and time series prediction.</a:t>
            </a:r>
          </a:p>
          <a:p>
            <a:r>
              <a:rPr lang="en-US" b="1" dirty="0" smtClean="0"/>
              <a:t>Graph Neural Networks (GNN)</a:t>
            </a:r>
            <a:r>
              <a:rPr lang="en-US" dirty="0" smtClean="0"/>
              <a:t>: Used for data structured as graphs. GNNs can model relationships and interactions between nodes (entities) and edges (connections) in a graph. Applications include social network analysis and molecular structure analysis.</a:t>
            </a:r>
          </a:p>
          <a:p>
            <a:r>
              <a:rPr lang="en-US" b="1" dirty="0" smtClean="0"/>
              <a:t>Transformer</a:t>
            </a:r>
            <a:r>
              <a:rPr lang="en-US" dirty="0" smtClean="0"/>
              <a:t>: A type of neural network architecture that relies on self-attention mechanisms to process sequences of data. Transformers have revolutionized natural language processing (NLP) by enabling models like BERT and GPT, which are capable of understanding and generating human language with high accuracy.</a:t>
            </a:r>
          </a:p>
          <a:p>
            <a:r>
              <a:rPr lang="en-US" b="1" dirty="0" smtClean="0"/>
              <a:t>Broad Applications</a:t>
            </a:r>
          </a:p>
          <a:p>
            <a:r>
              <a:rPr lang="en-US" b="1" dirty="0" smtClean="0"/>
              <a:t>Computer Vision</a:t>
            </a:r>
            <a:r>
              <a:rPr lang="en-US" dirty="0" smtClean="0"/>
              <a:t>: Tasks such as image recognition, object detection, and segmentation.</a:t>
            </a:r>
          </a:p>
          <a:p>
            <a:r>
              <a:rPr lang="en-US" b="1" dirty="0" smtClean="0"/>
              <a:t>Natural Language Processing (NLP)</a:t>
            </a:r>
            <a:r>
              <a:rPr lang="en-US" dirty="0" smtClean="0"/>
              <a:t>: Applications include language translation, sentiment analysis, and text generation.</a:t>
            </a:r>
          </a:p>
          <a:p>
            <a:r>
              <a:rPr lang="en-US" b="1" dirty="0" smtClean="0"/>
              <a:t>Machine Translation</a:t>
            </a:r>
            <a:r>
              <a:rPr lang="en-US" dirty="0" smtClean="0"/>
              <a:t>: Automatically translating text from one language to another.</a:t>
            </a:r>
          </a:p>
          <a:p>
            <a:r>
              <a:rPr lang="en-US" b="1" dirty="0" smtClean="0"/>
              <a:t>Social Network Analysis</a:t>
            </a:r>
            <a:r>
              <a:rPr lang="en-US" dirty="0" smtClean="0"/>
              <a:t>: Understanding and extracting insights from social media and networks.</a:t>
            </a:r>
          </a:p>
          <a:p>
            <a:r>
              <a:rPr lang="en-US" b="1" dirty="0" smtClean="0"/>
              <a:t>Others</a:t>
            </a:r>
            <a:r>
              <a:rPr lang="en-US" dirty="0" smtClean="0"/>
              <a:t>: Including speech recognition, autonomous driving, and more.</a:t>
            </a:r>
          </a:p>
          <a:p>
            <a:r>
              <a:rPr lang="en-US" b="1" dirty="0" smtClean="0"/>
              <a:t>Reshaping Data Mining Tasks</a:t>
            </a:r>
          </a:p>
          <a:p>
            <a:r>
              <a:rPr lang="en-US" b="1" dirty="0" smtClean="0"/>
              <a:t>Classification</a:t>
            </a:r>
            <a:r>
              <a:rPr lang="en-US" dirty="0" smtClean="0"/>
              <a:t>: Categorizing data into predefined classes.</a:t>
            </a:r>
          </a:p>
          <a:p>
            <a:r>
              <a:rPr lang="en-US" b="1" dirty="0" smtClean="0"/>
              <a:t>Clustering</a:t>
            </a:r>
            <a:r>
              <a:rPr lang="en-US" dirty="0" smtClean="0"/>
              <a:t>: Grouping data into clusters of similar items.</a:t>
            </a:r>
          </a:p>
          <a:p>
            <a:r>
              <a:rPr lang="en-US" b="1" dirty="0" smtClean="0"/>
              <a:t>Outlier Detection</a:t>
            </a:r>
            <a:r>
              <a:rPr lang="en-US" dirty="0" smtClean="0"/>
              <a:t>: Identifying unusual data points that differ significantly from the majority.</a:t>
            </a:r>
          </a:p>
          <a:p>
            <a:r>
              <a:rPr lang="en-US" b="1" dirty="0" smtClean="0"/>
              <a:t>Reinforcement Learning</a:t>
            </a:r>
            <a:r>
              <a:rPr lang="en-US" dirty="0" smtClean="0"/>
              <a:t>: Training models to make a sequence of decisions by rewarding them for good decisions and penalizing them for bad ones.</a:t>
            </a:r>
          </a:p>
          <a:p>
            <a:r>
              <a:rPr lang="en-US" b="1" dirty="0" smtClean="0"/>
              <a:t>Visual Representation</a:t>
            </a:r>
          </a:p>
          <a:p>
            <a:r>
              <a:rPr lang="en-US" dirty="0" smtClean="0"/>
              <a:t>The image includes a neural network diagram with multiple layers (input layer, hidden layers, and output layer), illustrating the structure of a feed-forward neural network.</a:t>
            </a:r>
          </a:p>
          <a:p>
            <a:r>
              <a:rPr lang="en-US" b="1" dirty="0" smtClean="0"/>
              <a:t>Summary</a:t>
            </a:r>
          </a:p>
          <a:p>
            <a:r>
              <a:rPr lang="en-US" dirty="0" smtClean="0"/>
              <a:t>Deep learning has revolutionized many fields by enabling the creation of models that can learn from large amounts of data and make accurate predictions. The development of various neural network architectures has expanded the capabilities and applications of deep learning, making it a vital tool in modern data science and artificial intelligence.</a:t>
            </a:r>
          </a:p>
          <a:p>
            <a:pPr eaLnBrk="1" hangingPunct="1"/>
            <a:endParaRPr lang="en-US" altLang="en-US" dirty="0"/>
          </a:p>
        </p:txBody>
      </p:sp>
    </p:spTree>
    <p:extLst>
      <p:ext uri="{BB962C8B-B14F-4D97-AF65-F5344CB8AC3E}">
        <p14:creationId xmlns:p14="http://schemas.microsoft.com/office/powerpoint/2010/main" val="1812195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302E7B5-A053-4E86-8336-78E4DA609877}" type="slidenum">
              <a:rPr lang="en-US" altLang="en-US" sz="1200"/>
              <a:pPr eaLnBrk="1" hangingPunct="1"/>
              <a:t>12</a:t>
            </a:fld>
            <a:endParaRPr lang="en-US" altLang="en-US" sz="120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Outlier Analysis</a:t>
            </a:r>
          </a:p>
          <a:p>
            <a:r>
              <a:rPr lang="en-US" b="1" dirty="0" smtClean="0"/>
              <a:t>Definition of an Outlier</a:t>
            </a:r>
          </a:p>
          <a:p>
            <a:r>
              <a:rPr lang="en-US" b="1" dirty="0" smtClean="0"/>
              <a:t>Outlier</a:t>
            </a:r>
            <a:r>
              <a:rPr lang="en-US" dirty="0" smtClean="0"/>
              <a:t>: A data object that does not comply with the general behavior of the data. Outliers are significantly different from the majority of data points and can be identified through various statistical and machine learning methods.</a:t>
            </a:r>
          </a:p>
          <a:p>
            <a:r>
              <a:rPr lang="en-US" b="1" dirty="0" smtClean="0"/>
              <a:t>Noise or Exception?</a:t>
            </a:r>
          </a:p>
          <a:p>
            <a:r>
              <a:rPr lang="en-US" b="1" dirty="0" smtClean="0"/>
              <a:t>Noise vs. Exception</a:t>
            </a:r>
            <a:r>
              <a:rPr lang="en-US" dirty="0" smtClean="0"/>
              <a:t>: Determining whether an outlier is just noise (irrelevant data) or a significant exception (meaningful data) is crucial. The phrase "one person’s garbage could be another person’s treasure" emphasizes that outliers in some contexts may be valuable insights in others. For example, a transaction might look suspicious (an outlier) but could be a legitimate purchase by a high-spending customer.</a:t>
            </a:r>
          </a:p>
          <a:p>
            <a:r>
              <a:rPr lang="en-US" b="1" dirty="0" smtClean="0"/>
              <a:t>Methods for Detecting Outliers</a:t>
            </a:r>
          </a:p>
          <a:p>
            <a:r>
              <a:rPr lang="en-US" b="1" dirty="0" smtClean="0"/>
              <a:t>Byproduct of Clustering or Regression Analysis</a:t>
            </a:r>
            <a:r>
              <a:rPr lang="en-US" dirty="0" smtClean="0"/>
              <a:t>: Outliers can be detected as part of other analytical processes:</a:t>
            </a:r>
          </a:p>
          <a:p>
            <a:pPr lvl="1"/>
            <a:r>
              <a:rPr lang="en-US" b="1" dirty="0" smtClean="0"/>
              <a:t>Clustering</a:t>
            </a:r>
            <a:r>
              <a:rPr lang="en-US" dirty="0" smtClean="0"/>
              <a:t>: In clustering, data points that do not fit well into any cluster can be considered outliers.</a:t>
            </a:r>
          </a:p>
          <a:p>
            <a:pPr lvl="1"/>
            <a:r>
              <a:rPr lang="en-US" b="1" dirty="0" smtClean="0"/>
              <a:t>Regression Analysis</a:t>
            </a:r>
            <a:r>
              <a:rPr lang="en-US" dirty="0" smtClean="0"/>
              <a:t>: In regression analysis, data points that deviate significantly from the predicted values can be identified as outliers.</a:t>
            </a:r>
          </a:p>
          <a:p>
            <a:pPr lvl="1"/>
            <a:r>
              <a:rPr lang="en-US" b="1" dirty="0" smtClean="0"/>
              <a:t>Specific Outlier Detection Techniques</a:t>
            </a:r>
            <a:r>
              <a:rPr lang="en-US" dirty="0" smtClean="0"/>
              <a:t>: Algorithms designed specifically for outlier detection, such as Isolation Forest, Local Outlier Factor (LOF), and Statistical Methods (e.g., Z-score, IQR).</a:t>
            </a:r>
          </a:p>
          <a:p>
            <a:r>
              <a:rPr lang="en-US" b="1" dirty="0" smtClean="0"/>
              <a:t>Applications</a:t>
            </a:r>
          </a:p>
          <a:p>
            <a:r>
              <a:rPr lang="en-US" b="1" dirty="0" smtClean="0"/>
              <a:t>Fraud Detection</a:t>
            </a:r>
            <a:r>
              <a:rPr lang="en-US" dirty="0" smtClean="0"/>
              <a:t>: Outlier analysis is widely used in detecting fraudulent activities. Unusual patterns in transactions, login attempts, or account activities can indicate potential fraud.</a:t>
            </a:r>
          </a:p>
          <a:p>
            <a:r>
              <a:rPr lang="en-US" b="1" dirty="0" smtClean="0"/>
              <a:t>Rare Events Analysis</a:t>
            </a:r>
            <a:r>
              <a:rPr lang="en-US" dirty="0" smtClean="0"/>
              <a:t>: Identifying and analyzing rare events, such as network intrusions, equipment failures, or rare diseases, often involves detecting outliers.</a:t>
            </a:r>
          </a:p>
          <a:p>
            <a:r>
              <a:rPr lang="en-US" b="1" dirty="0" smtClean="0"/>
              <a:t>Visual Representations</a:t>
            </a:r>
          </a:p>
          <a:p>
            <a:r>
              <a:rPr lang="en-US" b="1" dirty="0" smtClean="0"/>
              <a:t>Apple Example</a:t>
            </a:r>
            <a:r>
              <a:rPr lang="en-US" dirty="0" smtClean="0"/>
              <a:t>: The image of a red apple among green apples visually represents an outlier. This highlights how outliers stand out from the majority.</a:t>
            </a:r>
          </a:p>
          <a:p>
            <a:r>
              <a:rPr lang="en-US" b="1" dirty="0" smtClean="0"/>
              <a:t>Time Series Plot</a:t>
            </a:r>
            <a:r>
              <a:rPr lang="en-US" dirty="0" smtClean="0"/>
              <a:t>: The plot with red points above and below a time series indicates outliers in a time-based dataset, showing deviations from the expected trend.</a:t>
            </a:r>
          </a:p>
          <a:p>
            <a:r>
              <a:rPr lang="en-US" b="1" dirty="0" smtClean="0"/>
              <a:t>Scatter Plot</a:t>
            </a:r>
            <a:r>
              <a:rPr lang="en-US" dirty="0" smtClean="0"/>
              <a:t>: The scatter plot with a single red square away from the dense blue points indicates a multivariate outlier, showing a data point that deviates significantly from the general pattern.</a:t>
            </a:r>
          </a:p>
          <a:p>
            <a:r>
              <a:rPr lang="en-US" b="1" dirty="0" smtClean="0"/>
              <a:t>Summary</a:t>
            </a:r>
          </a:p>
          <a:p>
            <a:r>
              <a:rPr lang="en-US" dirty="0" smtClean="0"/>
              <a:t>Outlier analysis is a critical tool in data mining and statistical analysis for identifying and understanding anomalies in data. It is applicable in various fields, such as fraud detection, quality control, and rare event detection, providing valuable insights that might be missed when focusing solely on the majority of data points. </a:t>
            </a:r>
            <a:r>
              <a:rPr lang="en-US" smtClean="0"/>
              <a:t>By distinguishing between noise and significant exceptions, outlier analysis helps in making informed decisions and improving data quality.</a:t>
            </a:r>
          </a:p>
          <a:p>
            <a:pPr eaLnBrk="1" hangingPunct="1"/>
            <a:endParaRPr lang="en-US" altLang="en-US"/>
          </a:p>
        </p:txBody>
      </p:sp>
    </p:spTree>
    <p:extLst>
      <p:ext uri="{BB962C8B-B14F-4D97-AF65-F5344CB8AC3E}">
        <p14:creationId xmlns:p14="http://schemas.microsoft.com/office/powerpoint/2010/main" val="40187998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14925EE-85E7-4873-88F9-121B04E0F4ED}" type="slidenum">
              <a:rPr lang="en-US" altLang="en-US" sz="1200"/>
              <a:pPr eaLnBrk="1" hangingPunct="1"/>
              <a:t>13</a:t>
            </a:fld>
            <a:endParaRPr lang="en-US" altLang="en-US" sz="120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9108331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0B231649-8B12-4510-A1CB-E5890EF148EC}" type="slidenum">
              <a:rPr lang="en-US" altLang="en-US" sz="1200"/>
              <a:pPr eaLnBrk="1" hangingPunct="1"/>
              <a:t>14</a:t>
            </a:fld>
            <a:endParaRPr lang="en-US" altLang="en-US" sz="120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4098272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AAF883FF-2F58-4107-BEA6-5C2298E1F95A}" type="slidenum">
              <a:rPr lang="en-US" altLang="en-US" sz="1200"/>
              <a:pPr eaLnBrk="1" hangingPunct="1"/>
              <a:t>15</a:t>
            </a:fld>
            <a:endParaRPr lang="en-US" altLang="en-US" sz="120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8987596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C94D377C-1700-4A4E-905A-4A8C020F95F9}" type="slidenum">
              <a:rPr lang="en-US" altLang="en-US" sz="1200"/>
              <a:pPr eaLnBrk="1" hangingPunct="1"/>
              <a:t>16</a:t>
            </a:fld>
            <a:endParaRPr lang="en-US" altLang="en-US" sz="120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7473969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3D037545-7FB3-4A1F-AEEC-458772C76451}" type="slidenum">
              <a:rPr lang="en-US" altLang="en-US" sz="1200"/>
              <a:pPr eaLnBrk="1" hangingPunct="1"/>
              <a:t>17</a:t>
            </a:fld>
            <a:endParaRPr lang="en-US" altLang="en-US" sz="120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Add a definition/description of “traditional data analysis”.</a:t>
            </a:r>
          </a:p>
          <a:p>
            <a:pPr eaLnBrk="1" hangingPunct="1"/>
            <a:endParaRPr lang="en-US" altLang="en-US"/>
          </a:p>
          <a:p>
            <a:pPr eaLnBrk="1" hangingPunct="1"/>
            <a:endParaRPr lang="en-US" altLang="en-US"/>
          </a:p>
        </p:txBody>
      </p:sp>
    </p:spTree>
    <p:extLst>
      <p:ext uri="{BB962C8B-B14F-4D97-AF65-F5344CB8AC3E}">
        <p14:creationId xmlns:p14="http://schemas.microsoft.com/office/powerpoint/2010/main" val="22163819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49EADABB-4320-482A-B7AD-73BCD29C70DB}" type="slidenum">
              <a:rPr lang="en-US" altLang="en-US" sz="1200"/>
              <a:pPr eaLnBrk="1" hangingPunct="1"/>
              <a:t>18</a:t>
            </a:fld>
            <a:endParaRPr lang="en-US" altLang="en-US" sz="120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38626969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49EADABB-4320-482A-B7AD-73BCD29C70DB}" type="slidenum">
              <a:rPr lang="en-US" altLang="en-US" sz="1200"/>
              <a:pPr eaLnBrk="1" hangingPunct="1"/>
              <a:t>19</a:t>
            </a:fld>
            <a:endParaRPr lang="en-US" altLang="en-US" sz="120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36691268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12AE2494-E246-464F-AA19-05B4B0487F8D}" type="slidenum">
              <a:rPr lang="en-US" altLang="en-US" sz="1200"/>
              <a:pPr eaLnBrk="1" hangingPunct="1"/>
              <a:t>20</a:t>
            </a:fld>
            <a:endParaRPr lang="en-US" altLang="en-US" sz="1200"/>
          </a:p>
        </p:txBody>
      </p:sp>
    </p:spTree>
    <p:extLst>
      <p:ext uri="{BB962C8B-B14F-4D97-AF65-F5344CB8AC3E}">
        <p14:creationId xmlns:p14="http://schemas.microsoft.com/office/powerpoint/2010/main" val="38612885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44500" y="2343945"/>
            <a:ext cx="11303000" cy="1034256"/>
          </a:xfrm>
        </p:spPr>
        <p:txBody>
          <a:bodyPr anchor="b">
            <a:noAutofit/>
          </a:bodyPr>
          <a:lstStyle>
            <a:lvl1pPr algn="ctr">
              <a:lnSpc>
                <a:spcPct val="85000"/>
              </a:lnSpc>
              <a:defRPr sz="6600" spc="-51" baseline="0">
                <a:solidFill>
                  <a:schemeClr val="tx1"/>
                </a:solidFill>
              </a:defRPr>
            </a:lvl1pPr>
          </a:lstStyle>
          <a:p>
            <a:r>
              <a:rPr lang="en-US" dirty="0"/>
              <a:t>Click to edit Master title style</a:t>
            </a:r>
          </a:p>
        </p:txBody>
      </p:sp>
      <p:sp>
        <p:nvSpPr>
          <p:cNvPr id="3" name="Subtitle 2"/>
          <p:cNvSpPr>
            <a:spLocks noGrp="1"/>
          </p:cNvSpPr>
          <p:nvPr>
            <p:ph type="subTitle" idx="1" hasCustomPrompt="1"/>
          </p:nvPr>
        </p:nvSpPr>
        <p:spPr>
          <a:xfrm>
            <a:off x="1095871" y="3529775"/>
            <a:ext cx="10058400" cy="782070"/>
          </a:xfrm>
        </p:spPr>
        <p:txBody>
          <a:bodyPr lIns="91436" rIns="91436">
            <a:normAutofit/>
          </a:bodyPr>
          <a:lstStyle>
            <a:lvl1pPr marL="0" indent="0" algn="ctr">
              <a:buNone/>
              <a:defRPr sz="2400" b="1" cap="none" spc="200" baseline="0">
                <a:solidFill>
                  <a:schemeClr val="tx1"/>
                </a:solidFill>
                <a:latin typeface="Berlin Sans FB Demi" panose="020E0802020502020306" pitchFamily="34" charset="0"/>
              </a:defRPr>
            </a:lvl1pPr>
            <a:lvl2pPr marL="457178" indent="0" algn="ctr">
              <a:buNone/>
              <a:defRPr sz="2400"/>
            </a:lvl2pPr>
            <a:lvl3pPr marL="914354" indent="0" algn="ctr">
              <a:buNone/>
              <a:defRPr sz="2400"/>
            </a:lvl3pPr>
            <a:lvl4pPr marL="1371532" indent="0" algn="ctr">
              <a:buNone/>
              <a:defRPr sz="2000"/>
            </a:lvl4pPr>
            <a:lvl5pPr marL="1828709" indent="0" algn="ctr">
              <a:buNone/>
              <a:defRPr sz="2000"/>
            </a:lvl5pPr>
            <a:lvl6pPr marL="2285886" indent="0" algn="ctr">
              <a:buNone/>
              <a:defRPr sz="2000"/>
            </a:lvl6pPr>
            <a:lvl7pPr marL="2743062" indent="0" algn="ctr">
              <a:buNone/>
              <a:defRPr sz="2000"/>
            </a:lvl7pPr>
            <a:lvl8pPr marL="3200240" indent="0" algn="ctr">
              <a:buNone/>
              <a:defRPr sz="2000"/>
            </a:lvl8pPr>
            <a:lvl9pPr marL="3657418" indent="0" algn="ctr">
              <a:buNone/>
              <a:defRPr sz="2000"/>
            </a:lvl9pPr>
          </a:lstStyle>
          <a:p>
            <a:r>
              <a:rPr lang="en-US" dirty="0"/>
              <a:t>Click to edit master subtitle style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8" y="0"/>
            <a:ext cx="12244106" cy="2281473"/>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18" y="4463419"/>
            <a:ext cx="12192000" cy="239615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0985" y="221676"/>
            <a:ext cx="11369963" cy="738909"/>
          </a:xfrm>
        </p:spPr>
        <p:txBody>
          <a:bodyPr/>
          <a:lstStyle>
            <a:lvl1pPr marL="0">
              <a:defRPr/>
            </a:lvl1pPr>
          </a:lstStyle>
          <a:p>
            <a:r>
              <a:rPr lang="en-US" dirty="0"/>
              <a:t>Click to edit Master title style</a:t>
            </a:r>
          </a:p>
        </p:txBody>
      </p:sp>
      <p:sp>
        <p:nvSpPr>
          <p:cNvPr id="3" name="Content Placeholder 2"/>
          <p:cNvSpPr>
            <a:spLocks noGrp="1"/>
          </p:cNvSpPr>
          <p:nvPr>
            <p:ph idx="1"/>
          </p:nvPr>
        </p:nvSpPr>
        <p:spPr>
          <a:xfrm>
            <a:off x="350983" y="1219200"/>
            <a:ext cx="11406908" cy="5384800"/>
          </a:xfrm>
        </p:spPr>
        <p:txBody>
          <a:bodyPr/>
          <a:lstStyle>
            <a:lvl1pPr marL="461951" indent="-461951">
              <a:defRPr sz="2800"/>
            </a:lvl1pPr>
            <a:lvl2pPr marL="738170" indent="-538149">
              <a:defRPr sz="2800"/>
            </a:lvl2pPr>
            <a:lvl3pPr marL="858817" indent="-474651">
              <a:defRPr sz="2800"/>
            </a:lvl3pPr>
            <a:lvl4pPr marL="1144559" indent="-522275">
              <a:defRPr sz="2800"/>
            </a:lvl4pPr>
            <a:lvl5pPr marL="1376328" indent="-507987">
              <a:defRPr sz="2800"/>
            </a:lvl5pPr>
          </a:lstStyle>
          <a:p>
            <a:pPr lvl="0"/>
            <a:r>
              <a:rPr lang="en-US" dirty="0"/>
              <a:t>Click to edit Master text styles</a:t>
            </a:r>
          </a:p>
          <a:p>
            <a:pPr lvl="1"/>
            <a:r>
              <a:rPr lang="en-US" dirty="0"/>
              <a:t>Second level</a:t>
            </a:r>
          </a:p>
          <a:p>
            <a:pPr lvl="2"/>
            <a:r>
              <a:rPr lang="en-US" dirty="0"/>
              <a:t> Third level</a:t>
            </a:r>
          </a:p>
          <a:p>
            <a:pPr lvl="3"/>
            <a:r>
              <a:rPr lang="en-US" dirty="0"/>
              <a:t> Fourth level</a:t>
            </a:r>
          </a:p>
          <a:p>
            <a:pPr lvl="4"/>
            <a:r>
              <a:rPr lang="en-US" dirty="0"/>
              <a:t> 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0985" y="286607"/>
            <a:ext cx="11369963" cy="673979"/>
          </a:xfrm>
          <a:prstGeom prst="rect">
            <a:avLst/>
          </a:prstGeom>
        </p:spPr>
        <p:txBody>
          <a:bodyPr vert="horz" lIns="91436" tIns="45718" rIns="91436" bIns="45718" rtlCol="0" anchor="b">
            <a:normAutofit/>
          </a:bodyPr>
          <a:lstStyle/>
          <a:p>
            <a:r>
              <a:rPr lang="en-US" dirty="0"/>
              <a:t>Click to edit Master title style</a:t>
            </a:r>
          </a:p>
        </p:txBody>
      </p:sp>
      <p:sp>
        <p:nvSpPr>
          <p:cNvPr id="3" name="Text Placeholder 2"/>
          <p:cNvSpPr>
            <a:spLocks noGrp="1"/>
          </p:cNvSpPr>
          <p:nvPr>
            <p:ph type="body" idx="1"/>
          </p:nvPr>
        </p:nvSpPr>
        <p:spPr>
          <a:xfrm>
            <a:off x="350983" y="1219203"/>
            <a:ext cx="11406908" cy="5209309"/>
          </a:xfrm>
          <a:prstGeom prst="rect">
            <a:avLst/>
          </a:prstGeom>
        </p:spPr>
        <p:txBody>
          <a:bodyPr vert="horz" lIns="91436" tIns="45718" rIns="91436" bIns="45718" rtlCol="0">
            <a:noAutofit/>
          </a:bodyPr>
          <a:lstStyle/>
          <a:p>
            <a:pPr lvl="0"/>
            <a:r>
              <a:rPr lang="en-US" dirty="0"/>
              <a:t> Click to edit Master text styles</a:t>
            </a:r>
          </a:p>
          <a:p>
            <a:pPr lvl="1"/>
            <a:r>
              <a:rPr lang="en-US" dirty="0"/>
              <a:t> Second level</a:t>
            </a:r>
          </a:p>
          <a:p>
            <a:pPr lvl="2"/>
            <a:r>
              <a:rPr lang="en-US" dirty="0"/>
              <a:t> Third level</a:t>
            </a:r>
          </a:p>
          <a:p>
            <a:pPr lvl="3"/>
            <a:r>
              <a:rPr lang="en-US" dirty="0"/>
              <a:t> Fourth level</a:t>
            </a:r>
          </a:p>
          <a:p>
            <a:pPr lvl="4"/>
            <a:r>
              <a:rPr lang="en-US" dirty="0"/>
              <a:t> Fifth level</a:t>
            </a:r>
          </a:p>
        </p:txBody>
      </p:sp>
      <p:cxnSp>
        <p:nvCxnSpPr>
          <p:cNvPr id="10" name="Straight Connector 9"/>
          <p:cNvCxnSpPr/>
          <p:nvPr/>
        </p:nvCxnSpPr>
        <p:spPr>
          <a:xfrm>
            <a:off x="591131" y="1100537"/>
            <a:ext cx="109728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Slide Number Placeholder 5"/>
          <p:cNvSpPr txBox="1">
            <a:spLocks/>
          </p:cNvSpPr>
          <p:nvPr userDrawn="1"/>
        </p:nvSpPr>
        <p:spPr>
          <a:xfrm>
            <a:off x="0" y="6565686"/>
            <a:ext cx="1066800" cy="273844"/>
          </a:xfrm>
          <a:prstGeom prst="rect">
            <a:avLst/>
          </a:prstGeom>
        </p:spPr>
        <p:txBody>
          <a:bodyPr lIns="91436" tIns="45718" rIns="91436" bIns="45718"/>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F4F2234-F0AC-4578-99CD-21C2B01FA7D4}" type="slidenum">
              <a:rPr lang="en-US" sz="1600" b="0" smtClean="0"/>
              <a:pPr/>
              <a:t>‹#›</a:t>
            </a:fld>
            <a:endParaRPr lang="en-US" sz="1600" b="0"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Lst>
  <p:hf hdr="0" ftr="0" dt="0"/>
  <p:txStyles>
    <p:titleStyle>
      <a:lvl1pPr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Berlin Sans FB Demi" panose="020E0802020502020306" pitchFamily="34" charset="0"/>
          <a:ea typeface="+mj-ea"/>
          <a:cs typeface="+mj-cs"/>
        </a:defRPr>
      </a:lvl1pPr>
    </p:titleStyle>
    <p:body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p:bodyStyle>
    <p:otherStyle>
      <a:defPPr>
        <a:defRPr lang="en-US"/>
      </a:defPPr>
      <a:lvl1pPr marL="0" algn="l" defTabSz="914354" rtl="0" eaLnBrk="1" latinLnBrk="0" hangingPunct="1">
        <a:defRPr sz="1900" kern="1200">
          <a:solidFill>
            <a:schemeClr val="tx1"/>
          </a:solidFill>
          <a:latin typeface="+mn-lt"/>
          <a:ea typeface="+mn-ea"/>
          <a:cs typeface="+mn-cs"/>
        </a:defRPr>
      </a:lvl1pPr>
      <a:lvl2pPr marL="457178" algn="l" defTabSz="914354" rtl="0" eaLnBrk="1" latinLnBrk="0" hangingPunct="1">
        <a:defRPr sz="1900" kern="1200">
          <a:solidFill>
            <a:schemeClr val="tx1"/>
          </a:solidFill>
          <a:latin typeface="+mn-lt"/>
          <a:ea typeface="+mn-ea"/>
          <a:cs typeface="+mn-cs"/>
        </a:defRPr>
      </a:lvl2pPr>
      <a:lvl3pPr marL="914354" algn="l" defTabSz="914354" rtl="0" eaLnBrk="1" latinLnBrk="0" hangingPunct="1">
        <a:defRPr sz="1900" kern="1200">
          <a:solidFill>
            <a:schemeClr val="tx1"/>
          </a:solidFill>
          <a:latin typeface="+mn-lt"/>
          <a:ea typeface="+mn-ea"/>
          <a:cs typeface="+mn-cs"/>
        </a:defRPr>
      </a:lvl3pPr>
      <a:lvl4pPr marL="1371532" algn="l" defTabSz="914354" rtl="0" eaLnBrk="1" latinLnBrk="0" hangingPunct="1">
        <a:defRPr sz="1900" kern="1200">
          <a:solidFill>
            <a:schemeClr val="tx1"/>
          </a:solidFill>
          <a:latin typeface="+mn-lt"/>
          <a:ea typeface="+mn-ea"/>
          <a:cs typeface="+mn-cs"/>
        </a:defRPr>
      </a:lvl4pPr>
      <a:lvl5pPr marL="1828709" algn="l" defTabSz="914354" rtl="0" eaLnBrk="1" latinLnBrk="0" hangingPunct="1">
        <a:defRPr sz="1900" kern="1200">
          <a:solidFill>
            <a:schemeClr val="tx1"/>
          </a:solidFill>
          <a:latin typeface="+mn-lt"/>
          <a:ea typeface="+mn-ea"/>
          <a:cs typeface="+mn-cs"/>
        </a:defRPr>
      </a:lvl5pPr>
      <a:lvl6pPr marL="2285886" algn="l" defTabSz="914354" rtl="0" eaLnBrk="1" latinLnBrk="0" hangingPunct="1">
        <a:defRPr sz="1900" kern="1200">
          <a:solidFill>
            <a:schemeClr val="tx1"/>
          </a:solidFill>
          <a:latin typeface="+mn-lt"/>
          <a:ea typeface="+mn-ea"/>
          <a:cs typeface="+mn-cs"/>
        </a:defRPr>
      </a:lvl6pPr>
      <a:lvl7pPr marL="2743062" algn="l" defTabSz="914354" rtl="0" eaLnBrk="1" latinLnBrk="0" hangingPunct="1">
        <a:defRPr sz="1900" kern="1200">
          <a:solidFill>
            <a:schemeClr val="tx1"/>
          </a:solidFill>
          <a:latin typeface="+mn-lt"/>
          <a:ea typeface="+mn-ea"/>
          <a:cs typeface="+mn-cs"/>
        </a:defRPr>
      </a:lvl7pPr>
      <a:lvl8pPr marL="3200240" algn="l" defTabSz="914354" rtl="0" eaLnBrk="1" latinLnBrk="0" hangingPunct="1">
        <a:defRPr sz="1900" kern="1200">
          <a:solidFill>
            <a:schemeClr val="tx1"/>
          </a:solidFill>
          <a:latin typeface="+mn-lt"/>
          <a:ea typeface="+mn-ea"/>
          <a:cs typeface="+mn-cs"/>
        </a:defRPr>
      </a:lvl8pPr>
      <a:lvl9pPr marL="3657418" algn="l" defTabSz="914354"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t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1905000" y="228600"/>
            <a:ext cx="8382000" cy="838200"/>
          </a:xfrm>
        </p:spPr>
        <p:txBody>
          <a:bodyPr/>
          <a:lstStyle/>
          <a:p>
            <a:pPr eaLnBrk="1" hangingPunct="1"/>
            <a:r>
              <a:rPr lang="en-US" altLang="en-US" b="1" dirty="0"/>
              <a:t>Chapter 1.  Introduction</a:t>
            </a:r>
          </a:p>
        </p:txBody>
      </p:sp>
      <p:sp>
        <p:nvSpPr>
          <p:cNvPr id="16388" name="Rectangle 3"/>
          <p:cNvSpPr>
            <a:spLocks noGrp="1" noChangeArrowheads="1"/>
          </p:cNvSpPr>
          <p:nvPr>
            <p:ph type="body" idx="1"/>
          </p:nvPr>
        </p:nvSpPr>
        <p:spPr>
          <a:xfrm>
            <a:off x="663388" y="1294960"/>
            <a:ext cx="10865223" cy="5257800"/>
          </a:xfrm>
        </p:spPr>
        <p:txBody>
          <a:bodyPr/>
          <a:lstStyle/>
          <a:p>
            <a:pPr>
              <a:spcBef>
                <a:spcPts val="1200"/>
              </a:spcBef>
              <a:spcAft>
                <a:spcPts val="600"/>
              </a:spcAft>
              <a:tabLst>
                <a:tab pos="6178550" algn="l"/>
              </a:tabLst>
            </a:pPr>
            <a:r>
              <a:rPr lang="en-US" altLang="en-US" b="1" dirty="0"/>
              <a:t>What Is Data Mining?</a:t>
            </a:r>
          </a:p>
          <a:p>
            <a:pPr>
              <a:spcBef>
                <a:spcPts val="1200"/>
              </a:spcBef>
              <a:spcAft>
                <a:spcPts val="600"/>
              </a:spcAft>
              <a:tabLst>
                <a:tab pos="6178550" algn="l"/>
              </a:tabLst>
            </a:pPr>
            <a:r>
              <a:rPr lang="en-US" altLang="en-US" b="1" dirty="0"/>
              <a:t>Data Mining: An Essential Step in Knowledge Discovery</a:t>
            </a:r>
          </a:p>
          <a:p>
            <a:pPr>
              <a:spcBef>
                <a:spcPts val="1200"/>
              </a:spcBef>
              <a:spcAft>
                <a:spcPts val="600"/>
              </a:spcAft>
              <a:tabLst>
                <a:tab pos="6178550" algn="l"/>
              </a:tabLst>
            </a:pPr>
            <a:r>
              <a:rPr lang="en-US" altLang="en-US" b="1" dirty="0"/>
              <a:t>Diversity of Data Types for Data Mining</a:t>
            </a:r>
          </a:p>
          <a:p>
            <a:pPr>
              <a:spcBef>
                <a:spcPts val="1200"/>
              </a:spcBef>
              <a:spcAft>
                <a:spcPts val="600"/>
              </a:spcAft>
              <a:tabLst>
                <a:tab pos="6178550" algn="l"/>
              </a:tabLst>
            </a:pPr>
            <a:r>
              <a:rPr lang="en-US" b="1" i="0" u="none" strike="noStrike" baseline="0" dirty="0"/>
              <a:t>Mining Various Kinds of Knowledge</a:t>
            </a:r>
          </a:p>
          <a:p>
            <a:pPr>
              <a:spcBef>
                <a:spcPts val="1200"/>
              </a:spcBef>
              <a:spcAft>
                <a:spcPts val="600"/>
              </a:spcAft>
              <a:tabLst>
                <a:tab pos="6178550" algn="l"/>
              </a:tabLst>
            </a:pPr>
            <a:r>
              <a:rPr lang="en-US" b="1" i="0" u="none" strike="noStrike" baseline="0" dirty="0"/>
              <a:t>Data Mining: Confluence of Multiple Disciplines</a:t>
            </a:r>
          </a:p>
          <a:p>
            <a:pPr>
              <a:spcBef>
                <a:spcPts val="1200"/>
              </a:spcBef>
              <a:spcAft>
                <a:spcPts val="600"/>
              </a:spcAft>
              <a:tabLst>
                <a:tab pos="6178550" algn="l"/>
              </a:tabLst>
            </a:pPr>
            <a:r>
              <a:rPr lang="en-US" b="1" i="0" u="none" strike="noStrike" baseline="0" dirty="0"/>
              <a:t>Data Mining and Applications</a:t>
            </a:r>
          </a:p>
          <a:p>
            <a:pPr>
              <a:spcBef>
                <a:spcPts val="1200"/>
              </a:spcBef>
              <a:spcAft>
                <a:spcPts val="600"/>
              </a:spcAft>
              <a:tabLst>
                <a:tab pos="6178550" algn="l"/>
              </a:tabLst>
            </a:pPr>
            <a:r>
              <a:rPr lang="en-US" b="1" i="0" u="none" strike="noStrike" baseline="0" dirty="0"/>
              <a:t>Data Mining and Society</a:t>
            </a:r>
          </a:p>
          <a:p>
            <a:pPr>
              <a:spcBef>
                <a:spcPts val="1200"/>
              </a:spcBef>
              <a:spcAft>
                <a:spcPts val="600"/>
              </a:spcAft>
              <a:tabLst>
                <a:tab pos="6178550" algn="l"/>
              </a:tabLst>
            </a:pPr>
            <a:r>
              <a:rPr lang="en-US" b="1" i="0" u="none" strike="noStrike" baseline="0" dirty="0"/>
              <a:t>Summary</a:t>
            </a:r>
            <a:endParaRPr lang="en-US" altLang="en-US" b="1" dirty="0"/>
          </a:p>
        </p:txBody>
      </p:sp>
    </p:spTree>
    <p:extLst>
      <p:ext uri="{BB962C8B-B14F-4D97-AF65-F5344CB8AC3E}">
        <p14:creationId xmlns:p14="http://schemas.microsoft.com/office/powerpoint/2010/main" val="3670404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0" y="300039"/>
            <a:ext cx="12192000" cy="619125"/>
          </a:xfrm>
          <a:noFill/>
        </p:spPr>
        <p:txBody>
          <a:bodyPr vert="horz" lIns="92075" tIns="46038" rIns="92075" bIns="46038" rtlCol="0" anchor="ctr">
            <a:noAutofit/>
          </a:bodyPr>
          <a:lstStyle/>
          <a:p>
            <a:pPr>
              <a:spcBef>
                <a:spcPts val="1200"/>
              </a:spcBef>
              <a:spcAft>
                <a:spcPts val="600"/>
              </a:spcAft>
              <a:tabLst>
                <a:tab pos="6178550" algn="l"/>
              </a:tabLst>
            </a:pPr>
            <a:r>
              <a:rPr lang="en-US" altLang="en-US" sz="4000" b="1" dirty="0"/>
              <a:t>What Is Data Mining?</a:t>
            </a:r>
          </a:p>
        </p:txBody>
      </p:sp>
      <p:sp>
        <p:nvSpPr>
          <p:cNvPr id="19460" name="Rectangle 3"/>
          <p:cNvSpPr>
            <a:spLocks noGrp="1" noChangeArrowheads="1"/>
          </p:cNvSpPr>
          <p:nvPr>
            <p:ph type="body" idx="1"/>
          </p:nvPr>
        </p:nvSpPr>
        <p:spPr>
          <a:xfrm>
            <a:off x="609599" y="1241969"/>
            <a:ext cx="11132746" cy="5212976"/>
          </a:xfrm>
          <a:noFill/>
        </p:spPr>
        <p:txBody>
          <a:bodyPr vert="horz" lIns="92075" tIns="46038" rIns="92075" bIns="46038" rtlCol="0">
            <a:noAutofit/>
          </a:bodyPr>
          <a:lstStyle/>
          <a:p>
            <a:pPr eaLnBrk="1" hangingPunct="1">
              <a:spcAft>
                <a:spcPts val="600"/>
              </a:spcAft>
            </a:pPr>
            <a:r>
              <a:rPr lang="en-US" sz="2400" b="0" i="0" u="none" strike="noStrike" baseline="0" dirty="0"/>
              <a:t>We live in a world where vast amounts of data are generated constantly and rapidly</a:t>
            </a:r>
          </a:p>
          <a:p>
            <a:pPr algn="l"/>
            <a:r>
              <a:rPr lang="en-US" sz="2400" b="1" u="none" strike="noStrike" baseline="0" dirty="0"/>
              <a:t>Data mining </a:t>
            </a:r>
            <a:r>
              <a:rPr lang="en-US" sz="2400" b="0" u="none" strike="noStrike" baseline="0" dirty="0"/>
              <a:t>is the process of discovering interesting patterns, models and other kinds of knowledge in large data sets</a:t>
            </a:r>
          </a:p>
          <a:p>
            <a:pPr lvl="1">
              <a:spcAft>
                <a:spcPts val="600"/>
              </a:spcAft>
            </a:pPr>
            <a:r>
              <a:rPr lang="en-US" altLang="en-US" sz="2400" dirty="0"/>
              <a:t>“Data mining”: a misnomer? It should be </a:t>
            </a:r>
            <a:r>
              <a:rPr lang="en-US" sz="2400" b="0" i="0" u="none" strike="noStrike" baseline="0" dirty="0"/>
              <a:t>“knowledge mining from data”</a:t>
            </a:r>
          </a:p>
          <a:p>
            <a:pPr lvl="1"/>
            <a:r>
              <a:rPr lang="en-US" altLang="en-US" sz="2400" dirty="0"/>
              <a:t>Other terms: </a:t>
            </a:r>
            <a:r>
              <a:rPr lang="en-US" sz="2400" b="0" i="1" u="none" strike="noStrike" baseline="0" dirty="0"/>
              <a:t>Knowledge</a:t>
            </a:r>
            <a:r>
              <a:rPr lang="en-US" sz="2400" i="1" dirty="0"/>
              <a:t> </a:t>
            </a:r>
            <a:r>
              <a:rPr lang="en-US" sz="2400" b="0" i="1" u="none" strike="noStrike" baseline="0" dirty="0"/>
              <a:t>mining from data</a:t>
            </a:r>
            <a:r>
              <a:rPr lang="en-US" sz="2400" b="0" i="0" u="none" strike="noStrike" baseline="0" dirty="0"/>
              <a:t>, </a:t>
            </a:r>
            <a:r>
              <a:rPr lang="en-US" sz="2400" b="0" i="1" u="none" strike="noStrike" baseline="0" dirty="0"/>
              <a:t>KDD </a:t>
            </a:r>
            <a:r>
              <a:rPr lang="en-US" sz="2400" b="0" u="none" strike="noStrike" baseline="0" dirty="0"/>
              <a:t>(</a:t>
            </a:r>
            <a:r>
              <a:rPr lang="en-US" sz="2400" b="0" i="1" u="none" strike="noStrike" baseline="0" dirty="0"/>
              <a:t>Knowledge Discovery from Data</a:t>
            </a:r>
            <a:r>
              <a:rPr lang="en-US" sz="2400" b="0" u="none" strike="noStrike" baseline="0" dirty="0"/>
              <a:t>)</a:t>
            </a:r>
            <a:r>
              <a:rPr lang="en-US" sz="2400" b="0" i="0" u="none" strike="noStrike" baseline="0" dirty="0"/>
              <a:t>, </a:t>
            </a:r>
            <a:r>
              <a:rPr lang="en-US" sz="2400" b="0" i="1" u="none" strike="noStrike" baseline="0" dirty="0"/>
              <a:t>pattern discovery</a:t>
            </a:r>
            <a:r>
              <a:rPr lang="en-US" sz="2400" b="0" i="0" u="none" strike="noStrike" baseline="0" dirty="0"/>
              <a:t>, </a:t>
            </a:r>
            <a:r>
              <a:rPr lang="en-US" sz="2400" b="0" i="1" u="none" strike="noStrike" baseline="0" dirty="0"/>
              <a:t>knowledge extraction</a:t>
            </a:r>
            <a:r>
              <a:rPr lang="en-US" sz="2400" b="0" i="0" u="none" strike="noStrike" baseline="0" dirty="0"/>
              <a:t>, </a:t>
            </a:r>
            <a:r>
              <a:rPr lang="en-US" sz="2400" b="0" i="1" u="none" strike="noStrike" baseline="0" dirty="0"/>
              <a:t>data analytics</a:t>
            </a:r>
            <a:r>
              <a:rPr lang="en-US" sz="2400" b="0" i="0" u="none" strike="noStrike" baseline="0" dirty="0"/>
              <a:t>, </a:t>
            </a:r>
            <a:r>
              <a:rPr lang="en-US" sz="2400" b="0" i="1" u="none" strike="noStrike" baseline="0" dirty="0"/>
              <a:t>information harvesting</a:t>
            </a:r>
            <a:r>
              <a:rPr lang="en-US" sz="2400" b="0" i="0" u="none" strike="noStrike" baseline="0" dirty="0"/>
              <a:t> </a:t>
            </a:r>
            <a:endParaRPr lang="en-US" altLang="en-US" sz="2400" dirty="0"/>
          </a:p>
          <a:p>
            <a:pPr>
              <a:spcAft>
                <a:spcPts val="600"/>
              </a:spcAft>
            </a:pPr>
            <a:r>
              <a:rPr lang="en-US" sz="2400" b="0" i="0" u="none" strike="noStrike" baseline="0" dirty="0"/>
              <a:t>Data mining is a young, dynamic, and promising field</a:t>
            </a:r>
            <a:endParaRPr lang="en-GB" altLang="en-US" sz="2400" dirty="0"/>
          </a:p>
          <a:p>
            <a:pPr algn="l"/>
            <a:r>
              <a:rPr lang="en-US" altLang="en-US" sz="2400" dirty="0"/>
              <a:t>Example: </a:t>
            </a:r>
            <a:r>
              <a:rPr lang="en-US" sz="2400" i="0" u="none" strike="noStrike" baseline="0" dirty="0">
                <a:solidFill>
                  <a:srgbClr val="000000"/>
                </a:solidFill>
              </a:rPr>
              <a:t>Data mining turns a large collection of data into knowledge</a:t>
            </a:r>
          </a:p>
          <a:p>
            <a:pPr lvl="1"/>
            <a:r>
              <a:rPr lang="en-US" sz="2400" b="0" i="0" u="none" strike="noStrike" baseline="0" dirty="0">
                <a:solidFill>
                  <a:srgbClr val="000000"/>
                </a:solidFill>
              </a:rPr>
              <a:t>Google’s </a:t>
            </a:r>
            <a:r>
              <a:rPr lang="en-US" sz="2400" b="0" i="1" u="none" strike="noStrike" baseline="0" dirty="0">
                <a:solidFill>
                  <a:srgbClr val="000000"/>
                </a:solidFill>
              </a:rPr>
              <a:t>Flu Trends </a:t>
            </a:r>
            <a:r>
              <a:rPr lang="en-US" sz="2400" b="0" i="0" u="none" strike="noStrike" baseline="0" dirty="0">
                <a:solidFill>
                  <a:srgbClr val="000000"/>
                </a:solidFill>
              </a:rPr>
              <a:t>found a close relationship between the number of people who search for flu-related info. and the number of people who have flu symptoms</a:t>
            </a:r>
          </a:p>
          <a:p>
            <a:pPr lvl="2"/>
            <a:r>
              <a:rPr lang="en-US" sz="2400" b="0" u="none" strike="noStrike" baseline="0" dirty="0">
                <a:solidFill>
                  <a:srgbClr val="000000"/>
                </a:solidFill>
              </a:rPr>
              <a:t>It</a:t>
            </a:r>
            <a:r>
              <a:rPr lang="en-US" sz="2400" b="0" i="1" u="none" strike="noStrike" baseline="0" dirty="0">
                <a:solidFill>
                  <a:srgbClr val="000000"/>
                </a:solidFill>
              </a:rPr>
              <a:t> </a:t>
            </a:r>
            <a:r>
              <a:rPr lang="en-US" sz="2400" b="0" i="0" u="none" strike="noStrike" baseline="0" dirty="0">
                <a:solidFill>
                  <a:srgbClr val="000000"/>
                </a:solidFill>
              </a:rPr>
              <a:t>can estimate flu activity up to two weeks faster than traditional systems </a:t>
            </a:r>
            <a:endParaRPr lang="en-US" altLang="en-US" sz="2400" dirty="0"/>
          </a:p>
        </p:txBody>
      </p:sp>
    </p:spTree>
    <p:extLst>
      <p:ext uri="{BB962C8B-B14F-4D97-AF65-F5344CB8AC3E}">
        <p14:creationId xmlns:p14="http://schemas.microsoft.com/office/powerpoint/2010/main" val="2181736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9AAC9553-2A0F-AA2E-9E9A-CA15509D6E1C}"/>
              </a:ext>
            </a:extLst>
          </p:cNvPr>
          <p:cNvPicPr>
            <a:picLocks noChangeAspect="1"/>
          </p:cNvPicPr>
          <p:nvPr/>
        </p:nvPicPr>
        <p:blipFill>
          <a:blip r:embed="rId3"/>
          <a:stretch>
            <a:fillRect/>
          </a:stretch>
        </p:blipFill>
        <p:spPr>
          <a:xfrm>
            <a:off x="280660" y="1206690"/>
            <a:ext cx="8981039" cy="5330051"/>
          </a:xfrm>
          <a:prstGeom prst="rect">
            <a:avLst/>
          </a:prstGeom>
        </p:spPr>
      </p:pic>
      <p:sp>
        <p:nvSpPr>
          <p:cNvPr id="21507" name="Rectangle 2"/>
          <p:cNvSpPr>
            <a:spLocks noGrp="1" noChangeArrowheads="1"/>
          </p:cNvSpPr>
          <p:nvPr>
            <p:ph type="title"/>
          </p:nvPr>
        </p:nvSpPr>
        <p:spPr>
          <a:xfrm>
            <a:off x="0" y="221676"/>
            <a:ext cx="12191999" cy="738909"/>
          </a:xfrm>
        </p:spPr>
        <p:txBody>
          <a:bodyPr>
            <a:noAutofit/>
          </a:bodyPr>
          <a:lstStyle/>
          <a:p>
            <a:pPr eaLnBrk="1" hangingPunct="1"/>
            <a:r>
              <a:rPr lang="en-US" altLang="en-US" sz="3600" b="1" dirty="0"/>
              <a:t>Data Mining: An Essential Step in Knowledge Discovery</a:t>
            </a:r>
            <a:endParaRPr lang="en-US" altLang="en-US" sz="3600" dirty="0"/>
          </a:p>
        </p:txBody>
      </p:sp>
      <p:sp>
        <p:nvSpPr>
          <p:cNvPr id="21508" name="Rectangle 3"/>
          <p:cNvSpPr>
            <a:spLocks noGrp="1" noChangeArrowheads="1"/>
          </p:cNvSpPr>
          <p:nvPr>
            <p:ph type="body" idx="1"/>
          </p:nvPr>
        </p:nvSpPr>
        <p:spPr>
          <a:xfrm>
            <a:off x="7528458" y="2009747"/>
            <a:ext cx="4476438" cy="4626577"/>
          </a:xfrm>
        </p:spPr>
        <p:txBody>
          <a:bodyPr/>
          <a:lstStyle/>
          <a:p>
            <a:pPr>
              <a:spcAft>
                <a:spcPts val="600"/>
              </a:spcAft>
            </a:pPr>
            <a:r>
              <a:rPr lang="en-US" altLang="en-US" sz="2400" dirty="0"/>
              <a:t>Knowledge Discovery Process</a:t>
            </a:r>
          </a:p>
          <a:p>
            <a:pPr lvl="1" eaLnBrk="1" hangingPunct="1">
              <a:lnSpc>
                <a:spcPct val="100000"/>
              </a:lnSpc>
              <a:spcAft>
                <a:spcPts val="600"/>
              </a:spcAft>
            </a:pPr>
            <a:r>
              <a:rPr lang="en-US" altLang="en-US" sz="2400" dirty="0"/>
              <a:t>Data preparation</a:t>
            </a:r>
          </a:p>
          <a:p>
            <a:pPr lvl="2">
              <a:spcAft>
                <a:spcPts val="600"/>
              </a:spcAft>
            </a:pPr>
            <a:r>
              <a:rPr lang="en-US" altLang="en-US" sz="2400" dirty="0"/>
              <a:t>Data cleaning </a:t>
            </a:r>
          </a:p>
          <a:p>
            <a:pPr lvl="2">
              <a:spcAft>
                <a:spcPts val="600"/>
              </a:spcAft>
            </a:pPr>
            <a:r>
              <a:rPr lang="en-US" altLang="en-US" sz="2400" dirty="0"/>
              <a:t>Data integration  </a:t>
            </a:r>
          </a:p>
          <a:p>
            <a:pPr lvl="2">
              <a:spcAft>
                <a:spcPts val="600"/>
              </a:spcAft>
            </a:pPr>
            <a:r>
              <a:rPr lang="en-US" altLang="en-US" sz="2400" dirty="0"/>
              <a:t>Data transformation </a:t>
            </a:r>
          </a:p>
          <a:p>
            <a:pPr lvl="2">
              <a:spcAft>
                <a:spcPts val="600"/>
              </a:spcAft>
            </a:pPr>
            <a:r>
              <a:rPr lang="en-US" altLang="en-US" sz="2400" dirty="0"/>
              <a:t>Data selection  </a:t>
            </a:r>
          </a:p>
          <a:p>
            <a:pPr lvl="1" eaLnBrk="1" hangingPunct="1">
              <a:lnSpc>
                <a:spcPct val="100000"/>
              </a:lnSpc>
              <a:spcAft>
                <a:spcPts val="600"/>
              </a:spcAft>
            </a:pPr>
            <a:r>
              <a:rPr lang="en-US" altLang="en-US" sz="2400" dirty="0"/>
              <a:t>Data mining  </a:t>
            </a:r>
          </a:p>
          <a:p>
            <a:pPr lvl="1" eaLnBrk="1" hangingPunct="1">
              <a:lnSpc>
                <a:spcPct val="100000"/>
              </a:lnSpc>
              <a:spcAft>
                <a:spcPts val="600"/>
              </a:spcAft>
            </a:pPr>
            <a:r>
              <a:rPr lang="en-US" altLang="en-US" sz="2400" dirty="0"/>
              <a:t>Pattern/model evaluation  </a:t>
            </a:r>
          </a:p>
          <a:p>
            <a:pPr lvl="1" eaLnBrk="1" hangingPunct="1">
              <a:lnSpc>
                <a:spcPct val="100000"/>
              </a:lnSpc>
              <a:spcAft>
                <a:spcPts val="600"/>
              </a:spcAft>
            </a:pPr>
            <a:r>
              <a:rPr lang="en-US" altLang="en-US" sz="2400" dirty="0"/>
              <a:t>Knowledge presentation </a:t>
            </a:r>
          </a:p>
        </p:txBody>
      </p:sp>
    </p:spTree>
    <p:extLst>
      <p:ext uri="{BB962C8B-B14F-4D97-AF65-F5344CB8AC3E}">
        <p14:creationId xmlns:p14="http://schemas.microsoft.com/office/powerpoint/2010/main" val="1747126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normAutofit/>
          </a:bodyPr>
          <a:lstStyle/>
          <a:p>
            <a:pPr>
              <a:spcBef>
                <a:spcPts val="1200"/>
              </a:spcBef>
              <a:spcAft>
                <a:spcPts val="600"/>
              </a:spcAft>
              <a:tabLst>
                <a:tab pos="6178550" algn="l"/>
              </a:tabLst>
            </a:pPr>
            <a:r>
              <a:rPr lang="en-US" altLang="en-US" sz="4000" b="1" dirty="0"/>
              <a:t>Diversity of Data Types for Data Mining (I)</a:t>
            </a:r>
          </a:p>
        </p:txBody>
      </p:sp>
      <p:sp>
        <p:nvSpPr>
          <p:cNvPr id="24580" name="Rectangle 3"/>
          <p:cNvSpPr>
            <a:spLocks noGrp="1" noChangeArrowheads="1"/>
          </p:cNvSpPr>
          <p:nvPr>
            <p:ph type="body" idx="1"/>
          </p:nvPr>
        </p:nvSpPr>
        <p:spPr>
          <a:xfrm>
            <a:off x="473885" y="1118104"/>
            <a:ext cx="11087390" cy="5703683"/>
          </a:xfrm>
        </p:spPr>
        <p:txBody>
          <a:bodyPr/>
          <a:lstStyle/>
          <a:p>
            <a:pPr>
              <a:spcAft>
                <a:spcPts val="300"/>
              </a:spcAft>
            </a:pPr>
            <a:r>
              <a:rPr lang="en-US" sz="2200" b="1" i="0" u="none" strike="noStrike" baseline="0" dirty="0"/>
              <a:t>Structured vs. unstructured data</a:t>
            </a:r>
          </a:p>
          <a:p>
            <a:pPr lvl="1"/>
            <a:r>
              <a:rPr lang="en-US" sz="2200" i="1" u="none" strike="noStrike" baseline="0" dirty="0"/>
              <a:t>Structured</a:t>
            </a:r>
            <a:r>
              <a:rPr lang="en-US" sz="2200" i="0" u="none" strike="noStrike" baseline="0" dirty="0"/>
              <a:t>: </a:t>
            </a:r>
            <a:r>
              <a:rPr lang="en-US" sz="2200" b="0" i="0" u="none" strike="noStrike" baseline="0" dirty="0"/>
              <a:t>uniform, record- or table-like structures, defined by data dictionaries, with a fixed set of attributes, each with a fixed set of value ranges and semantic meaning</a:t>
            </a:r>
          </a:p>
          <a:p>
            <a:pPr lvl="2"/>
            <a:r>
              <a:rPr lang="en-US" sz="2200" b="0" i="0" u="none" strike="noStrike" baseline="0" dirty="0"/>
              <a:t>Ex. Data stored in </a:t>
            </a:r>
            <a:r>
              <a:rPr lang="en-US" sz="2200" b="0" i="1" u="none" strike="noStrike" baseline="0" dirty="0"/>
              <a:t>relational databases</a:t>
            </a:r>
            <a:r>
              <a:rPr lang="en-US" sz="2200" b="0" i="0" u="none" strike="noStrike" baseline="0" dirty="0"/>
              <a:t>, </a:t>
            </a:r>
            <a:r>
              <a:rPr lang="en-US" sz="2200" b="0" i="1" u="none" strike="noStrike" baseline="0" dirty="0"/>
              <a:t>data cubes</a:t>
            </a:r>
            <a:r>
              <a:rPr lang="en-US" sz="2200" b="0" i="0" u="none" strike="noStrike" baseline="0" dirty="0"/>
              <a:t>, </a:t>
            </a:r>
            <a:r>
              <a:rPr lang="en-US" sz="2200" b="0" i="1" u="none" strike="noStrike" baseline="0" dirty="0"/>
              <a:t>data matrices</a:t>
            </a:r>
            <a:r>
              <a:rPr lang="en-US" sz="2200" b="0" i="0" u="none" strike="noStrike" baseline="0" dirty="0"/>
              <a:t>, and many </a:t>
            </a:r>
            <a:r>
              <a:rPr lang="en-US" sz="2200" b="0" i="1" u="none" strike="noStrike" baseline="0" dirty="0"/>
              <a:t>data warehouses</a:t>
            </a:r>
            <a:r>
              <a:rPr lang="en-US" sz="2200" b="0" i="0" u="none" strike="noStrike" baseline="0" dirty="0"/>
              <a:t> </a:t>
            </a:r>
          </a:p>
          <a:p>
            <a:pPr lvl="1"/>
            <a:r>
              <a:rPr lang="en-US" sz="2200" b="0" i="1" u="none" strike="noStrike" baseline="0" dirty="0"/>
              <a:t>Semi-structured</a:t>
            </a:r>
            <a:r>
              <a:rPr lang="en-US" sz="2200" b="0" i="0" u="none" strike="noStrike" baseline="0" dirty="0"/>
              <a:t>: allow</a:t>
            </a:r>
            <a:r>
              <a:rPr lang="en-US" sz="2200" dirty="0"/>
              <a:t> </a:t>
            </a:r>
            <a:r>
              <a:rPr lang="en-US" sz="2200" b="0" i="0" u="none" strike="noStrike" baseline="0" dirty="0"/>
              <a:t>a data object to contain a set value, a small set of heterogeneous typed values, or nested structures, or to allow the structure of objects or sub-objects to be defined flexibly and dynamically  </a:t>
            </a:r>
          </a:p>
          <a:p>
            <a:pPr lvl="1"/>
            <a:r>
              <a:rPr lang="en-US" sz="2200" b="0" i="0" u="none" strike="noStrike" baseline="0" dirty="0"/>
              <a:t>Data having </a:t>
            </a:r>
            <a:r>
              <a:rPr lang="en-US" sz="2200" b="0" i="1" u="none" strike="noStrike" baseline="0" dirty="0"/>
              <a:t>certain structures </a:t>
            </a:r>
            <a:r>
              <a:rPr lang="en-US" sz="2200" b="0" i="0" u="none" strike="noStrike" baseline="0" dirty="0"/>
              <a:t>with clearly defined semantic meaning, such as </a:t>
            </a:r>
            <a:r>
              <a:rPr lang="en-US" sz="2200" b="0" i="1" u="none" strike="noStrike" baseline="0" dirty="0"/>
              <a:t>transactional data set, sequence data set </a:t>
            </a:r>
            <a:r>
              <a:rPr lang="en-US" sz="2200" b="0" i="0" u="none" strike="noStrike" baseline="0" dirty="0"/>
              <a:t>(e.g., time-series data, gene or protein data, or Weblog data)</a:t>
            </a:r>
          </a:p>
          <a:p>
            <a:pPr lvl="1"/>
            <a:r>
              <a:rPr lang="en-US" sz="2200" b="0" i="1" u="none" strike="noStrike" baseline="0" dirty="0"/>
              <a:t>Graph or network data:  </a:t>
            </a:r>
            <a:r>
              <a:rPr lang="en-US" sz="2200" b="0" i="0" u="none" strike="noStrike" baseline="0" dirty="0"/>
              <a:t>A more sophisticated type of semi-structured data set</a:t>
            </a:r>
            <a:endParaRPr lang="en-US" sz="2200" b="0" i="1" u="none" strike="noStrike" baseline="0" dirty="0"/>
          </a:p>
          <a:p>
            <a:pPr lvl="1"/>
            <a:r>
              <a:rPr lang="en-US" sz="2200" b="0" i="1" u="none" strike="noStrike" baseline="0" dirty="0"/>
              <a:t>Unstructured data</a:t>
            </a:r>
            <a:r>
              <a:rPr lang="en-US" sz="2200" b="0" i="0" u="none" strike="noStrike" baseline="0" dirty="0"/>
              <a:t>: text data and multimedia (</a:t>
            </a:r>
            <a:r>
              <a:rPr lang="en-US" sz="2200" b="0" i="1" u="none" strike="noStrike" baseline="0" dirty="0"/>
              <a:t>e.g.</a:t>
            </a:r>
            <a:r>
              <a:rPr lang="en-US" sz="2200" b="0" i="0" u="none" strike="noStrike" baseline="0" dirty="0"/>
              <a:t>, audio, image, video) data</a:t>
            </a:r>
          </a:p>
          <a:p>
            <a:pPr algn="l"/>
            <a:r>
              <a:rPr lang="en-US" sz="2200" b="0" i="0" u="none" strike="noStrike" baseline="0" dirty="0"/>
              <a:t>The real-world data can often be a mixture of structured, semi-structured data and unstructured data</a:t>
            </a:r>
          </a:p>
        </p:txBody>
      </p:sp>
    </p:spTree>
    <p:extLst>
      <p:ext uri="{BB962C8B-B14F-4D97-AF65-F5344CB8AC3E}">
        <p14:creationId xmlns:p14="http://schemas.microsoft.com/office/powerpoint/2010/main" val="3366847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normAutofit/>
          </a:bodyPr>
          <a:lstStyle/>
          <a:p>
            <a:pPr>
              <a:spcBef>
                <a:spcPts val="1200"/>
              </a:spcBef>
              <a:spcAft>
                <a:spcPts val="600"/>
              </a:spcAft>
              <a:tabLst>
                <a:tab pos="6178550" algn="l"/>
              </a:tabLst>
            </a:pPr>
            <a:r>
              <a:rPr lang="en-US" altLang="en-US" sz="4000" b="1" dirty="0"/>
              <a:t>Diversity of Data Types for Data Mining (II)</a:t>
            </a:r>
          </a:p>
        </p:txBody>
      </p:sp>
      <p:sp>
        <p:nvSpPr>
          <p:cNvPr id="24580" name="Rectangle 3"/>
          <p:cNvSpPr>
            <a:spLocks noGrp="1" noChangeArrowheads="1"/>
          </p:cNvSpPr>
          <p:nvPr>
            <p:ph type="body" idx="1"/>
          </p:nvPr>
        </p:nvSpPr>
        <p:spPr>
          <a:xfrm>
            <a:off x="350985" y="1140737"/>
            <a:ext cx="11247063" cy="5495587"/>
          </a:xfrm>
        </p:spPr>
        <p:txBody>
          <a:bodyPr/>
          <a:lstStyle/>
          <a:p>
            <a:pPr>
              <a:spcAft>
                <a:spcPts val="300"/>
              </a:spcAft>
            </a:pPr>
            <a:r>
              <a:rPr lang="en-US" sz="2200" b="1" i="0" u="none" strike="noStrike" baseline="0" dirty="0"/>
              <a:t>Data associated with different applications</a:t>
            </a:r>
          </a:p>
          <a:p>
            <a:pPr lvl="1"/>
            <a:r>
              <a:rPr lang="en-US" sz="2200" b="0" i="0" u="none" strike="noStrike" baseline="0" dirty="0"/>
              <a:t>Different applications: different data sets and require different data analysis methods</a:t>
            </a:r>
          </a:p>
          <a:p>
            <a:pPr lvl="2"/>
            <a:r>
              <a:rPr lang="en-US" sz="2200" b="0" i="0" u="none" strike="noStrike" baseline="0" dirty="0"/>
              <a:t>Sequence data:</a:t>
            </a:r>
            <a:r>
              <a:rPr lang="en-US" sz="2200" dirty="0"/>
              <a:t> </a:t>
            </a:r>
            <a:r>
              <a:rPr lang="en-US" sz="2200" b="0" i="1" u="none" strike="noStrike" baseline="0" dirty="0"/>
              <a:t>Biological sequences</a:t>
            </a:r>
            <a:r>
              <a:rPr lang="en-US" sz="2200" b="0" i="0" u="none" strike="noStrike" baseline="0" dirty="0"/>
              <a:t> vs. </a:t>
            </a:r>
            <a:r>
              <a:rPr lang="en-US" sz="2200" b="0" i="1" u="none" strike="noStrike" baseline="0" dirty="0"/>
              <a:t>shopping transaction sequences</a:t>
            </a:r>
          </a:p>
          <a:p>
            <a:pPr lvl="2"/>
            <a:r>
              <a:rPr lang="en-US" sz="2200" b="0" i="1" u="none" strike="noStrike" baseline="0" dirty="0"/>
              <a:t>Time-series: </a:t>
            </a:r>
            <a:r>
              <a:rPr lang="en-US" sz="2200" b="0" i="0" u="none" strike="noStrike" baseline="0" dirty="0"/>
              <a:t>ordered set of numerical values with equal time interval</a:t>
            </a:r>
          </a:p>
          <a:p>
            <a:pPr lvl="2"/>
            <a:r>
              <a:rPr lang="en-US" sz="2200" b="0" i="1" u="none" strike="noStrike" baseline="0" dirty="0"/>
              <a:t>Spatial, temporal and spatiotemporal data</a:t>
            </a:r>
          </a:p>
          <a:p>
            <a:pPr lvl="2"/>
            <a:r>
              <a:rPr lang="en-US" sz="2200" dirty="0"/>
              <a:t>G</a:t>
            </a:r>
            <a:r>
              <a:rPr lang="en-US" sz="2200" b="0" i="0" u="none" strike="noStrike" baseline="0" dirty="0"/>
              <a:t>raph and network data: Social networks, computer communication networks, biological networks, and information networks may carry rather different semantics</a:t>
            </a:r>
          </a:p>
          <a:p>
            <a:pPr lvl="1"/>
            <a:r>
              <a:rPr lang="en-US" sz="2200" b="0" i="0" u="none" strike="noStrike" baseline="0" dirty="0"/>
              <a:t>On the same data set, finding different kinds of patterns: require different mining methods</a:t>
            </a:r>
          </a:p>
          <a:p>
            <a:pPr lvl="2"/>
            <a:r>
              <a:rPr lang="en-US" sz="2200" dirty="0"/>
              <a:t>Ex. </a:t>
            </a:r>
            <a:r>
              <a:rPr lang="en-US" sz="2200" b="0" i="0" u="none" strike="noStrike" baseline="0" dirty="0"/>
              <a:t>software programs:  finding plagiarized modules vs. finding copy-and-paste bugs</a:t>
            </a:r>
          </a:p>
          <a:p>
            <a:pPr>
              <a:spcAft>
                <a:spcPts val="300"/>
              </a:spcAft>
            </a:pPr>
            <a:r>
              <a:rPr lang="en-US" sz="2200" b="1" i="0" u="none" strike="noStrike" baseline="0" dirty="0"/>
              <a:t>Stored vs. streaming data</a:t>
            </a:r>
          </a:p>
          <a:p>
            <a:pPr lvl="1"/>
            <a:r>
              <a:rPr lang="en-US" sz="2200" dirty="0"/>
              <a:t>S</a:t>
            </a:r>
            <a:r>
              <a:rPr lang="en-US" sz="2200" b="0" i="0" u="none" strike="noStrike" baseline="0" dirty="0"/>
              <a:t>tored data: Finite, stored in various kinds of large data repositories</a:t>
            </a:r>
          </a:p>
          <a:p>
            <a:pPr lvl="1"/>
            <a:r>
              <a:rPr lang="en-US" sz="2200" dirty="0"/>
              <a:t>Streaming data (e.g., </a:t>
            </a:r>
            <a:r>
              <a:rPr lang="en-US" sz="2200" b="0" i="0" u="none" strike="noStrike" baseline="0" dirty="0"/>
              <a:t>video surveillance or remote sensing): Dynamic, constantly coming, infinite</a:t>
            </a:r>
            <a:r>
              <a:rPr lang="en-US" sz="2200" b="0" u="none" strike="noStrike" baseline="0" dirty="0"/>
              <a:t>, real-time response</a:t>
            </a:r>
            <a:r>
              <a:rPr lang="en-US" sz="2200" b="0" u="none" strike="noStrike" baseline="0" dirty="0">
                <a:cs typeface="Calibri" panose="020F0502020204030204" pitchFamily="34" charset="0"/>
              </a:rPr>
              <a:t>―posing challenges on effective data mining</a:t>
            </a:r>
            <a:endParaRPr lang="en-US" altLang="en-US" sz="2200" dirty="0"/>
          </a:p>
        </p:txBody>
      </p:sp>
    </p:spTree>
    <p:extLst>
      <p:ext uri="{BB962C8B-B14F-4D97-AF65-F5344CB8AC3E}">
        <p14:creationId xmlns:p14="http://schemas.microsoft.com/office/powerpoint/2010/main" val="3379497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normAutofit/>
          </a:bodyPr>
          <a:lstStyle/>
          <a:p>
            <a:pPr>
              <a:spcBef>
                <a:spcPts val="1200"/>
              </a:spcBef>
              <a:spcAft>
                <a:spcPts val="600"/>
              </a:spcAft>
              <a:tabLst>
                <a:tab pos="6178550" algn="l"/>
              </a:tabLst>
            </a:pPr>
            <a:r>
              <a:rPr lang="en-US" sz="4000" b="1" i="0" u="none" strike="noStrike" baseline="0" dirty="0"/>
              <a:t>Mining Various Kinds of Knowledge</a:t>
            </a:r>
          </a:p>
        </p:txBody>
      </p:sp>
      <p:sp>
        <p:nvSpPr>
          <p:cNvPr id="24580" name="Rectangle 3"/>
          <p:cNvSpPr>
            <a:spLocks noGrp="1" noChangeArrowheads="1"/>
          </p:cNvSpPr>
          <p:nvPr>
            <p:ph type="body" idx="1"/>
          </p:nvPr>
        </p:nvSpPr>
        <p:spPr>
          <a:xfrm>
            <a:off x="588475" y="1140737"/>
            <a:ext cx="11009573" cy="5495587"/>
          </a:xfrm>
        </p:spPr>
        <p:txBody>
          <a:bodyPr/>
          <a:lstStyle/>
          <a:p>
            <a:pPr>
              <a:lnSpc>
                <a:spcPct val="150000"/>
              </a:lnSpc>
              <a:spcAft>
                <a:spcPts val="600"/>
              </a:spcAft>
            </a:pPr>
            <a:r>
              <a:rPr lang="en-US" sz="2400" b="1" i="0" u="none" strike="noStrike" baseline="0" dirty="0"/>
              <a:t>Multidimensional Data Summarization</a:t>
            </a:r>
          </a:p>
          <a:p>
            <a:pPr>
              <a:lnSpc>
                <a:spcPct val="150000"/>
              </a:lnSpc>
              <a:spcAft>
                <a:spcPts val="600"/>
              </a:spcAft>
            </a:pPr>
            <a:r>
              <a:rPr lang="en-US" sz="2400" b="1" i="0" u="none" strike="noStrike" baseline="0" dirty="0"/>
              <a:t>Mining Frequent Patterns, Associations, and Correlations</a:t>
            </a:r>
          </a:p>
          <a:p>
            <a:pPr>
              <a:lnSpc>
                <a:spcPct val="150000"/>
              </a:lnSpc>
              <a:spcAft>
                <a:spcPts val="600"/>
              </a:spcAft>
            </a:pPr>
            <a:r>
              <a:rPr lang="en-US" sz="2400" b="1" i="0" u="none" strike="noStrike" baseline="0" dirty="0"/>
              <a:t>Classification and Regression for Predictive Analysis</a:t>
            </a:r>
          </a:p>
          <a:p>
            <a:pPr>
              <a:lnSpc>
                <a:spcPct val="150000"/>
              </a:lnSpc>
              <a:spcAft>
                <a:spcPts val="600"/>
              </a:spcAft>
            </a:pPr>
            <a:r>
              <a:rPr lang="en-US" sz="2400" b="1" i="0" u="none" strike="noStrike" baseline="0" dirty="0"/>
              <a:t>Cluster Analysis</a:t>
            </a:r>
          </a:p>
          <a:p>
            <a:pPr>
              <a:lnSpc>
                <a:spcPct val="150000"/>
              </a:lnSpc>
              <a:spcAft>
                <a:spcPts val="600"/>
              </a:spcAft>
            </a:pPr>
            <a:r>
              <a:rPr lang="en-US" sz="2400" b="1" i="0" u="none" strike="noStrike" baseline="0" dirty="0"/>
              <a:t>Deep Learning</a:t>
            </a:r>
          </a:p>
          <a:p>
            <a:pPr>
              <a:lnSpc>
                <a:spcPct val="150000"/>
              </a:lnSpc>
              <a:spcAft>
                <a:spcPts val="600"/>
              </a:spcAft>
            </a:pPr>
            <a:r>
              <a:rPr lang="en-US" sz="2400" b="1" i="0" u="none" strike="noStrike" baseline="0" dirty="0"/>
              <a:t>Outlier Analysis</a:t>
            </a:r>
            <a:endParaRPr lang="en-US" sz="2400" b="1" dirty="0"/>
          </a:p>
          <a:p>
            <a:pPr>
              <a:lnSpc>
                <a:spcPct val="150000"/>
              </a:lnSpc>
              <a:spcAft>
                <a:spcPts val="600"/>
              </a:spcAft>
            </a:pPr>
            <a:r>
              <a:rPr lang="en-US" sz="2400" b="1" i="0" u="none" strike="noStrike" baseline="0" dirty="0"/>
              <a:t>Are All Mining Results Interesting?</a:t>
            </a:r>
            <a:endParaRPr lang="en-US" altLang="en-US" sz="2400" dirty="0"/>
          </a:p>
        </p:txBody>
      </p:sp>
    </p:spTree>
    <p:extLst>
      <p:ext uri="{BB962C8B-B14F-4D97-AF65-F5344CB8AC3E}">
        <p14:creationId xmlns:p14="http://schemas.microsoft.com/office/powerpoint/2010/main" val="1793473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663388" y="142874"/>
            <a:ext cx="10865223" cy="712692"/>
          </a:xfrm>
          <a:noFill/>
        </p:spPr>
        <p:txBody>
          <a:bodyPr vert="horz" lIns="92075" tIns="46038" rIns="92075" bIns="46038" rtlCol="0" anchor="ctr">
            <a:normAutofit fontScale="90000"/>
          </a:bodyPr>
          <a:lstStyle/>
          <a:p>
            <a:pPr>
              <a:lnSpc>
                <a:spcPct val="150000"/>
              </a:lnSpc>
              <a:spcAft>
                <a:spcPts val="600"/>
              </a:spcAft>
            </a:pPr>
            <a:r>
              <a:rPr lang="en-US" sz="4400" b="1" i="0" u="none" strike="noStrike" baseline="0" dirty="0"/>
              <a:t>Multidimensional Data Summarization</a:t>
            </a:r>
          </a:p>
        </p:txBody>
      </p:sp>
      <p:sp>
        <p:nvSpPr>
          <p:cNvPr id="30724" name="Rectangle 3"/>
          <p:cNvSpPr>
            <a:spLocks noGrp="1" noChangeArrowheads="1"/>
          </p:cNvSpPr>
          <p:nvPr>
            <p:ph type="body" idx="1"/>
          </p:nvPr>
        </p:nvSpPr>
        <p:spPr>
          <a:xfrm>
            <a:off x="672353" y="1295400"/>
            <a:ext cx="7826188" cy="5230906"/>
          </a:xfrm>
          <a:noFill/>
        </p:spPr>
        <p:txBody>
          <a:bodyPr vert="horz" lIns="92075" tIns="46038" rIns="92075" bIns="46038" rtlCol="0">
            <a:noAutofit/>
          </a:bodyPr>
          <a:lstStyle/>
          <a:p>
            <a:pPr eaLnBrk="1" hangingPunct="1">
              <a:spcAft>
                <a:spcPts val="600"/>
              </a:spcAft>
            </a:pPr>
            <a:r>
              <a:rPr lang="en-US" altLang="en-US" sz="2400" dirty="0"/>
              <a:t>Information integration and data warehouse construction</a:t>
            </a:r>
          </a:p>
          <a:p>
            <a:pPr lvl="1" eaLnBrk="1" hangingPunct="1">
              <a:spcAft>
                <a:spcPts val="600"/>
              </a:spcAft>
            </a:pPr>
            <a:r>
              <a:rPr lang="en-US" altLang="en-US" sz="2400" dirty="0"/>
              <a:t>Data cleaning, transformation, integration, and multidimensional data model</a:t>
            </a:r>
          </a:p>
          <a:p>
            <a:pPr eaLnBrk="1" hangingPunct="1">
              <a:spcAft>
                <a:spcPts val="600"/>
              </a:spcAft>
            </a:pPr>
            <a:r>
              <a:rPr lang="en-US" altLang="en-US" sz="2400" dirty="0"/>
              <a:t>Data cube technology</a:t>
            </a:r>
          </a:p>
          <a:p>
            <a:pPr lvl="1" eaLnBrk="1" hangingPunct="1">
              <a:spcAft>
                <a:spcPts val="600"/>
              </a:spcAft>
            </a:pPr>
            <a:r>
              <a:rPr lang="en-US" altLang="en-US" sz="2400" dirty="0"/>
              <a:t>Scalable methods for computing (i.e., materializing) multidimensional aggregates</a:t>
            </a:r>
          </a:p>
          <a:p>
            <a:pPr lvl="1" eaLnBrk="1" hangingPunct="1">
              <a:spcAft>
                <a:spcPts val="600"/>
              </a:spcAft>
            </a:pPr>
            <a:r>
              <a:rPr lang="en-US" altLang="en-US" sz="2400" dirty="0"/>
              <a:t>OLAP (online analytical processing)</a:t>
            </a:r>
          </a:p>
          <a:p>
            <a:pPr eaLnBrk="1" hangingPunct="1">
              <a:spcAft>
                <a:spcPts val="600"/>
              </a:spcAft>
            </a:pPr>
            <a:r>
              <a:rPr lang="en-US" altLang="en-US" sz="2400" dirty="0"/>
              <a:t>Multidimensional concept description: Characterization and discrimination</a:t>
            </a:r>
          </a:p>
          <a:p>
            <a:pPr lvl="1" eaLnBrk="1" hangingPunct="1">
              <a:spcAft>
                <a:spcPts val="600"/>
              </a:spcAft>
            </a:pPr>
            <a:r>
              <a:rPr lang="en-US" altLang="en-US" sz="2400" dirty="0"/>
              <a:t>Generalize, summarize, and contrast data characteristics, e.g., dry vs. wet region</a:t>
            </a:r>
          </a:p>
        </p:txBody>
      </p:sp>
      <p:pic>
        <p:nvPicPr>
          <p:cNvPr id="5126" name="Picture 6" descr="http://www.aussurveys.com.au/wp-content/uploads/2013/09/img-cube-graphi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5669" y="1843927"/>
            <a:ext cx="5238750" cy="2981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5938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rrelation plots.png"/>
          <p:cNvPicPr>
            <a:picLocks noChangeAspect="1"/>
          </p:cNvPicPr>
          <p:nvPr/>
        </p:nvPicPr>
        <p:blipFill>
          <a:blip r:embed="rId3"/>
          <a:stretch>
            <a:fillRect/>
          </a:stretch>
        </p:blipFill>
        <p:spPr>
          <a:xfrm>
            <a:off x="2450601" y="2358982"/>
            <a:ext cx="6872694" cy="2341741"/>
          </a:xfrm>
          <a:prstGeom prst="rect">
            <a:avLst/>
          </a:prstGeom>
          <a:ln w="12700">
            <a:miter lim="400000"/>
          </a:ln>
        </p:spPr>
      </p:pic>
      <p:sp>
        <p:nvSpPr>
          <p:cNvPr id="31747" name="Rectangle 2"/>
          <p:cNvSpPr>
            <a:spLocks noGrp="1" noChangeArrowheads="1"/>
          </p:cNvSpPr>
          <p:nvPr>
            <p:ph type="title"/>
          </p:nvPr>
        </p:nvSpPr>
        <p:spPr>
          <a:xfrm>
            <a:off x="0" y="506994"/>
            <a:ext cx="12192000" cy="615635"/>
          </a:xfrm>
          <a:noFill/>
        </p:spPr>
        <p:txBody>
          <a:bodyPr vert="horz" lIns="92075" tIns="46038" rIns="92075" bIns="46038" rtlCol="0" anchor="ctr">
            <a:normAutofit fontScale="90000"/>
          </a:bodyPr>
          <a:lstStyle/>
          <a:p>
            <a:r>
              <a:rPr lang="en-US" altLang="en-US" b="1" dirty="0"/>
              <a:t>Pattern Discovery: </a:t>
            </a:r>
            <a:r>
              <a:rPr lang="en-US" sz="4400" b="1" i="0" u="none" strike="noStrike" baseline="0" dirty="0"/>
              <a:t>Mining Frequent Patterns, Associations, and Correlations</a:t>
            </a:r>
            <a:br>
              <a:rPr lang="en-US" sz="4400" b="1" i="0" u="none" strike="noStrike" baseline="0" dirty="0"/>
            </a:br>
            <a:endParaRPr lang="en-US" altLang="en-US" dirty="0"/>
          </a:p>
        </p:txBody>
      </p:sp>
      <p:sp>
        <p:nvSpPr>
          <p:cNvPr id="31748" name="Rectangle 3"/>
          <p:cNvSpPr>
            <a:spLocks noGrp="1" noChangeArrowheads="1"/>
          </p:cNvSpPr>
          <p:nvPr>
            <p:ph type="body" idx="1"/>
          </p:nvPr>
        </p:nvSpPr>
        <p:spPr>
          <a:xfrm>
            <a:off x="627528" y="1214719"/>
            <a:ext cx="10775577" cy="1636058"/>
          </a:xfrm>
          <a:noFill/>
        </p:spPr>
        <p:txBody>
          <a:bodyPr vert="horz" lIns="92075" tIns="46038" rIns="92075" bIns="46038" rtlCol="0">
            <a:noAutofit/>
          </a:bodyPr>
          <a:lstStyle/>
          <a:p>
            <a:pPr eaLnBrk="1" hangingPunct="1"/>
            <a:r>
              <a:rPr lang="en-US" altLang="en-US" sz="2400" dirty="0"/>
              <a:t>Frequent patterns (or frequent </a:t>
            </a:r>
            <a:r>
              <a:rPr lang="en-US" altLang="en-US" sz="2400" dirty="0" err="1"/>
              <a:t>itemsets</a:t>
            </a:r>
            <a:r>
              <a:rPr lang="en-US" altLang="en-US" sz="2400" dirty="0"/>
              <a:t>)</a:t>
            </a:r>
          </a:p>
          <a:p>
            <a:pPr lvl="1" eaLnBrk="1" hangingPunct="1"/>
            <a:r>
              <a:rPr lang="en-US" altLang="en-US" sz="2400" dirty="0"/>
              <a:t>What items are frequently purchased together in your Walmart?</a:t>
            </a:r>
          </a:p>
          <a:p>
            <a:r>
              <a:rPr lang="en-US" altLang="en-US" sz="2400" dirty="0"/>
              <a:t>Association and Correlation Analysis </a:t>
            </a:r>
          </a:p>
          <a:p>
            <a:pPr>
              <a:spcAft>
                <a:spcPts val="600"/>
              </a:spcAft>
            </a:pPr>
            <a:endParaRPr lang="en-US" altLang="en-US" sz="2400" dirty="0"/>
          </a:p>
        </p:txBody>
      </p:sp>
      <p:sp>
        <p:nvSpPr>
          <p:cNvPr id="5" name="Rectangle 3"/>
          <p:cNvSpPr txBox="1">
            <a:spLocks noChangeArrowheads="1"/>
          </p:cNvSpPr>
          <p:nvPr/>
        </p:nvSpPr>
        <p:spPr>
          <a:xfrm>
            <a:off x="627529" y="4459941"/>
            <a:ext cx="10650072" cy="2164976"/>
          </a:xfrm>
          <a:prstGeom prst="rect">
            <a:avLst/>
          </a:prstGeom>
          <a:noFill/>
        </p:spPr>
        <p:txBody>
          <a:bodyPr vert="horz" lIns="92075" tIns="46038" rIns="92075" bIns="46038" rtlCol="0">
            <a:noAutofit/>
          </a:bodyPr>
          <a:lstStyle>
            <a:lvl1pPr marL="461951" indent="-461951"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70" indent="-538149"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17" indent="-474651"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59" indent="-522275"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28" indent="-507987"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altLang="en-US" sz="2400" dirty="0"/>
              <a:t>A typical association rule</a:t>
            </a:r>
          </a:p>
          <a:p>
            <a:pPr lvl="2"/>
            <a:r>
              <a:rPr lang="en-US" altLang="en-US" sz="2400" dirty="0"/>
              <a:t>Diaper </a:t>
            </a:r>
            <a:r>
              <a:rPr lang="en-US" altLang="en-US" sz="2400" dirty="0">
                <a:sym typeface="Wingdings" panose="05000000000000000000" pitchFamily="2" charset="2"/>
              </a:rPr>
              <a:t></a:t>
            </a:r>
            <a:r>
              <a:rPr lang="en-US" altLang="en-US" sz="2400" dirty="0"/>
              <a:t> Beer [0.5%, 75%]  (support, confidence)</a:t>
            </a:r>
          </a:p>
          <a:p>
            <a:pPr lvl="1"/>
            <a:r>
              <a:rPr lang="en-US" altLang="en-US" sz="2400" dirty="0"/>
              <a:t>Are strongly associated items also strongly correlated?</a:t>
            </a:r>
          </a:p>
          <a:p>
            <a:r>
              <a:rPr lang="en-US" altLang="en-US" sz="2400" dirty="0"/>
              <a:t>How to mine such patterns and rules efficiently in large datasets?</a:t>
            </a:r>
          </a:p>
          <a:p>
            <a:r>
              <a:rPr lang="en-US" altLang="en-US" sz="2400" dirty="0"/>
              <a:t>How to use such patterns for classification, clustering, and other applications?</a:t>
            </a:r>
          </a:p>
        </p:txBody>
      </p:sp>
    </p:spTree>
    <p:extLst>
      <p:ext uri="{BB962C8B-B14F-4D97-AF65-F5344CB8AC3E}">
        <p14:creationId xmlns:p14="http://schemas.microsoft.com/office/powerpoint/2010/main" val="361288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0" y="152400"/>
            <a:ext cx="12191999" cy="807267"/>
          </a:xfrm>
          <a:noFill/>
        </p:spPr>
        <p:txBody>
          <a:bodyPr vert="horz" lIns="92075" tIns="46038" rIns="92075" bIns="46038" rtlCol="0" anchor="ctr">
            <a:noAutofit/>
          </a:bodyPr>
          <a:lstStyle/>
          <a:p>
            <a:pPr>
              <a:lnSpc>
                <a:spcPct val="150000"/>
              </a:lnSpc>
              <a:spcAft>
                <a:spcPts val="600"/>
              </a:spcAft>
            </a:pPr>
            <a:r>
              <a:rPr lang="en-US" sz="4000" b="1" i="0" u="none" strike="noStrike" baseline="0" dirty="0"/>
              <a:t>Classification and Regression for Predictive Analysis</a:t>
            </a:r>
          </a:p>
        </p:txBody>
      </p:sp>
      <p:sp>
        <p:nvSpPr>
          <p:cNvPr id="32772" name="Rectangle 3"/>
          <p:cNvSpPr>
            <a:spLocks noGrp="1" noChangeArrowheads="1"/>
          </p:cNvSpPr>
          <p:nvPr>
            <p:ph type="body" idx="1"/>
          </p:nvPr>
        </p:nvSpPr>
        <p:spPr>
          <a:xfrm>
            <a:off x="618564" y="1201270"/>
            <a:ext cx="10972801" cy="5351929"/>
          </a:xfrm>
          <a:noFill/>
        </p:spPr>
        <p:txBody>
          <a:bodyPr vert="horz" lIns="92075" tIns="46038" rIns="92075" bIns="46038" rtlCol="0">
            <a:noAutofit/>
          </a:bodyPr>
          <a:lstStyle/>
          <a:p>
            <a:pPr eaLnBrk="1" hangingPunct="1"/>
            <a:r>
              <a:rPr lang="en-US" altLang="en-US" sz="2400" dirty="0"/>
              <a:t>Classification and label prediction  </a:t>
            </a:r>
          </a:p>
          <a:p>
            <a:pPr lvl="1" eaLnBrk="1" hangingPunct="1"/>
            <a:r>
              <a:rPr lang="en-US" altLang="en-US" sz="2400" dirty="0"/>
              <a:t>Construct models (functions) based on some training examples</a:t>
            </a:r>
          </a:p>
          <a:p>
            <a:pPr lvl="1" eaLnBrk="1" hangingPunct="1"/>
            <a:r>
              <a:rPr lang="en-US" altLang="en-US" sz="2400" dirty="0"/>
              <a:t>Describe and distinguish classes or concepts for future prediction</a:t>
            </a:r>
          </a:p>
          <a:p>
            <a:pPr lvl="2" eaLnBrk="1" hangingPunct="1"/>
            <a:r>
              <a:rPr lang="en-US" altLang="en-US" sz="2400" dirty="0"/>
              <a:t>Ex. 1. Classify countries based on (climate)</a:t>
            </a:r>
          </a:p>
          <a:p>
            <a:pPr lvl="2" eaLnBrk="1" hangingPunct="1"/>
            <a:r>
              <a:rPr lang="en-US" altLang="en-US" sz="2400" dirty="0"/>
              <a:t>Ex. 2. Classify cars based on (gas mileage)</a:t>
            </a:r>
          </a:p>
          <a:p>
            <a:pPr lvl="1" eaLnBrk="1" hangingPunct="1"/>
            <a:r>
              <a:rPr lang="en-US" altLang="en-US" sz="2400" dirty="0"/>
              <a:t>Predict some unknown class labels</a:t>
            </a:r>
          </a:p>
          <a:p>
            <a:pPr eaLnBrk="1" hangingPunct="1"/>
            <a:r>
              <a:rPr lang="en-US" altLang="en-US" sz="2400" dirty="0"/>
              <a:t>Typical methods</a:t>
            </a:r>
          </a:p>
          <a:p>
            <a:pPr lvl="1" eaLnBrk="1" hangingPunct="1"/>
            <a:r>
              <a:rPr lang="en-US" altLang="en-US" sz="2400" dirty="0"/>
              <a:t>Decision trees, naïve Bayesian classification, support vector machines, neural networks, rule-based classification, pattern-based classification, logistic regression, …</a:t>
            </a:r>
          </a:p>
          <a:p>
            <a:pPr eaLnBrk="1" hangingPunct="1"/>
            <a:r>
              <a:rPr lang="en-US" altLang="en-US" sz="2400" dirty="0"/>
              <a:t>Typical applications:</a:t>
            </a:r>
          </a:p>
          <a:p>
            <a:pPr lvl="1" eaLnBrk="1" hangingPunct="1"/>
            <a:r>
              <a:rPr lang="en-US" altLang="en-US" sz="2400" dirty="0"/>
              <a:t>Credit card fraud detection, direct marketing, classifying stars, diseases,  web-pages, …</a:t>
            </a:r>
          </a:p>
        </p:txBody>
      </p:sp>
      <p:pic>
        <p:nvPicPr>
          <p:cNvPr id="6146" name="Picture 2" descr="https://upload.wikimedia.org/wikipedia/commons/thumb/6/65/Binary-classification-labeled.svg/220px-Binary-classification-labeled.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4124" y="1567983"/>
            <a:ext cx="2095500" cy="2095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002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a:xfrm>
            <a:off x="376518" y="304800"/>
            <a:ext cx="11403106" cy="635000"/>
          </a:xfrm>
          <a:noFill/>
        </p:spPr>
        <p:txBody>
          <a:bodyPr vert="horz" lIns="92075" tIns="46038" rIns="92075" bIns="46038" rtlCol="0" anchor="ctr">
            <a:noAutofit/>
          </a:bodyPr>
          <a:lstStyle/>
          <a:p>
            <a:pPr>
              <a:lnSpc>
                <a:spcPct val="150000"/>
              </a:lnSpc>
              <a:spcAft>
                <a:spcPts val="600"/>
              </a:spcAft>
            </a:pPr>
            <a:r>
              <a:rPr lang="en-US" sz="4400" b="1" i="0" u="none" strike="noStrike" baseline="0" dirty="0"/>
              <a:t>Cluster Analysis</a:t>
            </a:r>
          </a:p>
        </p:txBody>
      </p:sp>
      <p:sp>
        <p:nvSpPr>
          <p:cNvPr id="33796" name="Rectangle 3"/>
          <p:cNvSpPr>
            <a:spLocks noGrp="1" noChangeArrowheads="1"/>
          </p:cNvSpPr>
          <p:nvPr>
            <p:ph type="body" idx="1"/>
          </p:nvPr>
        </p:nvSpPr>
        <p:spPr>
          <a:xfrm>
            <a:off x="582706" y="1295400"/>
            <a:ext cx="6051176" cy="4442012"/>
          </a:xfrm>
          <a:noFill/>
        </p:spPr>
        <p:txBody>
          <a:bodyPr vert="horz" lIns="92075" tIns="46038" rIns="92075" bIns="46038" rtlCol="0">
            <a:noAutofit/>
          </a:bodyPr>
          <a:lstStyle/>
          <a:p>
            <a:pPr eaLnBrk="1" hangingPunct="1">
              <a:spcAft>
                <a:spcPts val="600"/>
              </a:spcAft>
            </a:pPr>
            <a:r>
              <a:rPr lang="en-US" altLang="en-US" sz="2400" dirty="0"/>
              <a:t>Unsupervised learning (i.e., Class label is unknown)</a:t>
            </a:r>
          </a:p>
          <a:p>
            <a:pPr eaLnBrk="1" hangingPunct="1">
              <a:spcAft>
                <a:spcPts val="600"/>
              </a:spcAft>
            </a:pPr>
            <a:r>
              <a:rPr lang="en-US" altLang="en-US" sz="2400" dirty="0"/>
              <a:t>Group data to form new categories (i.e., clusters), e.g., cluster houses to find distribution patterns</a:t>
            </a:r>
          </a:p>
          <a:p>
            <a:pPr eaLnBrk="1" hangingPunct="1">
              <a:spcAft>
                <a:spcPts val="600"/>
              </a:spcAft>
            </a:pPr>
            <a:r>
              <a:rPr lang="en-US" altLang="en-US" sz="2400" dirty="0"/>
              <a:t>Principle: Maximizing intra-class similarity &amp; minimizing interclass similarity</a:t>
            </a:r>
          </a:p>
          <a:p>
            <a:pPr eaLnBrk="1" hangingPunct="1">
              <a:spcAft>
                <a:spcPts val="600"/>
              </a:spcAft>
            </a:pPr>
            <a:r>
              <a:rPr lang="en-US" altLang="en-US" sz="2400" dirty="0"/>
              <a:t>Many methods and applications</a:t>
            </a:r>
          </a:p>
        </p:txBody>
      </p:sp>
      <p:pic>
        <p:nvPicPr>
          <p:cNvPr id="4" name="pasted-image.tiff"/>
          <p:cNvPicPr>
            <a:picLocks noChangeAspect="1"/>
          </p:cNvPicPr>
          <p:nvPr/>
        </p:nvPicPr>
        <p:blipFill>
          <a:blip r:embed="rId3"/>
          <a:srcRect l="5639" t="5639" r="5639" b="5639"/>
          <a:stretch>
            <a:fillRect/>
          </a:stretch>
        </p:blipFill>
        <p:spPr>
          <a:xfrm>
            <a:off x="6388686" y="1230218"/>
            <a:ext cx="5168901" cy="3876676"/>
          </a:xfrm>
          <a:prstGeom prst="rect">
            <a:avLst/>
          </a:prstGeom>
          <a:ln w="12700">
            <a:miter lim="400000"/>
          </a:ln>
        </p:spPr>
      </p:pic>
    </p:spTree>
    <p:extLst>
      <p:ext uri="{BB962C8B-B14F-4D97-AF65-F5344CB8AC3E}">
        <p14:creationId xmlns:p14="http://schemas.microsoft.com/office/powerpoint/2010/main" val="590061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a:xfrm>
            <a:off x="376518" y="304800"/>
            <a:ext cx="11403106" cy="635000"/>
          </a:xfrm>
          <a:noFill/>
        </p:spPr>
        <p:txBody>
          <a:bodyPr vert="horz" lIns="92075" tIns="46038" rIns="92075" bIns="46038" rtlCol="0" anchor="ctr">
            <a:noAutofit/>
          </a:bodyPr>
          <a:lstStyle/>
          <a:p>
            <a:pPr>
              <a:lnSpc>
                <a:spcPct val="150000"/>
              </a:lnSpc>
              <a:spcAft>
                <a:spcPts val="600"/>
              </a:spcAft>
            </a:pPr>
            <a:r>
              <a:rPr lang="en-US" sz="4400" b="1" i="0" u="none" strike="noStrike" baseline="0" dirty="0"/>
              <a:t>Deep Learning</a:t>
            </a:r>
          </a:p>
        </p:txBody>
      </p:sp>
      <p:sp>
        <p:nvSpPr>
          <p:cNvPr id="33796" name="Rectangle 3"/>
          <p:cNvSpPr>
            <a:spLocks noGrp="1" noChangeArrowheads="1"/>
          </p:cNvSpPr>
          <p:nvPr>
            <p:ph type="body" idx="1"/>
          </p:nvPr>
        </p:nvSpPr>
        <p:spPr>
          <a:xfrm>
            <a:off x="565975" y="1213918"/>
            <a:ext cx="11060050" cy="5257800"/>
          </a:xfrm>
          <a:noFill/>
        </p:spPr>
        <p:txBody>
          <a:bodyPr vert="horz" lIns="92075" tIns="46038" rIns="92075" bIns="46038" rtlCol="0">
            <a:noAutofit/>
          </a:bodyPr>
          <a:lstStyle/>
          <a:p>
            <a:pPr eaLnBrk="1" hangingPunct="1">
              <a:spcAft>
                <a:spcPts val="300"/>
              </a:spcAft>
            </a:pPr>
            <a:r>
              <a:rPr lang="en-US" sz="2400" b="0" i="0" u="none" strike="noStrike" baseline="0" dirty="0"/>
              <a:t>Deep learning: A fast expanding dynamic frontier in machine learning </a:t>
            </a:r>
          </a:p>
          <a:p>
            <a:pPr eaLnBrk="1" hangingPunct="1">
              <a:spcAft>
                <a:spcPts val="300"/>
              </a:spcAft>
            </a:pPr>
            <a:r>
              <a:rPr lang="en-US" sz="2400" b="0" u="none" strike="noStrike" baseline="0" dirty="0"/>
              <a:t>Deep learning has developed various </a:t>
            </a:r>
            <a:r>
              <a:rPr lang="en-US" sz="2400" b="0" i="1" u="none" strike="noStrike" baseline="0" dirty="0"/>
              <a:t>neural network architectures</a:t>
            </a:r>
          </a:p>
          <a:p>
            <a:pPr lvl="1">
              <a:spcAft>
                <a:spcPts val="300"/>
              </a:spcAft>
            </a:pPr>
            <a:r>
              <a:rPr lang="en-US" sz="2400" b="0" i="0" u="none" strike="noStrike" baseline="0" dirty="0"/>
              <a:t>Feed-forward neural networks</a:t>
            </a:r>
          </a:p>
          <a:p>
            <a:pPr lvl="1">
              <a:spcAft>
                <a:spcPts val="300"/>
              </a:spcAft>
            </a:pPr>
            <a:r>
              <a:rPr lang="en-US" sz="2400" b="0" i="0" u="none" strike="noStrike" baseline="0" dirty="0"/>
              <a:t>Convolutional neural networks</a:t>
            </a:r>
          </a:p>
          <a:p>
            <a:pPr lvl="1">
              <a:spcAft>
                <a:spcPts val="300"/>
              </a:spcAft>
            </a:pPr>
            <a:r>
              <a:rPr lang="en-US" sz="2400" b="0" i="0" u="none" strike="noStrike" baseline="0" dirty="0"/>
              <a:t>Recurrent neural networks</a:t>
            </a:r>
          </a:p>
          <a:p>
            <a:pPr lvl="1">
              <a:spcAft>
                <a:spcPts val="300"/>
              </a:spcAft>
            </a:pPr>
            <a:r>
              <a:rPr lang="en-US" sz="2400" b="0" i="0" u="none" strike="noStrike" baseline="0" dirty="0"/>
              <a:t>Graph neural networks</a:t>
            </a:r>
          </a:p>
          <a:p>
            <a:pPr lvl="1">
              <a:spcAft>
                <a:spcPts val="300"/>
              </a:spcAft>
            </a:pPr>
            <a:r>
              <a:rPr lang="en-US" sz="2400" dirty="0"/>
              <a:t>Transformer</a:t>
            </a:r>
          </a:p>
          <a:p>
            <a:pPr algn="l">
              <a:spcAft>
                <a:spcPts val="300"/>
              </a:spcAft>
            </a:pPr>
            <a:r>
              <a:rPr lang="en-US" sz="2400" b="0" i="0" u="none" strike="noStrike" baseline="0" dirty="0"/>
              <a:t>Deep learning has broad applications in computer vision, natural language processing, machine translation, social network analysis, and so on</a:t>
            </a:r>
          </a:p>
          <a:p>
            <a:pPr algn="l">
              <a:spcAft>
                <a:spcPts val="300"/>
              </a:spcAft>
            </a:pPr>
            <a:r>
              <a:rPr lang="en-US" sz="2400" dirty="0"/>
              <a:t>Deep learning </a:t>
            </a:r>
            <a:r>
              <a:rPr lang="en-US" sz="2400" b="0" i="0" u="none" strike="noStrike" baseline="0" dirty="0"/>
              <a:t>has been reshaping a variety of data mining tasks</a:t>
            </a:r>
          </a:p>
          <a:p>
            <a:pPr lvl="1">
              <a:spcAft>
                <a:spcPts val="300"/>
              </a:spcAft>
            </a:pPr>
            <a:r>
              <a:rPr lang="en-US" sz="2400" b="0" i="0" u="none" strike="noStrike" baseline="0" dirty="0"/>
              <a:t>Ex. classification, clustering, outlier detection, and reinforcement learning</a:t>
            </a:r>
            <a:endParaRPr lang="en-US" altLang="en-US" sz="2400" dirty="0"/>
          </a:p>
        </p:txBody>
      </p:sp>
      <p:pic>
        <p:nvPicPr>
          <p:cNvPr id="4098" name="Picture 2" descr="Demystifying deep learning – TechTalks">
            <a:extLst>
              <a:ext uri="{FF2B5EF4-FFF2-40B4-BE49-F238E27FC236}">
                <a16:creationId xmlns:a16="http://schemas.microsoft.com/office/drawing/2014/main" xmlns="" id="{02177DCF-9FD0-4BFC-414F-5FAA1F557E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6870" y="2163780"/>
            <a:ext cx="3911097" cy="2199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8206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8" name="Picture 6" descr="https://www.mathworks.com/matlabcentral/mlc-downloads/downloads/submissions/34795/versions/7/screensho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9270" y="4269457"/>
            <a:ext cx="3343755" cy="2507817"/>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http://photos1.blogger.com/x/blogger/5682/4111/1600/485624/Multivariate%20Outlier%20Exampl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12424" y="4018760"/>
            <a:ext cx="4991580" cy="2758514"/>
          </a:xfrm>
          <a:prstGeom prst="rect">
            <a:avLst/>
          </a:prstGeom>
          <a:noFill/>
          <a:extLst>
            <a:ext uri="{909E8E84-426E-40DD-AFC4-6F175D3DCCD1}">
              <a14:hiddenFill xmlns:a14="http://schemas.microsoft.com/office/drawing/2010/main">
                <a:solidFill>
                  <a:srgbClr val="FFFFFF"/>
                </a:solidFill>
              </a14:hiddenFill>
            </a:ext>
          </a:extLst>
        </p:spPr>
      </p:pic>
      <p:sp>
        <p:nvSpPr>
          <p:cNvPr id="34819" name="Rectangle 2"/>
          <p:cNvSpPr>
            <a:spLocks noGrp="1" noChangeArrowheads="1"/>
          </p:cNvSpPr>
          <p:nvPr>
            <p:ph type="title"/>
          </p:nvPr>
        </p:nvSpPr>
        <p:spPr>
          <a:xfrm>
            <a:off x="546847" y="304800"/>
            <a:ext cx="11080377" cy="635000"/>
          </a:xfrm>
          <a:noFill/>
        </p:spPr>
        <p:txBody>
          <a:bodyPr vert="horz" lIns="92075" tIns="46038" rIns="92075" bIns="46038" rtlCol="0" anchor="ctr">
            <a:noAutofit/>
          </a:bodyPr>
          <a:lstStyle/>
          <a:p>
            <a:pPr eaLnBrk="1" hangingPunct="1"/>
            <a:r>
              <a:rPr lang="en-US" altLang="en-US" b="1" dirty="0"/>
              <a:t>Outlier Analysis</a:t>
            </a:r>
          </a:p>
        </p:txBody>
      </p:sp>
      <p:sp>
        <p:nvSpPr>
          <p:cNvPr id="34820" name="Rectangle 3"/>
          <p:cNvSpPr>
            <a:spLocks noGrp="1" noChangeArrowheads="1"/>
          </p:cNvSpPr>
          <p:nvPr>
            <p:ph type="body" idx="1"/>
          </p:nvPr>
        </p:nvSpPr>
        <p:spPr>
          <a:xfrm>
            <a:off x="546847" y="1195295"/>
            <a:ext cx="8308602" cy="3706906"/>
          </a:xfrm>
          <a:noFill/>
        </p:spPr>
        <p:txBody>
          <a:bodyPr vert="horz" lIns="92075" tIns="46038" rIns="92075" bIns="46038" rtlCol="0">
            <a:noAutofit/>
          </a:bodyPr>
          <a:lstStyle/>
          <a:p>
            <a:pPr eaLnBrk="1" hangingPunct="1">
              <a:lnSpc>
                <a:spcPct val="110000"/>
              </a:lnSpc>
            </a:pPr>
            <a:r>
              <a:rPr lang="en-US" altLang="en-US" sz="2400" dirty="0"/>
              <a:t>Outlier analysis</a:t>
            </a:r>
          </a:p>
          <a:p>
            <a:pPr lvl="1" eaLnBrk="1" hangingPunct="1">
              <a:lnSpc>
                <a:spcPct val="110000"/>
              </a:lnSpc>
            </a:pPr>
            <a:r>
              <a:rPr lang="en-US" altLang="en-US" sz="2400" dirty="0"/>
              <a:t>Outlier: A data object that does not comply with the general behavior of the data</a:t>
            </a:r>
          </a:p>
          <a:p>
            <a:pPr lvl="1" eaLnBrk="1" hangingPunct="1">
              <a:lnSpc>
                <a:spcPct val="110000"/>
              </a:lnSpc>
            </a:pPr>
            <a:r>
              <a:rPr lang="en-US" altLang="en-US" sz="2400" dirty="0"/>
              <a:t>Noise or exception?</a:t>
            </a:r>
            <a:r>
              <a:rPr lang="en-US" altLang="en-US" sz="2400" dirty="0">
                <a:cs typeface="Tahoma" panose="020B0604030504040204" pitchFamily="34" charset="0"/>
              </a:rPr>
              <a:t>―One person’s garbage could be another person’s treasure</a:t>
            </a:r>
          </a:p>
          <a:p>
            <a:pPr lvl="1" eaLnBrk="1" hangingPunct="1">
              <a:lnSpc>
                <a:spcPct val="110000"/>
              </a:lnSpc>
            </a:pPr>
            <a:r>
              <a:rPr lang="en-US" altLang="en-US" sz="2400" dirty="0"/>
              <a:t>Methods: by product of clustering or regression analysis, …</a:t>
            </a:r>
          </a:p>
          <a:p>
            <a:pPr lvl="1" eaLnBrk="1" hangingPunct="1">
              <a:lnSpc>
                <a:spcPct val="110000"/>
              </a:lnSpc>
            </a:pPr>
            <a:r>
              <a:rPr lang="en-US" altLang="en-US" sz="2400" dirty="0"/>
              <a:t>Useful in fraud detection, rare events analysis</a:t>
            </a:r>
          </a:p>
        </p:txBody>
      </p:sp>
      <p:pic>
        <p:nvPicPr>
          <p:cNvPr id="8194" name="Picture 2" descr="Image result for outlier analysi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54060" y="1195295"/>
            <a:ext cx="2466975" cy="1847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4597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https://planopedia.com/wp-content/uploads/2014/10/trend-analysi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7552" y="1198537"/>
            <a:ext cx="3594053" cy="2695540"/>
          </a:xfrm>
          <a:prstGeom prst="rect">
            <a:avLst/>
          </a:prstGeom>
          <a:noFill/>
          <a:extLst>
            <a:ext uri="{909E8E84-426E-40DD-AFC4-6F175D3DCCD1}">
              <a14:hiddenFill xmlns:a14="http://schemas.microsoft.com/office/drawing/2010/main">
                <a:solidFill>
                  <a:srgbClr val="FFFFFF"/>
                </a:solidFill>
              </a14:hiddenFill>
            </a:ext>
          </a:extLst>
        </p:spPr>
      </p:pic>
      <p:sp>
        <p:nvSpPr>
          <p:cNvPr id="35843" name="Rectangle 2"/>
          <p:cNvSpPr>
            <a:spLocks noGrp="1" noChangeArrowheads="1"/>
          </p:cNvSpPr>
          <p:nvPr>
            <p:ph type="title"/>
          </p:nvPr>
        </p:nvSpPr>
        <p:spPr>
          <a:xfrm>
            <a:off x="0" y="152400"/>
            <a:ext cx="12191999" cy="914400"/>
          </a:xfrm>
          <a:noFill/>
        </p:spPr>
        <p:txBody>
          <a:bodyPr vert="horz" lIns="92075" tIns="46038" rIns="92075" bIns="46038" rtlCol="0" anchor="ctr">
            <a:noAutofit/>
          </a:bodyPr>
          <a:lstStyle/>
          <a:p>
            <a:r>
              <a:rPr lang="en-US" altLang="en-US" sz="4000" b="1" dirty="0"/>
              <a:t>Other Data Mining Functions: Time and Ordering: Sequential Pattern, Trend and Evolution Analysis</a:t>
            </a:r>
          </a:p>
        </p:txBody>
      </p:sp>
      <p:sp>
        <p:nvSpPr>
          <p:cNvPr id="35844" name="Rectangle 3"/>
          <p:cNvSpPr>
            <a:spLocks noGrp="1" noChangeArrowheads="1"/>
          </p:cNvSpPr>
          <p:nvPr>
            <p:ph type="body" idx="1"/>
          </p:nvPr>
        </p:nvSpPr>
        <p:spPr>
          <a:xfrm>
            <a:off x="564775" y="1362634"/>
            <a:ext cx="8884026" cy="5163671"/>
          </a:xfrm>
          <a:noFill/>
        </p:spPr>
        <p:txBody>
          <a:bodyPr vert="horz" lIns="92075" tIns="46038" rIns="92075" bIns="46038" rtlCol="0">
            <a:noAutofit/>
          </a:bodyPr>
          <a:lstStyle/>
          <a:p>
            <a:pPr eaLnBrk="1" hangingPunct="1">
              <a:lnSpc>
                <a:spcPct val="100000"/>
              </a:lnSpc>
            </a:pPr>
            <a:r>
              <a:rPr lang="en-US" altLang="en-US" sz="2400" dirty="0"/>
              <a:t>Sequence, trend and evolution analysis</a:t>
            </a:r>
          </a:p>
          <a:p>
            <a:pPr lvl="1" eaLnBrk="1" hangingPunct="1">
              <a:lnSpc>
                <a:spcPct val="100000"/>
              </a:lnSpc>
            </a:pPr>
            <a:r>
              <a:rPr lang="en-US" altLang="en-US" sz="2400" dirty="0"/>
              <a:t>Trend, time-series, and deviation analysis</a:t>
            </a:r>
          </a:p>
          <a:p>
            <a:pPr lvl="2"/>
            <a:r>
              <a:rPr lang="en-US" altLang="en-US" sz="2400" dirty="0"/>
              <a:t>e.g., regression and value prediction</a:t>
            </a:r>
          </a:p>
          <a:p>
            <a:pPr lvl="1" eaLnBrk="1" hangingPunct="1">
              <a:lnSpc>
                <a:spcPct val="100000"/>
              </a:lnSpc>
            </a:pPr>
            <a:r>
              <a:rPr lang="en-US" altLang="en-US" sz="2400" dirty="0"/>
              <a:t>Sequential pattern mining</a:t>
            </a:r>
          </a:p>
          <a:p>
            <a:pPr lvl="2" eaLnBrk="1" hangingPunct="1">
              <a:lnSpc>
                <a:spcPct val="100000"/>
              </a:lnSpc>
            </a:pPr>
            <a:r>
              <a:rPr lang="en-US" altLang="en-US" sz="2400" dirty="0"/>
              <a:t>e.g., buy digital camera, then buy </a:t>
            </a:r>
            <a:r>
              <a:rPr lang="en-US" altLang="en-US" sz="2400" dirty="0">
                <a:sym typeface="Wingdings" panose="05000000000000000000" pitchFamily="2" charset="2"/>
              </a:rPr>
              <a:t>large memory cards</a:t>
            </a:r>
            <a:endParaRPr lang="en-US" altLang="en-US" sz="2400" dirty="0"/>
          </a:p>
          <a:p>
            <a:pPr lvl="1" eaLnBrk="1" hangingPunct="1">
              <a:lnSpc>
                <a:spcPct val="100000"/>
              </a:lnSpc>
            </a:pPr>
            <a:r>
              <a:rPr lang="en-US" altLang="en-US" sz="2400" dirty="0"/>
              <a:t>Periodicity analysis</a:t>
            </a:r>
          </a:p>
          <a:p>
            <a:pPr lvl="1" eaLnBrk="1" hangingPunct="1">
              <a:lnSpc>
                <a:spcPct val="100000"/>
              </a:lnSpc>
            </a:pPr>
            <a:r>
              <a:rPr lang="en-US" altLang="en-US" sz="2400" dirty="0"/>
              <a:t>Motifs and biological sequence analysis</a:t>
            </a:r>
          </a:p>
          <a:p>
            <a:pPr lvl="2" eaLnBrk="1" hangingPunct="1">
              <a:lnSpc>
                <a:spcPct val="100000"/>
              </a:lnSpc>
            </a:pPr>
            <a:r>
              <a:rPr lang="en-US" altLang="en-US" sz="2400" dirty="0"/>
              <a:t>Approximate and consecutive motifs</a:t>
            </a:r>
          </a:p>
          <a:p>
            <a:pPr lvl="1" eaLnBrk="1" hangingPunct="1">
              <a:lnSpc>
                <a:spcPct val="100000"/>
              </a:lnSpc>
            </a:pPr>
            <a:r>
              <a:rPr lang="en-US" altLang="en-US" sz="2400" dirty="0"/>
              <a:t>Similarity-based analysis</a:t>
            </a:r>
          </a:p>
          <a:p>
            <a:pPr eaLnBrk="1" hangingPunct="1">
              <a:lnSpc>
                <a:spcPct val="100000"/>
              </a:lnSpc>
            </a:pPr>
            <a:r>
              <a:rPr lang="en-US" altLang="en-US" sz="2400" dirty="0"/>
              <a:t>Mining data streams</a:t>
            </a:r>
          </a:p>
          <a:p>
            <a:pPr lvl="1" eaLnBrk="1" hangingPunct="1">
              <a:lnSpc>
                <a:spcPct val="100000"/>
              </a:lnSpc>
            </a:pPr>
            <a:r>
              <a:rPr lang="en-US" altLang="en-US" sz="2400" dirty="0"/>
              <a:t>Ordered, time-varying, potentially infinite, data streams</a:t>
            </a:r>
          </a:p>
        </p:txBody>
      </p:sp>
      <p:pic>
        <p:nvPicPr>
          <p:cNvPr id="5" name="time series.png"/>
          <p:cNvPicPr>
            <a:picLocks noChangeAspect="1"/>
          </p:cNvPicPr>
          <p:nvPr/>
        </p:nvPicPr>
        <p:blipFill>
          <a:blip r:embed="rId4"/>
          <a:srcRect l="5041"/>
          <a:stretch>
            <a:fillRect/>
          </a:stretch>
        </p:blipFill>
        <p:spPr>
          <a:xfrm>
            <a:off x="8470528" y="3916034"/>
            <a:ext cx="2860860" cy="2774368"/>
          </a:xfrm>
          <a:prstGeom prst="rect">
            <a:avLst/>
          </a:prstGeom>
          <a:ln w="12700">
            <a:miter lim="400000"/>
          </a:ln>
        </p:spPr>
      </p:pic>
    </p:spTree>
    <p:extLst>
      <p:ext uri="{BB962C8B-B14F-4D97-AF65-F5344CB8AC3E}">
        <p14:creationId xmlns:p14="http://schemas.microsoft.com/office/powerpoint/2010/main" val="3761810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5" descr="email-network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0698" y="1253141"/>
            <a:ext cx="4042611" cy="3857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Rectangle 2"/>
          <p:cNvSpPr>
            <a:spLocks noGrp="1" noChangeArrowheads="1"/>
          </p:cNvSpPr>
          <p:nvPr>
            <p:ph type="title"/>
          </p:nvPr>
        </p:nvSpPr>
        <p:spPr>
          <a:xfrm>
            <a:off x="591671" y="152400"/>
            <a:ext cx="10936941" cy="914400"/>
          </a:xfrm>
          <a:noFill/>
        </p:spPr>
        <p:txBody>
          <a:bodyPr vert="horz" lIns="92075" tIns="46038" rIns="92075" bIns="46038" rtlCol="0" anchor="ctr">
            <a:normAutofit fontScale="90000"/>
          </a:bodyPr>
          <a:lstStyle/>
          <a:p>
            <a:r>
              <a:rPr lang="en-US" altLang="en-US" b="1" dirty="0"/>
              <a:t>Other Data Mining Functions: Structure and Network Analysis</a:t>
            </a:r>
          </a:p>
        </p:txBody>
      </p:sp>
      <p:sp>
        <p:nvSpPr>
          <p:cNvPr id="36868" name="Rectangle 3"/>
          <p:cNvSpPr>
            <a:spLocks noGrp="1" noChangeArrowheads="1"/>
          </p:cNvSpPr>
          <p:nvPr>
            <p:ph type="body" idx="1"/>
          </p:nvPr>
        </p:nvSpPr>
        <p:spPr>
          <a:xfrm>
            <a:off x="506506" y="1066800"/>
            <a:ext cx="10950388" cy="5692588"/>
          </a:xfrm>
          <a:noFill/>
        </p:spPr>
        <p:txBody>
          <a:bodyPr vert="horz" lIns="92075" tIns="46038" rIns="92075" bIns="46038" rtlCol="0">
            <a:noAutofit/>
          </a:bodyPr>
          <a:lstStyle/>
          <a:p>
            <a:pPr eaLnBrk="1" hangingPunct="1">
              <a:lnSpc>
                <a:spcPct val="100000"/>
              </a:lnSpc>
            </a:pPr>
            <a:r>
              <a:rPr lang="en-US" altLang="en-US" sz="2400" dirty="0"/>
              <a:t>Graph mining</a:t>
            </a:r>
          </a:p>
          <a:p>
            <a:pPr lvl="1" eaLnBrk="1" hangingPunct="1">
              <a:lnSpc>
                <a:spcPct val="100000"/>
              </a:lnSpc>
            </a:pPr>
            <a:r>
              <a:rPr lang="en-US" altLang="en-US" sz="2400" dirty="0"/>
              <a:t>Finding frequent subgraphs (e.g., chemical compounds), trees (XML), substructures (web fragments)</a:t>
            </a:r>
          </a:p>
          <a:p>
            <a:pPr eaLnBrk="1" hangingPunct="1">
              <a:lnSpc>
                <a:spcPct val="100000"/>
              </a:lnSpc>
            </a:pPr>
            <a:r>
              <a:rPr lang="en-US" altLang="en-US" sz="2400" dirty="0"/>
              <a:t>Information network analysis</a:t>
            </a:r>
          </a:p>
          <a:p>
            <a:pPr lvl="1" eaLnBrk="1" hangingPunct="1">
              <a:lnSpc>
                <a:spcPct val="100000"/>
              </a:lnSpc>
            </a:pPr>
            <a:r>
              <a:rPr lang="en-US" altLang="en-US" sz="2400" dirty="0"/>
              <a:t>Social networks: actors (objects, nodes) and relationships (edges)</a:t>
            </a:r>
          </a:p>
          <a:p>
            <a:pPr lvl="2" eaLnBrk="1" hangingPunct="1">
              <a:lnSpc>
                <a:spcPct val="100000"/>
              </a:lnSpc>
            </a:pPr>
            <a:r>
              <a:rPr lang="en-US" altLang="en-US" sz="2400" dirty="0"/>
              <a:t>e.g., author networks in CS, terrorist networks</a:t>
            </a:r>
          </a:p>
          <a:p>
            <a:pPr lvl="1" eaLnBrk="1" hangingPunct="1">
              <a:lnSpc>
                <a:spcPct val="100000"/>
              </a:lnSpc>
            </a:pPr>
            <a:r>
              <a:rPr lang="en-US" altLang="en-US" sz="2400" dirty="0"/>
              <a:t>Multiple heterogeneous networks</a:t>
            </a:r>
          </a:p>
          <a:p>
            <a:pPr lvl="2" eaLnBrk="1" hangingPunct="1">
              <a:lnSpc>
                <a:spcPct val="100000"/>
              </a:lnSpc>
            </a:pPr>
            <a:r>
              <a:rPr lang="en-US" altLang="en-US" sz="2400" dirty="0"/>
              <a:t>A person could be multiple information networks: friends, family, classmates, …</a:t>
            </a:r>
          </a:p>
          <a:p>
            <a:pPr lvl="1" eaLnBrk="1" hangingPunct="1">
              <a:lnSpc>
                <a:spcPct val="100000"/>
              </a:lnSpc>
            </a:pPr>
            <a:r>
              <a:rPr lang="en-US" altLang="en-US" sz="2400" dirty="0"/>
              <a:t>Links carry a lot of semantic information: Link mining</a:t>
            </a:r>
          </a:p>
          <a:p>
            <a:pPr eaLnBrk="1" hangingPunct="1">
              <a:lnSpc>
                <a:spcPct val="100000"/>
              </a:lnSpc>
            </a:pPr>
            <a:r>
              <a:rPr lang="en-US" altLang="en-US" sz="2400" dirty="0"/>
              <a:t>Web mining</a:t>
            </a:r>
          </a:p>
          <a:p>
            <a:pPr lvl="1" eaLnBrk="1" hangingPunct="1">
              <a:lnSpc>
                <a:spcPct val="100000"/>
              </a:lnSpc>
            </a:pPr>
            <a:r>
              <a:rPr lang="en-US" altLang="en-US" sz="2400" dirty="0"/>
              <a:t>Web is a big information network: from PageRank to Google</a:t>
            </a:r>
          </a:p>
          <a:p>
            <a:pPr lvl="1" eaLnBrk="1" hangingPunct="1">
              <a:lnSpc>
                <a:spcPct val="100000"/>
              </a:lnSpc>
            </a:pPr>
            <a:r>
              <a:rPr lang="en-US" altLang="en-US" sz="2400" dirty="0"/>
              <a:t>Analysis of Web information networks</a:t>
            </a:r>
          </a:p>
          <a:p>
            <a:pPr lvl="2" eaLnBrk="1" hangingPunct="1">
              <a:lnSpc>
                <a:spcPct val="100000"/>
              </a:lnSpc>
            </a:pPr>
            <a:r>
              <a:rPr lang="en-US" altLang="en-US" sz="2400" dirty="0"/>
              <a:t>Web community discovery, opinion mining, usage mining, …</a:t>
            </a:r>
          </a:p>
        </p:txBody>
      </p:sp>
    </p:spTree>
    <p:extLst>
      <p:ext uri="{BB962C8B-B14F-4D97-AF65-F5344CB8AC3E}">
        <p14:creationId xmlns:p14="http://schemas.microsoft.com/office/powerpoint/2010/main" val="940126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normAutofit/>
          </a:bodyPr>
          <a:lstStyle/>
          <a:p>
            <a:r>
              <a:rPr lang="en-US" altLang="en-US" b="1" dirty="0"/>
              <a:t>Evaluation of Knowledge</a:t>
            </a:r>
          </a:p>
        </p:txBody>
      </p:sp>
      <p:sp>
        <p:nvSpPr>
          <p:cNvPr id="37892" name="Rectangle 3"/>
          <p:cNvSpPr>
            <a:spLocks noGrp="1" noChangeArrowheads="1"/>
          </p:cNvSpPr>
          <p:nvPr>
            <p:ph type="body" idx="1"/>
          </p:nvPr>
        </p:nvSpPr>
        <p:spPr>
          <a:xfrm>
            <a:off x="623045" y="1143000"/>
            <a:ext cx="10874855" cy="5257800"/>
          </a:xfrm>
        </p:spPr>
        <p:txBody>
          <a:bodyPr/>
          <a:lstStyle/>
          <a:p>
            <a:pPr>
              <a:spcAft>
                <a:spcPts val="600"/>
              </a:spcAft>
            </a:pPr>
            <a:r>
              <a:rPr lang="en-US" altLang="en-US" sz="2400" dirty="0"/>
              <a:t>Are all mined knowledge interesting?</a:t>
            </a:r>
          </a:p>
          <a:p>
            <a:pPr lvl="1">
              <a:spcAft>
                <a:spcPts val="600"/>
              </a:spcAft>
            </a:pPr>
            <a:r>
              <a:rPr lang="en-US" altLang="en-US" sz="2400" dirty="0"/>
              <a:t>One can mine tremendous amount of “patterns”  </a:t>
            </a:r>
          </a:p>
          <a:p>
            <a:pPr lvl="1">
              <a:spcAft>
                <a:spcPts val="600"/>
              </a:spcAft>
            </a:pPr>
            <a:r>
              <a:rPr lang="en-US" altLang="en-US" sz="2400" dirty="0"/>
              <a:t>Some may fit only certain dimension space (time, location, …)</a:t>
            </a:r>
          </a:p>
          <a:p>
            <a:pPr lvl="1">
              <a:spcAft>
                <a:spcPts val="600"/>
              </a:spcAft>
            </a:pPr>
            <a:r>
              <a:rPr lang="en-US" altLang="en-US" sz="2400" dirty="0"/>
              <a:t>Some may not be representative, may be transient, …</a:t>
            </a:r>
          </a:p>
          <a:p>
            <a:pPr>
              <a:spcAft>
                <a:spcPts val="600"/>
              </a:spcAft>
            </a:pPr>
            <a:r>
              <a:rPr lang="en-US" altLang="en-US" sz="2400" dirty="0"/>
              <a:t>Evaluation of mined knowledge </a:t>
            </a:r>
            <a:r>
              <a:rPr lang="en-US" altLang="en-US" sz="2400" dirty="0">
                <a:cs typeface="Arial" panose="020B0604020202020204" pitchFamily="34" charset="0"/>
              </a:rPr>
              <a:t>→ directly mining only interesting knowledge?</a:t>
            </a:r>
          </a:p>
          <a:p>
            <a:pPr lvl="1">
              <a:spcAft>
                <a:spcPts val="600"/>
              </a:spcAft>
            </a:pPr>
            <a:r>
              <a:rPr lang="en-US" altLang="en-US" sz="2400" dirty="0"/>
              <a:t>Descriptive vs. predictive</a:t>
            </a:r>
          </a:p>
          <a:p>
            <a:pPr lvl="1">
              <a:spcAft>
                <a:spcPts val="600"/>
              </a:spcAft>
            </a:pPr>
            <a:r>
              <a:rPr lang="en-US" altLang="en-US" sz="2400" dirty="0"/>
              <a:t>Coverage</a:t>
            </a:r>
          </a:p>
          <a:p>
            <a:pPr lvl="1">
              <a:spcAft>
                <a:spcPts val="600"/>
              </a:spcAft>
            </a:pPr>
            <a:r>
              <a:rPr lang="en-US" altLang="en-US" sz="2400" dirty="0"/>
              <a:t>Typicality vs. novelty</a:t>
            </a:r>
          </a:p>
          <a:p>
            <a:pPr lvl="1">
              <a:spcAft>
                <a:spcPts val="600"/>
              </a:spcAft>
            </a:pPr>
            <a:r>
              <a:rPr lang="en-US" altLang="en-US" sz="2400" dirty="0"/>
              <a:t>Accuracy</a:t>
            </a:r>
          </a:p>
          <a:p>
            <a:pPr lvl="1">
              <a:spcAft>
                <a:spcPts val="600"/>
              </a:spcAft>
            </a:pPr>
            <a:r>
              <a:rPr lang="en-US" altLang="en-US" sz="2400" dirty="0"/>
              <a:t>Timeliness</a:t>
            </a:r>
          </a:p>
          <a:p>
            <a:pPr lvl="1">
              <a:spcAft>
                <a:spcPts val="600"/>
              </a:spcAft>
            </a:pPr>
            <a:r>
              <a:rPr lang="en-US" altLang="en-US" sz="2400" dirty="0"/>
              <a:t>…</a:t>
            </a:r>
          </a:p>
        </p:txBody>
      </p:sp>
      <p:pic>
        <p:nvPicPr>
          <p:cNvPr id="10242" name="Picture 2" descr="http://ieg.worldbankgroup.org/Data/knowledge_banner.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7853" y="4117397"/>
            <a:ext cx="4629150" cy="2152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2545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a:xfrm>
            <a:off x="224118" y="266700"/>
            <a:ext cx="11591364" cy="762000"/>
          </a:xfrm>
          <a:noFill/>
        </p:spPr>
        <p:txBody>
          <a:bodyPr vert="horz" lIns="92075" tIns="46038" rIns="92075" bIns="46038" rtlCol="0" anchor="ctr">
            <a:noAutofit/>
          </a:bodyPr>
          <a:lstStyle/>
          <a:p>
            <a:pPr eaLnBrk="1" hangingPunct="1"/>
            <a:r>
              <a:rPr lang="en-US" altLang="en-US" b="1" dirty="0"/>
              <a:t>Data Mining: Confluence of Multiple Disciplines </a:t>
            </a:r>
          </a:p>
        </p:txBody>
      </p:sp>
      <p:pic>
        <p:nvPicPr>
          <p:cNvPr id="3" name="Picture 2">
            <a:extLst>
              <a:ext uri="{FF2B5EF4-FFF2-40B4-BE49-F238E27FC236}">
                <a16:creationId xmlns:a16="http://schemas.microsoft.com/office/drawing/2014/main" xmlns="" id="{EC0D8C16-FDF1-8962-8B06-F99A34BA3E06}"/>
              </a:ext>
            </a:extLst>
          </p:cNvPr>
          <p:cNvPicPr>
            <a:picLocks noChangeAspect="1"/>
          </p:cNvPicPr>
          <p:nvPr/>
        </p:nvPicPr>
        <p:blipFill>
          <a:blip r:embed="rId3"/>
          <a:stretch>
            <a:fillRect/>
          </a:stretch>
        </p:blipFill>
        <p:spPr>
          <a:xfrm>
            <a:off x="984043" y="1417281"/>
            <a:ext cx="10523539" cy="4912648"/>
          </a:xfrm>
          <a:prstGeom prst="rect">
            <a:avLst/>
          </a:prstGeom>
        </p:spPr>
      </p:pic>
    </p:spTree>
    <p:extLst>
      <p:ext uri="{BB962C8B-B14F-4D97-AF65-F5344CB8AC3E}">
        <p14:creationId xmlns:p14="http://schemas.microsoft.com/office/powerpoint/2010/main" val="1291447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a:xfrm>
            <a:off x="636495" y="304799"/>
            <a:ext cx="10981764" cy="779930"/>
          </a:xfrm>
          <a:noFill/>
        </p:spPr>
        <p:txBody>
          <a:bodyPr vert="horz" lIns="92075" tIns="46038" rIns="92075" bIns="46038" rtlCol="0" anchor="ctr">
            <a:normAutofit/>
          </a:bodyPr>
          <a:lstStyle/>
          <a:p>
            <a:pPr eaLnBrk="1" hangingPunct="1"/>
            <a:r>
              <a:rPr lang="en-US" altLang="en-US" b="1" dirty="0"/>
              <a:t>Why Confluence of Multiple Disciplines?</a:t>
            </a:r>
            <a:endParaRPr lang="en-US" altLang="en-US" b="1" u="sng" dirty="0"/>
          </a:p>
        </p:txBody>
      </p:sp>
      <p:sp>
        <p:nvSpPr>
          <p:cNvPr id="40964" name="Rectangle 3"/>
          <p:cNvSpPr>
            <a:spLocks noGrp="1" noChangeArrowheads="1"/>
          </p:cNvSpPr>
          <p:nvPr>
            <p:ph type="body" idx="1"/>
          </p:nvPr>
        </p:nvSpPr>
        <p:spPr>
          <a:xfrm>
            <a:off x="636495" y="1295400"/>
            <a:ext cx="10892117" cy="5181600"/>
          </a:xfrm>
          <a:noFill/>
        </p:spPr>
        <p:txBody>
          <a:bodyPr vert="horz" lIns="92075" tIns="46038" rIns="92075" bIns="46038" rtlCol="0">
            <a:noAutofit/>
          </a:bodyPr>
          <a:lstStyle/>
          <a:p>
            <a:pPr eaLnBrk="1" hangingPunct="1">
              <a:lnSpc>
                <a:spcPct val="100000"/>
              </a:lnSpc>
            </a:pPr>
            <a:r>
              <a:rPr lang="en-US" altLang="en-US" sz="2400" dirty="0"/>
              <a:t>Tremendous amount of data</a:t>
            </a:r>
          </a:p>
          <a:p>
            <a:pPr lvl="1" eaLnBrk="1" hangingPunct="1">
              <a:lnSpc>
                <a:spcPct val="100000"/>
              </a:lnSpc>
            </a:pPr>
            <a:r>
              <a:rPr lang="en-US" altLang="en-US" sz="2400" dirty="0"/>
              <a:t>Algorithms must be scalable to handle big data</a:t>
            </a:r>
          </a:p>
          <a:p>
            <a:pPr eaLnBrk="1" hangingPunct="1">
              <a:lnSpc>
                <a:spcPct val="100000"/>
              </a:lnSpc>
            </a:pPr>
            <a:r>
              <a:rPr lang="en-US" altLang="en-US" sz="2400" dirty="0"/>
              <a:t>High-dimensionality of data </a:t>
            </a:r>
          </a:p>
          <a:p>
            <a:pPr lvl="1" eaLnBrk="1" hangingPunct="1">
              <a:lnSpc>
                <a:spcPct val="100000"/>
              </a:lnSpc>
            </a:pPr>
            <a:r>
              <a:rPr lang="en-US" altLang="en-US" sz="2400" dirty="0"/>
              <a:t>Micro-array may have tens of thousands of dimensions</a:t>
            </a:r>
          </a:p>
          <a:p>
            <a:pPr eaLnBrk="1" hangingPunct="1">
              <a:lnSpc>
                <a:spcPct val="100000"/>
              </a:lnSpc>
            </a:pPr>
            <a:r>
              <a:rPr lang="en-US" altLang="en-US" sz="2400" dirty="0"/>
              <a:t>High complexity of data</a:t>
            </a:r>
          </a:p>
          <a:p>
            <a:pPr lvl="1" eaLnBrk="1" hangingPunct="1">
              <a:lnSpc>
                <a:spcPct val="100000"/>
              </a:lnSpc>
            </a:pPr>
            <a:r>
              <a:rPr lang="en-US" altLang="en-US" sz="2400" dirty="0"/>
              <a:t>Data streams and sensor data</a:t>
            </a:r>
          </a:p>
          <a:p>
            <a:pPr lvl="1" eaLnBrk="1" hangingPunct="1">
              <a:lnSpc>
                <a:spcPct val="100000"/>
              </a:lnSpc>
            </a:pPr>
            <a:r>
              <a:rPr lang="en-US" altLang="en-US" sz="2400" dirty="0"/>
              <a:t>Time-series data, temporal data, sequence data </a:t>
            </a:r>
          </a:p>
          <a:p>
            <a:pPr lvl="1" eaLnBrk="1" hangingPunct="1">
              <a:lnSpc>
                <a:spcPct val="100000"/>
              </a:lnSpc>
            </a:pPr>
            <a:r>
              <a:rPr lang="en-US" altLang="en-US" sz="2400" dirty="0"/>
              <a:t>Structure data, graphs, social and information networks</a:t>
            </a:r>
          </a:p>
          <a:p>
            <a:pPr lvl="1" eaLnBrk="1" hangingPunct="1">
              <a:lnSpc>
                <a:spcPct val="100000"/>
              </a:lnSpc>
            </a:pPr>
            <a:r>
              <a:rPr lang="en-US" altLang="en-US" sz="2400" dirty="0"/>
              <a:t>Spatial, spatiotemporal, multimedia, text and Web data</a:t>
            </a:r>
          </a:p>
          <a:p>
            <a:pPr lvl="1" eaLnBrk="1" hangingPunct="1">
              <a:lnSpc>
                <a:spcPct val="100000"/>
              </a:lnSpc>
            </a:pPr>
            <a:r>
              <a:rPr lang="en-US" altLang="en-US" sz="2400" dirty="0"/>
              <a:t>Software programs, scientific simulations</a:t>
            </a:r>
          </a:p>
          <a:p>
            <a:pPr eaLnBrk="1" hangingPunct="1">
              <a:lnSpc>
                <a:spcPct val="100000"/>
              </a:lnSpc>
            </a:pPr>
            <a:r>
              <a:rPr lang="en-US" altLang="en-US" sz="2400" dirty="0"/>
              <a:t>New and sophisticated applications</a:t>
            </a:r>
          </a:p>
        </p:txBody>
      </p:sp>
    </p:spTree>
    <p:extLst>
      <p:ext uri="{BB962C8B-B14F-4D97-AF65-F5344CB8AC3E}">
        <p14:creationId xmlns:p14="http://schemas.microsoft.com/office/powerpoint/2010/main" val="4755322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pPr eaLnBrk="1" hangingPunct="1"/>
            <a:r>
              <a:rPr lang="en-US" altLang="en-US" b="1" dirty="0"/>
              <a:t>Data Mining and Applications</a:t>
            </a:r>
          </a:p>
        </p:txBody>
      </p:sp>
      <p:sp>
        <p:nvSpPr>
          <p:cNvPr id="43012" name="Rectangle 3"/>
          <p:cNvSpPr>
            <a:spLocks noGrp="1" noChangeArrowheads="1"/>
          </p:cNvSpPr>
          <p:nvPr>
            <p:ph type="body" idx="1"/>
          </p:nvPr>
        </p:nvSpPr>
        <p:spPr>
          <a:xfrm>
            <a:off x="605118" y="1308847"/>
            <a:ext cx="11115830" cy="5181600"/>
          </a:xfrm>
        </p:spPr>
        <p:txBody>
          <a:bodyPr/>
          <a:lstStyle/>
          <a:p>
            <a:pPr eaLnBrk="1" hangingPunct="1">
              <a:lnSpc>
                <a:spcPct val="120000"/>
              </a:lnSpc>
            </a:pPr>
            <a:r>
              <a:rPr lang="en-US" altLang="en-US" sz="2400" dirty="0"/>
              <a:t>Web page analysis: classification, clustering, ranking</a:t>
            </a:r>
          </a:p>
          <a:p>
            <a:pPr eaLnBrk="1" hangingPunct="1">
              <a:lnSpc>
                <a:spcPct val="120000"/>
              </a:lnSpc>
            </a:pPr>
            <a:r>
              <a:rPr lang="en-US" altLang="en-US" sz="2400" dirty="0"/>
              <a:t>Collaborative analysis &amp; recommender systems</a:t>
            </a:r>
          </a:p>
          <a:p>
            <a:pPr eaLnBrk="1" hangingPunct="1">
              <a:lnSpc>
                <a:spcPct val="120000"/>
              </a:lnSpc>
            </a:pPr>
            <a:r>
              <a:rPr lang="en-US" altLang="en-US" sz="2400" dirty="0"/>
              <a:t>Basket data analysis to targeted marketing</a:t>
            </a:r>
          </a:p>
          <a:p>
            <a:pPr eaLnBrk="1" hangingPunct="1">
              <a:lnSpc>
                <a:spcPct val="120000"/>
              </a:lnSpc>
            </a:pPr>
            <a:r>
              <a:rPr lang="en-US" altLang="en-US" sz="2400" dirty="0"/>
              <a:t>Biological and medical data analysis</a:t>
            </a:r>
          </a:p>
          <a:p>
            <a:pPr eaLnBrk="1" hangingPunct="1">
              <a:lnSpc>
                <a:spcPct val="120000"/>
              </a:lnSpc>
            </a:pPr>
            <a:r>
              <a:rPr lang="en-US" altLang="en-US" sz="2400" dirty="0"/>
              <a:t>Data mining and software engineering  </a:t>
            </a:r>
          </a:p>
          <a:p>
            <a:pPr eaLnBrk="1" hangingPunct="1">
              <a:lnSpc>
                <a:spcPct val="120000"/>
              </a:lnSpc>
            </a:pPr>
            <a:r>
              <a:rPr lang="en-US" altLang="en-US" sz="2400" dirty="0"/>
              <a:t>Data mining and text analysis</a:t>
            </a:r>
          </a:p>
          <a:p>
            <a:pPr eaLnBrk="1" hangingPunct="1">
              <a:lnSpc>
                <a:spcPct val="120000"/>
              </a:lnSpc>
            </a:pPr>
            <a:r>
              <a:rPr lang="en-US" altLang="en-US" sz="2400" dirty="0"/>
              <a:t>Data mining and social and information network analysis</a:t>
            </a:r>
          </a:p>
          <a:p>
            <a:pPr>
              <a:lnSpc>
                <a:spcPct val="120000"/>
              </a:lnSpc>
            </a:pPr>
            <a:r>
              <a:rPr lang="en-US" altLang="en-US" sz="2400" dirty="0"/>
              <a:t>Built-in (invisible data mining) functions in Google, Microsoft, LinkedIn, Meta, … </a:t>
            </a:r>
          </a:p>
          <a:p>
            <a:pPr>
              <a:lnSpc>
                <a:spcPct val="120000"/>
              </a:lnSpc>
            </a:pPr>
            <a:r>
              <a:rPr lang="en-US" altLang="en-US" sz="2400" dirty="0"/>
              <a:t>Major dedicated data mining systems/tools </a:t>
            </a:r>
          </a:p>
          <a:p>
            <a:pPr lvl="1">
              <a:lnSpc>
                <a:spcPct val="120000"/>
              </a:lnSpc>
            </a:pPr>
            <a:r>
              <a:rPr lang="en-US" altLang="en-US" sz="2400" dirty="0"/>
              <a:t>SAS, MS SQL-Server Analysis Manager, Oracle Data Mining Tools)</a:t>
            </a:r>
          </a:p>
        </p:txBody>
      </p:sp>
      <p:pic>
        <p:nvPicPr>
          <p:cNvPr id="4098" name="Picture 2" descr="http://www.aia.es/wp-content/uploads/2012/09/recommendation_system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8429" y="1308847"/>
            <a:ext cx="3314700" cy="3314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4207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pPr eaLnBrk="1" hangingPunct="1"/>
            <a:r>
              <a:rPr lang="en-US" altLang="en-US" b="1" dirty="0"/>
              <a:t>Data Mining and Society</a:t>
            </a:r>
          </a:p>
        </p:txBody>
      </p:sp>
      <p:sp>
        <p:nvSpPr>
          <p:cNvPr id="43012" name="Rectangle 3"/>
          <p:cNvSpPr>
            <a:spLocks noGrp="1" noChangeArrowheads="1"/>
          </p:cNvSpPr>
          <p:nvPr>
            <p:ph type="body" idx="1"/>
          </p:nvPr>
        </p:nvSpPr>
        <p:spPr>
          <a:xfrm>
            <a:off x="605118" y="1200205"/>
            <a:ext cx="10983318" cy="5345450"/>
          </a:xfrm>
        </p:spPr>
        <p:txBody>
          <a:bodyPr/>
          <a:lstStyle/>
          <a:p>
            <a:pPr eaLnBrk="1" hangingPunct="1">
              <a:lnSpc>
                <a:spcPct val="120000"/>
              </a:lnSpc>
            </a:pPr>
            <a:r>
              <a:rPr lang="en-US" sz="2400" b="0" i="0" u="none" strike="noStrike" baseline="0" dirty="0"/>
              <a:t>Data mining technology may benefit society</a:t>
            </a:r>
          </a:p>
          <a:p>
            <a:pPr lvl="1">
              <a:lnSpc>
                <a:spcPct val="120000"/>
              </a:lnSpc>
            </a:pPr>
            <a:r>
              <a:rPr lang="en-US" sz="2400" b="0" i="0" u="none" strike="noStrike" baseline="0" dirty="0"/>
              <a:t>Ex.: Help scientific discovery, business management, economy recovery, and security protection (</a:t>
            </a:r>
            <a:r>
              <a:rPr lang="en-US" sz="2400" b="0" i="1" u="none" strike="noStrike" baseline="0" dirty="0"/>
              <a:t>e.g.</a:t>
            </a:r>
            <a:r>
              <a:rPr lang="en-US" sz="2400" b="0" i="0" u="none" strike="noStrike" baseline="0" dirty="0"/>
              <a:t>, the real-time discovery of intruders and cyberattacks)</a:t>
            </a:r>
          </a:p>
          <a:p>
            <a:pPr eaLnBrk="1" hangingPunct="1">
              <a:lnSpc>
                <a:spcPct val="120000"/>
              </a:lnSpc>
            </a:pPr>
            <a:r>
              <a:rPr lang="en-US" sz="2400" b="0" i="0" u="none" strike="noStrike" baseline="0" dirty="0"/>
              <a:t>Need to guard against the misuse of data mining </a:t>
            </a:r>
          </a:p>
          <a:p>
            <a:pPr lvl="1"/>
            <a:r>
              <a:rPr lang="en-US" sz="2400" b="0" i="0" u="none" strike="noStrike" baseline="0" dirty="0"/>
              <a:t>Data mining also poses the risk of unintentionally disclosing some confidential business or government information and disclosing an individual’s personal information</a:t>
            </a:r>
          </a:p>
          <a:p>
            <a:pPr algn="l"/>
            <a:r>
              <a:rPr lang="en-US" sz="2400" b="0" i="0" u="none" strike="noStrike" baseline="0" dirty="0"/>
              <a:t>Studies on data security in data mining and privacy-preserving data publishing and data mining are important, ongoing research theme </a:t>
            </a:r>
          </a:p>
          <a:p>
            <a:pPr lvl="1"/>
            <a:r>
              <a:rPr lang="en-US" sz="2400" b="0" i="0" u="none" strike="noStrike" baseline="0" dirty="0"/>
              <a:t>The philosophy is to observe data sensitivity and preserve data security and people’s privacy while performing successful data mining</a:t>
            </a:r>
          </a:p>
          <a:p>
            <a:pPr algn="l"/>
            <a:r>
              <a:rPr lang="en-US" sz="2400" b="0" i="0" u="none" strike="noStrike" baseline="0" dirty="0"/>
              <a:t>These and other related issues will be discussed throughout the book</a:t>
            </a:r>
            <a:endParaRPr lang="en-US" sz="3200" b="0" i="0" u="none" strike="noStrike" baseline="0" dirty="0"/>
          </a:p>
        </p:txBody>
      </p:sp>
    </p:spTree>
    <p:extLst>
      <p:ext uri="{BB962C8B-B14F-4D97-AF65-F5344CB8AC3E}">
        <p14:creationId xmlns:p14="http://schemas.microsoft.com/office/powerpoint/2010/main" val="7589894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xfrm>
            <a:off x="2590800" y="404814"/>
            <a:ext cx="7010400" cy="528637"/>
          </a:xfrm>
          <a:noFill/>
        </p:spPr>
        <p:txBody>
          <a:bodyPr vert="horz" lIns="92075" tIns="46038" rIns="92075" bIns="46038" rtlCol="0" anchor="ctr">
            <a:noAutofit/>
          </a:bodyPr>
          <a:lstStyle/>
          <a:p>
            <a:pPr eaLnBrk="1" hangingPunct="1"/>
            <a:r>
              <a:rPr lang="en-US" altLang="en-US" b="1" dirty="0"/>
              <a:t>Summary</a:t>
            </a:r>
          </a:p>
        </p:txBody>
      </p:sp>
      <p:sp>
        <p:nvSpPr>
          <p:cNvPr id="44036" name="Rectangle 3"/>
          <p:cNvSpPr>
            <a:spLocks noGrp="1" noChangeArrowheads="1"/>
          </p:cNvSpPr>
          <p:nvPr>
            <p:ph type="body" idx="1"/>
          </p:nvPr>
        </p:nvSpPr>
        <p:spPr>
          <a:xfrm>
            <a:off x="569259" y="1196788"/>
            <a:ext cx="10995212" cy="5455024"/>
          </a:xfrm>
          <a:noFill/>
        </p:spPr>
        <p:txBody>
          <a:bodyPr vert="horz" lIns="92075" tIns="46038" rIns="92075" bIns="46038" rtlCol="0">
            <a:noAutofit/>
          </a:bodyPr>
          <a:lstStyle/>
          <a:p>
            <a:pPr eaLnBrk="1" hangingPunct="1">
              <a:lnSpc>
                <a:spcPct val="120000"/>
              </a:lnSpc>
            </a:pPr>
            <a:r>
              <a:rPr lang="en-US" altLang="en-US" sz="2400" dirty="0"/>
              <a:t>Data mining: Discovering interesting patterns and knowledge from massive amounts of data</a:t>
            </a:r>
          </a:p>
          <a:p>
            <a:pPr eaLnBrk="1" hangingPunct="1">
              <a:lnSpc>
                <a:spcPct val="120000"/>
              </a:lnSpc>
            </a:pPr>
            <a:r>
              <a:rPr lang="en-US" altLang="en-US" sz="2400" dirty="0"/>
              <a:t>A KDD process includes data cleaning, data integration, data selection, transformation, data mining, pattern evaluation, and knowledge presentation</a:t>
            </a:r>
          </a:p>
          <a:p>
            <a:pPr eaLnBrk="1" hangingPunct="1">
              <a:lnSpc>
                <a:spcPct val="120000"/>
              </a:lnSpc>
            </a:pPr>
            <a:r>
              <a:rPr lang="en-US" altLang="en-US" sz="2400" dirty="0"/>
              <a:t>Different data mining method on a wide variety of data</a:t>
            </a:r>
          </a:p>
          <a:p>
            <a:pPr eaLnBrk="1" hangingPunct="1">
              <a:lnSpc>
                <a:spcPct val="120000"/>
              </a:lnSpc>
            </a:pPr>
            <a:r>
              <a:rPr lang="en-US" altLang="en-US" sz="2400" dirty="0"/>
              <a:t>Data mining functionalities: summarization, pattern discovery, classification, clustering, deep learning, outlier analysis, trend and outlier analysis, …</a:t>
            </a:r>
          </a:p>
          <a:p>
            <a:pPr eaLnBrk="1" hangingPunct="1">
              <a:lnSpc>
                <a:spcPct val="120000"/>
              </a:lnSpc>
            </a:pPr>
            <a:r>
              <a:rPr lang="en-US" altLang="en-US" sz="2400" dirty="0"/>
              <a:t>Data mining is a confluence of multiple disciplines </a:t>
            </a:r>
          </a:p>
          <a:p>
            <a:pPr eaLnBrk="1" hangingPunct="1">
              <a:lnSpc>
                <a:spcPct val="120000"/>
              </a:lnSpc>
            </a:pPr>
            <a:r>
              <a:rPr lang="en-US" altLang="en-US" sz="2400" dirty="0"/>
              <a:t>Data mining has broad applications</a:t>
            </a:r>
          </a:p>
          <a:p>
            <a:pPr eaLnBrk="1" hangingPunct="1">
              <a:lnSpc>
                <a:spcPct val="120000"/>
              </a:lnSpc>
            </a:pPr>
            <a:r>
              <a:rPr lang="en-US" altLang="en-US" sz="2400" dirty="0"/>
              <a:t>Promote secure data mining to benefit society</a:t>
            </a:r>
          </a:p>
        </p:txBody>
      </p:sp>
    </p:spTree>
    <p:extLst>
      <p:ext uri="{BB962C8B-B14F-4D97-AF65-F5344CB8AC3E}">
        <p14:creationId xmlns:p14="http://schemas.microsoft.com/office/powerpoint/2010/main" val="181743819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21156</TotalTime>
  <Words>5347</Words>
  <Application>Microsoft Office PowerPoint</Application>
  <PresentationFormat>Widescreen</PresentationFormat>
  <Paragraphs>406</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Berlin Sans FB Demi</vt:lpstr>
      <vt:lpstr>Calibri</vt:lpstr>
      <vt:lpstr>Tahoma</vt:lpstr>
      <vt:lpstr>Wingdings</vt:lpstr>
      <vt:lpstr>Retrospect</vt:lpstr>
      <vt:lpstr>Chapter 1.  Introduction</vt:lpstr>
      <vt:lpstr>What Is Data Mining?</vt:lpstr>
      <vt:lpstr>Data Mining: An Essential Step in Knowledge Discovery</vt:lpstr>
      <vt:lpstr>Diversity of Data Types for Data Mining (I)</vt:lpstr>
      <vt:lpstr>Diversity of Data Types for Data Mining (II)</vt:lpstr>
      <vt:lpstr>Mining Various Kinds of Knowledge</vt:lpstr>
      <vt:lpstr>Multidimensional Data Summarization</vt:lpstr>
      <vt:lpstr>Pattern Discovery: Mining Frequent Patterns, Associations, and Correlations </vt:lpstr>
      <vt:lpstr>Classification and Regression for Predictive Analysis</vt:lpstr>
      <vt:lpstr>Cluster Analysis</vt:lpstr>
      <vt:lpstr>Deep Learning</vt:lpstr>
      <vt:lpstr>Outlier Analysis</vt:lpstr>
      <vt:lpstr>Other Data Mining Functions: Time and Ordering: Sequential Pattern, Trend and Evolution Analysis</vt:lpstr>
      <vt:lpstr>Other Data Mining Functions: Structure and Network Analysis</vt:lpstr>
      <vt:lpstr>Evaluation of Knowledge</vt:lpstr>
      <vt:lpstr>Data Mining: Confluence of Multiple Disciplines </vt:lpstr>
      <vt:lpstr>Why Confluence of Multiple Disciplines?</vt:lpstr>
      <vt:lpstr>Data Mining and Applications</vt:lpstr>
      <vt:lpstr>Data Mining and Society</vt:lpstr>
      <vt:lpstr>Summary</vt:lpstr>
    </vt:vector>
  </TitlesOfParts>
  <Company>UIUC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Latent Entity Structures</dc:title>
  <dc:creator>Jiawei Han</dc:creator>
  <cp:lastModifiedBy>Microsoft account</cp:lastModifiedBy>
  <cp:revision>949</cp:revision>
  <cp:lastPrinted>2016-08-23T14:41:30Z</cp:lastPrinted>
  <dcterms:created xsi:type="dcterms:W3CDTF">2014-06-02T15:06:14Z</dcterms:created>
  <dcterms:modified xsi:type="dcterms:W3CDTF">2024-06-15T12:03:36Z</dcterms:modified>
</cp:coreProperties>
</file>