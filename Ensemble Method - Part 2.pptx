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7" r:id="rId5"/>
    <p:sldId id="258" r:id="rId6"/>
    <p:sldId id="259" r:id="rId7"/>
    <p:sldId id="260" r:id="rId8"/>
    <p:sldId id="284" r:id="rId9"/>
    <p:sldId id="261" r:id="rId10"/>
    <p:sldId id="285" r:id="rId11"/>
    <p:sldId id="286" r:id="rId12"/>
    <p:sldId id="287" r:id="rId13"/>
    <p:sldId id="288" r:id="rId14"/>
    <p:sldId id="289" r:id="rId15"/>
    <p:sldId id="291" r:id="rId16"/>
    <p:sldId id="290"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6DC771-2F09-4A6B-A2B6-E22128F76E92}" v="200" dt="2024-09-06T09:20:53.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56" autoAdjust="0"/>
  </p:normalViewPr>
  <p:slideViewPr>
    <p:cSldViewPr snapToGrid="0">
      <p:cViewPr varScale="1">
        <p:scale>
          <a:sx n="56" d="100"/>
          <a:sy n="56" d="100"/>
        </p:scale>
        <p:origin x="102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17FA34-2BFF-41B3-BB8E-0E134EB8BC72}" type="datetimeFigureOut">
              <a:rPr lang="en-US" smtClean="0"/>
              <a:t>10/23/2024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6539A9-9869-4F91-A69F-7FCF23E94D7A}" type="slidenum">
              <a:rPr lang="en-US" smtClean="0"/>
              <a:t>‹#›</a:t>
            </a:fld>
            <a:endParaRPr lang="en-US"/>
          </a:p>
        </p:txBody>
      </p:sp>
    </p:spTree>
    <p:extLst>
      <p:ext uri="{BB962C8B-B14F-4D97-AF65-F5344CB8AC3E}">
        <p14:creationId xmlns:p14="http://schemas.microsoft.com/office/powerpoint/2010/main" val="3649835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is </a:t>
            </a:r>
            <a:r>
              <a:rPr lang="en-US" b="1" dirty="0" err="1" smtClean="0"/>
              <a:t>AdaBoost</a:t>
            </a:r>
            <a:r>
              <a:rPr lang="en-US" b="1" dirty="0" smtClean="0"/>
              <a:t>?</a:t>
            </a:r>
          </a:p>
          <a:p>
            <a:r>
              <a:rPr lang="en-US" dirty="0" err="1" smtClean="0"/>
              <a:t>AdaBoost</a:t>
            </a:r>
            <a:r>
              <a:rPr lang="en-US" dirty="0" smtClean="0"/>
              <a:t> is a type of </a:t>
            </a:r>
            <a:r>
              <a:rPr lang="en-US" b="1" dirty="0" smtClean="0"/>
              <a:t>boosting algorithm</a:t>
            </a:r>
            <a:r>
              <a:rPr lang="en-US" dirty="0" smtClean="0"/>
              <a:t> that focuses on building a strong model by combining several weak models. The key idea is to train models sequentially, with each model focusing on correcting the errors made by the previous one.</a:t>
            </a:r>
          </a:p>
          <a:p>
            <a:r>
              <a:rPr lang="en-US" b="1" dirty="0" smtClean="0"/>
              <a:t>How </a:t>
            </a:r>
            <a:r>
              <a:rPr lang="en-US" b="1" dirty="0" err="1" smtClean="0"/>
              <a:t>AdaBoost</a:t>
            </a:r>
            <a:r>
              <a:rPr lang="en-US" b="1" dirty="0" smtClean="0"/>
              <a:t> Works:</a:t>
            </a:r>
          </a:p>
          <a:p>
            <a:r>
              <a:rPr lang="en-US" b="1" dirty="0" smtClean="0"/>
              <a:t>Start with a Weak Model</a:t>
            </a:r>
            <a:r>
              <a:rPr lang="en-US" dirty="0" smtClean="0"/>
              <a:t>:</a:t>
            </a:r>
          </a:p>
          <a:p>
            <a:pPr lvl="1"/>
            <a:r>
              <a:rPr lang="en-US" dirty="0" smtClean="0"/>
              <a:t>The first model (Model 1) is trained on the data. It’s a simple model that may not do a great job of classifying everything correctly. Some points are classified correctly (in blue), while others are misclassified (in red).</a:t>
            </a:r>
          </a:p>
          <a:p>
            <a:r>
              <a:rPr lang="en-US" b="1" dirty="0" smtClean="0"/>
              <a:t>Give More Weight to Misclassified Points</a:t>
            </a:r>
            <a:r>
              <a:rPr lang="en-US" dirty="0" smtClean="0"/>
              <a:t>:</a:t>
            </a:r>
          </a:p>
          <a:p>
            <a:pPr lvl="1"/>
            <a:r>
              <a:rPr lang="en-US" dirty="0" smtClean="0"/>
              <a:t>After the first model is trained, the algorithm looks at which points were classified incorrectly. These misclassified points are given </a:t>
            </a:r>
            <a:r>
              <a:rPr lang="en-US" b="1" dirty="0" smtClean="0"/>
              <a:t>higher weights</a:t>
            </a:r>
            <a:r>
              <a:rPr lang="en-US" dirty="0" smtClean="0"/>
              <a:t>, meaning the next model (Model 2) will focus more on them. The idea is to fix the mistakes of the first model.</a:t>
            </a:r>
          </a:p>
          <a:p>
            <a:r>
              <a:rPr lang="en-US" b="1" dirty="0" smtClean="0"/>
              <a:t>Train the Next Model</a:t>
            </a:r>
            <a:r>
              <a:rPr lang="en-US" dirty="0" smtClean="0"/>
              <a:t>:</a:t>
            </a:r>
          </a:p>
          <a:p>
            <a:pPr lvl="1"/>
            <a:r>
              <a:rPr lang="en-US" dirty="0" smtClean="0"/>
              <a:t>Model 2 is now trained, with more attention given to the points that were misclassified by Model 1. Again, some points may still be misclassified, and the weights of these points are adjusted for the next round.</a:t>
            </a:r>
          </a:p>
          <a:p>
            <a:r>
              <a:rPr lang="en-US" b="1" dirty="0" smtClean="0"/>
              <a:t>Repeat for Multiple Models</a:t>
            </a:r>
            <a:r>
              <a:rPr lang="en-US" dirty="0" smtClean="0"/>
              <a:t>:</a:t>
            </a:r>
          </a:p>
          <a:p>
            <a:pPr lvl="1"/>
            <a:r>
              <a:rPr lang="en-US" dirty="0" smtClean="0"/>
              <a:t>This process continues for several rounds (in this case, Model 3 is the third model in the sequence). Each new model focuses on the mistakes made by the previous models.</a:t>
            </a:r>
          </a:p>
          <a:p>
            <a:r>
              <a:rPr lang="en-US" b="1" dirty="0" smtClean="0"/>
              <a:t>Combine the Models</a:t>
            </a:r>
            <a:r>
              <a:rPr lang="en-US" dirty="0" smtClean="0"/>
              <a:t>:</a:t>
            </a:r>
          </a:p>
          <a:p>
            <a:pPr lvl="1"/>
            <a:r>
              <a:rPr lang="en-US" dirty="0" smtClean="0"/>
              <a:t>Finally, all the models are combined to make the final prediction. In </a:t>
            </a:r>
            <a:r>
              <a:rPr lang="en-US" dirty="0" err="1" smtClean="0"/>
              <a:t>AdaBoost</a:t>
            </a:r>
            <a:r>
              <a:rPr lang="en-US" dirty="0" smtClean="0"/>
              <a:t>, the models are combined in a weighted manner, meaning models that performed better will have more influence on the final decision. This is shown in the bottom image where all models work together to improve the final classification.</a:t>
            </a:r>
          </a:p>
          <a:p>
            <a:r>
              <a:rPr lang="en-US" b="1" dirty="0" smtClean="0"/>
              <a:t>Key Points of </a:t>
            </a:r>
            <a:r>
              <a:rPr lang="en-US" b="1" dirty="0" err="1" smtClean="0"/>
              <a:t>AdaBoost</a:t>
            </a:r>
            <a:r>
              <a:rPr lang="en-US" b="1" dirty="0" smtClean="0"/>
              <a:t>:</a:t>
            </a:r>
          </a:p>
          <a:p>
            <a:r>
              <a:rPr lang="en-US" b="1" dirty="0" smtClean="0"/>
              <a:t>Boosting weak models</a:t>
            </a:r>
            <a:r>
              <a:rPr lang="en-US" dirty="0" smtClean="0"/>
              <a:t>: Each model is a "weak learner" (like a simple decision tree), but together they become a "strong learner."</a:t>
            </a:r>
          </a:p>
          <a:p>
            <a:r>
              <a:rPr lang="en-US" b="1" dirty="0" smtClean="0"/>
              <a:t>Focus on errors</a:t>
            </a:r>
            <a:r>
              <a:rPr lang="en-US" dirty="0" smtClean="0"/>
              <a:t>: </a:t>
            </a:r>
            <a:r>
              <a:rPr lang="en-US" dirty="0" err="1" smtClean="0"/>
              <a:t>AdaBoost</a:t>
            </a:r>
            <a:r>
              <a:rPr lang="en-US" dirty="0" smtClean="0"/>
              <a:t> gives more importance to data points that were misclassified in previous rounds.</a:t>
            </a:r>
          </a:p>
          <a:p>
            <a:r>
              <a:rPr lang="en-US" b="1" dirty="0" smtClean="0"/>
              <a:t>Sequential training</a:t>
            </a:r>
            <a:r>
              <a:rPr lang="en-US" dirty="0" smtClean="0"/>
              <a:t>: Models are trained one after another, with each model improving on the previous one.</a:t>
            </a:r>
          </a:p>
          <a:p>
            <a:r>
              <a:rPr lang="en-US" b="1" dirty="0" smtClean="0"/>
              <a:t>Example:</a:t>
            </a:r>
          </a:p>
          <a:p>
            <a:r>
              <a:rPr lang="en-US" dirty="0" smtClean="0"/>
              <a:t>Think of it like a team of tutors helping you study for an exam. The first tutor teaches you some basics, but you still make some mistakes. The second tutor focuses on what you got wrong the first time, and the third tutor builds on that. By the end, all the tutors' help combines to give you a much better understanding.</a:t>
            </a:r>
          </a:p>
          <a:p>
            <a:r>
              <a:rPr lang="en-US" dirty="0" smtClean="0"/>
              <a:t>This is the basic idea behind </a:t>
            </a:r>
            <a:r>
              <a:rPr lang="en-US" dirty="0" err="1" smtClean="0"/>
              <a:t>AdaBoost</a:t>
            </a:r>
            <a:r>
              <a:rPr lang="en-US" dirty="0" smtClean="0"/>
              <a:t>—each model corrects the previous one’s mistakes, and in the end, they work together to give a much better overall performance.</a:t>
            </a:r>
          </a:p>
          <a:p>
            <a:endParaRPr lang="en-US" dirty="0"/>
          </a:p>
        </p:txBody>
      </p:sp>
      <p:sp>
        <p:nvSpPr>
          <p:cNvPr id="4" name="Slide Number Placeholder 3"/>
          <p:cNvSpPr>
            <a:spLocks noGrp="1"/>
          </p:cNvSpPr>
          <p:nvPr>
            <p:ph type="sldNum" sz="quarter" idx="10"/>
          </p:nvPr>
        </p:nvSpPr>
        <p:spPr/>
        <p:txBody>
          <a:bodyPr/>
          <a:lstStyle/>
          <a:p>
            <a:fld id="{AE6539A9-9869-4F91-A69F-7FCF23E94D7A}" type="slidenum">
              <a:rPr lang="en-US" smtClean="0"/>
              <a:t>9</a:t>
            </a:fld>
            <a:endParaRPr lang="en-US"/>
          </a:p>
        </p:txBody>
      </p:sp>
    </p:spTree>
    <p:extLst>
      <p:ext uri="{BB962C8B-B14F-4D97-AF65-F5344CB8AC3E}">
        <p14:creationId xmlns:p14="http://schemas.microsoft.com/office/powerpoint/2010/main" val="1621753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Step 1: Assign Initial Weights</a:t>
            </a:r>
          </a:p>
          <a:p>
            <a:r>
              <a:rPr lang="en-US" dirty="0" smtClean="0"/>
              <a:t>All data points get equal weight at the start.</a:t>
            </a:r>
          </a:p>
          <a:p>
            <a:r>
              <a:rPr lang="en-US" b="1" dirty="0" smtClean="0"/>
              <a:t>Step 2: Train a Weak Learner</a:t>
            </a:r>
          </a:p>
          <a:p>
            <a:r>
              <a:rPr lang="en-US" dirty="0" smtClean="0"/>
              <a:t>Train a simple model (like a decision stump) on the data.</a:t>
            </a:r>
          </a:p>
          <a:p>
            <a:r>
              <a:rPr lang="en-US" b="1" dirty="0" smtClean="0"/>
              <a:t>Step 3: Calculate the Error</a:t>
            </a:r>
          </a:p>
          <a:p>
            <a:r>
              <a:rPr lang="en-US" dirty="0" smtClean="0"/>
              <a:t>Find out how many points the model misclassified.</a:t>
            </a:r>
          </a:p>
          <a:p>
            <a:r>
              <a:rPr lang="en-US" b="1" dirty="0" smtClean="0"/>
              <a:t>Step 4: Update the Weights</a:t>
            </a:r>
          </a:p>
          <a:p>
            <a:r>
              <a:rPr lang="en-US" dirty="0" smtClean="0"/>
              <a:t>Increase the weights of the misclassified points to make them more important for the next model.</a:t>
            </a:r>
          </a:p>
          <a:p>
            <a:r>
              <a:rPr lang="en-US" b="1" dirty="0" smtClean="0"/>
              <a:t>Step 5: Normalize the Weights</a:t>
            </a:r>
          </a:p>
          <a:p>
            <a:r>
              <a:rPr lang="en-US" dirty="0" smtClean="0"/>
              <a:t>Adjust the weights so that their total equals 1.</a:t>
            </a:r>
          </a:p>
          <a:p>
            <a:r>
              <a:rPr lang="en-US" b="1" dirty="0" smtClean="0"/>
              <a:t>Step 6: Train a New Model</a:t>
            </a:r>
          </a:p>
          <a:p>
            <a:r>
              <a:rPr lang="en-US" dirty="0" smtClean="0"/>
              <a:t>Train a new weak model with the updated weights, focusing on the points the last </a:t>
            </a:r>
            <a:r>
              <a:rPr lang="en-US" smtClean="0"/>
              <a:t>model misclassified.</a:t>
            </a:r>
            <a:endParaRPr lang="en-US" dirty="0" smtClean="0"/>
          </a:p>
          <a:p>
            <a:r>
              <a:rPr lang="en-US" b="1" dirty="0" smtClean="0"/>
              <a:t>Step 7: Combine Models</a:t>
            </a:r>
          </a:p>
          <a:p>
            <a:r>
              <a:rPr lang="en-US" dirty="0" smtClean="0"/>
              <a:t>Combine all the weak models into one strong model, giving more weight to the better models.</a:t>
            </a:r>
          </a:p>
          <a:p>
            <a:r>
              <a:rPr lang="en-US" b="1" dirty="0" smtClean="0"/>
              <a:t>Step 8: Repeat Until Low Error</a:t>
            </a:r>
          </a:p>
          <a:p>
            <a:r>
              <a:rPr lang="en-US" dirty="0" smtClean="0"/>
              <a:t>Keep repeating the process until the error becomes very low or you reach the maximum number of iterations.</a:t>
            </a:r>
          </a:p>
          <a:p>
            <a:endParaRPr lang="en-US" dirty="0"/>
          </a:p>
        </p:txBody>
      </p:sp>
      <p:sp>
        <p:nvSpPr>
          <p:cNvPr id="4" name="Slide Number Placeholder 3"/>
          <p:cNvSpPr>
            <a:spLocks noGrp="1"/>
          </p:cNvSpPr>
          <p:nvPr>
            <p:ph type="sldNum" sz="quarter" idx="10"/>
          </p:nvPr>
        </p:nvSpPr>
        <p:spPr/>
        <p:txBody>
          <a:bodyPr/>
          <a:lstStyle/>
          <a:p>
            <a:fld id="{AE6539A9-9869-4F91-A69F-7FCF23E94D7A}" type="slidenum">
              <a:rPr lang="en-US" smtClean="0"/>
              <a:t>10</a:t>
            </a:fld>
            <a:endParaRPr lang="en-US"/>
          </a:p>
        </p:txBody>
      </p:sp>
    </p:spTree>
    <p:extLst>
      <p:ext uri="{BB962C8B-B14F-4D97-AF65-F5344CB8AC3E}">
        <p14:creationId xmlns:p14="http://schemas.microsoft.com/office/powerpoint/2010/main" val="282325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ABEBF6-CCEE-7133-428B-80DE60D12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E91E092-946C-E49D-20E0-7442644909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4E358307-447A-CEFA-E353-513FF41EFDC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A5B824FA-9F98-CEF4-381E-E8F712BD4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D019C4-7FDC-8B08-2D31-CC901BD11A2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7373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25F28F-CAE1-4942-017F-81800F6EE7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A5FBB54-F16F-5561-6C3D-FEDDBE693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0F5803F-61FF-91BD-3FFF-2B3BC4615E76}"/>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C26F40F8-75CC-1790-8425-132EF9040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926E42D-BB13-2D20-D5A4-5E71F7B91C12}"/>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056151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C2B655-5ED4-B4EA-55A6-249452A29F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C8DC6077-20C9-B22A-526E-06A0C52CA4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A5AA3F8-0FB5-8DFE-572D-410F31E127C8}"/>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83F4C6C7-4905-E427-C56B-56E41C20E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EF53032-3025-F7DE-CA90-CD95E37A1B4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9235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737A96-45F2-8CDB-87C6-6667B385A9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B528CBD-72D7-29B6-8F16-C8F25FCDA2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BE6CBB0-46EA-6C3E-B546-6904F005D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1D104DB-9ACB-EE08-2FA9-3ED8BD8713E2}"/>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BD98A4A4-3604-6AC1-3713-40277F9B98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62B7A8A-53FE-99AC-842D-CA2BED4F269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27628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F76CF4-A831-B43C-0807-833CCDE8B1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53D7DCA9-7681-6CE6-2B7D-C46C0E7D9B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FB003DE-375A-7C42-5038-10676D52F0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52DDA9F-DC89-1048-F8FD-E5CC7D4870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F7A542D-9CA1-0A4E-0B70-2BC43CAA38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68B61D1-7D13-1095-3075-853B9871661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8" name="Footer Placeholder 7">
            <a:extLst>
              <a:ext uri="{FF2B5EF4-FFF2-40B4-BE49-F238E27FC236}">
                <a16:creationId xmlns:a16="http://schemas.microsoft.com/office/drawing/2014/main" xmlns="" id="{8F572D27-C062-5112-17B4-0CF9ED89ED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2635538B-44CA-9812-985B-B6AFABC8700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78556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97DE51-1C7C-0620-60CD-52929EC9C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A2C7314A-B9FE-E28F-7A28-84A015367D79}"/>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4" name="Footer Placeholder 3">
            <a:extLst>
              <a:ext uri="{FF2B5EF4-FFF2-40B4-BE49-F238E27FC236}">
                <a16:creationId xmlns:a16="http://schemas.microsoft.com/office/drawing/2014/main" xmlns="" id="{388BEF77-B252-E444-EA97-6977FB130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ADA495B-1579-C991-ACAF-2BD4A7E129E0}"/>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422721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1D7569F-475D-967E-E517-392767F8C008}"/>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3" name="Footer Placeholder 2">
            <a:extLst>
              <a:ext uri="{FF2B5EF4-FFF2-40B4-BE49-F238E27FC236}">
                <a16:creationId xmlns:a16="http://schemas.microsoft.com/office/drawing/2014/main" xmlns="" id="{06D378F8-2972-94B2-B59F-DA8071F84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74E65EEB-88ED-3455-0B35-00DC1CDE05CB}"/>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1639983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D9A6DA-2813-D217-3535-EE3C79343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C9E565C-8A1A-8226-9E2A-2417C3FC13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B3A6288E-417A-1400-960B-461631BAE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DBFCEB7-3633-BAC3-7250-DC858BE0613F}"/>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0AED4D85-0847-A11B-3BE8-155B7EBC2C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1D63D61-3B07-B5B7-8020-45535E374A03}"/>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1257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7A47FB-6CBE-29FC-5296-DBA1091E12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CC71E7FF-89CA-6DC6-8A61-426AF695AB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C6855ED-86AE-622A-13AF-356D5D269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BB7A9FB-A7A2-F9F7-030E-72BBABA76DA1}"/>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6" name="Footer Placeholder 5">
            <a:extLst>
              <a:ext uri="{FF2B5EF4-FFF2-40B4-BE49-F238E27FC236}">
                <a16:creationId xmlns:a16="http://schemas.microsoft.com/office/drawing/2014/main" xmlns="" id="{20FD79EB-417A-C7E0-49B8-D7AA53761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2DBAE0C-6F37-57DE-D044-C0CFF3C83946}"/>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410825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D1877B-F9D3-F2CB-A55E-B481838A8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8934E4B-ECAE-1B4A-BAB5-722EE7FDE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9EA9B50-212A-EA46-41A7-1B9CB343BF9B}"/>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9A448BF4-4923-F2CD-36D2-B9CAE167FC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AC5D363-7EFB-2853-09CD-FEF53BFB8111}"/>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54379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CD4834D-66D9-1538-2F82-75BA31E274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1CDA176F-48B7-48FF-5F4A-116EE77C14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7F92448-6633-E5A8-55EF-36145AFA141D}"/>
              </a:ext>
            </a:extLst>
          </p:cNvPr>
          <p:cNvSpPr>
            <a:spLocks noGrp="1"/>
          </p:cNvSpPr>
          <p:nvPr>
            <p:ph type="dt" sz="half" idx="10"/>
          </p:nvPr>
        </p:nvSpPr>
        <p:spPr/>
        <p:txBody>
          <a:body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6F6190D9-75F0-C91E-3174-0F11536065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471AD56-938D-4FE4-076C-9CDBABDE72FC}"/>
              </a:ext>
            </a:extLst>
          </p:cNvPr>
          <p:cNvSpPr>
            <a:spLocks noGrp="1"/>
          </p:cNvSpPr>
          <p:nvPr>
            <p:ph type="sldNum" sz="quarter" idx="12"/>
          </p:nvPr>
        </p:nvSpPr>
        <p:spPr/>
        <p:txBody>
          <a:bodyPr/>
          <a:lstStyle/>
          <a:p>
            <a:fld id="{5F346625-0D45-4928-83BF-654EB4A53E21}" type="slidenum">
              <a:rPr lang="en-US" smtClean="0"/>
              <a:t>‹#›</a:t>
            </a:fld>
            <a:endParaRPr lang="en-US"/>
          </a:p>
        </p:txBody>
      </p:sp>
    </p:spTree>
    <p:extLst>
      <p:ext uri="{BB962C8B-B14F-4D97-AF65-F5344CB8AC3E}">
        <p14:creationId xmlns:p14="http://schemas.microsoft.com/office/powerpoint/2010/main" val="385369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1C4BC2A-694C-34DE-E00D-81B366B3D9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E0D3285-D902-9C7B-53EF-50AC7E0F0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8AFBDDF-E0C7-FB68-DCDD-30C90A21A9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77775-CA2F-4835-9DDA-43E84FC2EFA9}" type="datetimeFigureOut">
              <a:rPr lang="en-US" smtClean="0"/>
              <a:t>10/23/2024</a:t>
            </a:fld>
            <a:endParaRPr lang="en-US"/>
          </a:p>
        </p:txBody>
      </p:sp>
      <p:sp>
        <p:nvSpPr>
          <p:cNvPr id="5" name="Footer Placeholder 4">
            <a:extLst>
              <a:ext uri="{FF2B5EF4-FFF2-40B4-BE49-F238E27FC236}">
                <a16:creationId xmlns:a16="http://schemas.microsoft.com/office/drawing/2014/main" xmlns="" id="{2D0C0CF3-AB81-1083-4691-292B1D038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635AA741-B990-BA38-691D-7C945FE49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346625-0D45-4928-83BF-654EB4A53E21}" type="slidenum">
              <a:rPr lang="en-US" smtClean="0"/>
              <a:t>‹#›</a:t>
            </a:fld>
            <a:endParaRPr lang="en-US"/>
          </a:p>
        </p:txBody>
      </p:sp>
    </p:spTree>
    <p:extLst>
      <p:ext uri="{BB962C8B-B14F-4D97-AF65-F5344CB8AC3E}">
        <p14:creationId xmlns:p14="http://schemas.microsoft.com/office/powerpoint/2010/main" val="434931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umaira@cse.uiu.ac.bd"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campusx-official/100-days-of-machine-learning/tree/main/day66-adaboost" TargetMode="External"/><Relationship Id="rId3" Type="http://schemas.openxmlformats.org/officeDocument/2006/relationships/hyperlink" Target="https://github.com/campusx-official/bagging-ensemble" TargetMode="External"/><Relationship Id="rId7" Type="http://schemas.openxmlformats.org/officeDocument/2006/relationships/hyperlink" Target="https://github.com/campusx-official/100-days-of-machine-learning/blob/main/day65-random-forest/code-example-random-forest.ipynb"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scikit-learn.org/stable/modules/generated/sklearn.ensemble.RandomForestClassifier.html" TargetMode="External"/><Relationship Id="rId5" Type="http://schemas.openxmlformats.org/officeDocument/2006/relationships/hyperlink" Target="https://github.com/campusx-official/100-days-of-machine-learning/blob/main/day65-random-forest/random_forest_demo.ipynb" TargetMode="External"/><Relationship Id="rId4" Type="http://schemas.openxmlformats.org/officeDocument/2006/relationships/hyperlink" Target="https://github.com/campusx-official/100-days-of-machine-learning/blob/main/day65-random-forest/bagging_vs_random_forest.ipynb"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58240" y="3835400"/>
            <a:ext cx="9875520" cy="0"/>
          </a:xfrm>
          <a:custGeom>
            <a:avLst/>
            <a:gdLst/>
            <a:ahLst/>
            <a:cxnLst/>
            <a:rect l="l" t="t" r="r" b="b"/>
            <a:pathLst>
              <a:path w="7406640">
                <a:moveTo>
                  <a:pt x="0" y="0"/>
                </a:moveTo>
                <a:lnTo>
                  <a:pt x="7406640" y="0"/>
                </a:lnTo>
              </a:path>
            </a:pathLst>
          </a:custGeom>
          <a:ln w="9525">
            <a:solidFill>
              <a:srgbClr val="7E7E7E"/>
            </a:solidFill>
          </a:ln>
        </p:spPr>
        <p:txBody>
          <a:bodyPr wrap="square" lIns="0" tIns="0" rIns="0" bIns="0" rtlCol="0"/>
          <a:lstStyle/>
          <a:p>
            <a:endParaRPr sz="2400"/>
          </a:p>
        </p:txBody>
      </p:sp>
      <p:pic>
        <p:nvPicPr>
          <p:cNvPr id="3" name="object 3"/>
          <p:cNvPicPr/>
          <p:nvPr/>
        </p:nvPicPr>
        <p:blipFill>
          <a:blip r:embed="rId2" cstate="print"/>
          <a:stretch>
            <a:fillRect/>
          </a:stretch>
        </p:blipFill>
        <p:spPr>
          <a:xfrm>
            <a:off x="5212079" y="616374"/>
            <a:ext cx="1626259" cy="1479973"/>
          </a:xfrm>
          <a:prstGeom prst="rect">
            <a:avLst/>
          </a:prstGeom>
        </p:spPr>
      </p:pic>
      <p:sp>
        <p:nvSpPr>
          <p:cNvPr id="4" name="object 4"/>
          <p:cNvSpPr txBox="1"/>
          <p:nvPr/>
        </p:nvSpPr>
        <p:spPr>
          <a:xfrm>
            <a:off x="1828801" y="3041920"/>
            <a:ext cx="8760460" cy="673753"/>
          </a:xfrm>
          <a:prstGeom prst="rect">
            <a:avLst/>
          </a:prstGeom>
        </p:spPr>
        <p:txBody>
          <a:bodyPr vert="horz" wrap="square" lIns="0" tIns="16933" rIns="0" bIns="0" rtlCol="0">
            <a:spAutoFit/>
          </a:bodyPr>
          <a:lstStyle/>
          <a:p>
            <a:pPr marL="16933">
              <a:spcBef>
                <a:spcPts val="133"/>
              </a:spcBef>
            </a:pPr>
            <a:r>
              <a:rPr lang="en-US" sz="4267" dirty="0">
                <a:latin typeface="Calibri"/>
                <a:cs typeface="Calibri"/>
              </a:rPr>
              <a:t>Ensemble Methods – Part 2</a:t>
            </a:r>
            <a:endParaRPr sz="4267" dirty="0">
              <a:latin typeface="Calibri"/>
              <a:cs typeface="Calibri"/>
            </a:endParaRPr>
          </a:p>
        </p:txBody>
      </p:sp>
      <p:sp>
        <p:nvSpPr>
          <p:cNvPr id="5" name="object 5"/>
          <p:cNvSpPr txBox="1"/>
          <p:nvPr/>
        </p:nvSpPr>
        <p:spPr>
          <a:xfrm>
            <a:off x="1158241" y="3943929"/>
            <a:ext cx="7036647" cy="884131"/>
          </a:xfrm>
          <a:prstGeom prst="rect">
            <a:avLst/>
          </a:prstGeom>
        </p:spPr>
        <p:txBody>
          <a:bodyPr vert="horz" wrap="square" lIns="0" tIns="39793" rIns="0" bIns="0" rtlCol="0">
            <a:spAutoFit/>
          </a:bodyPr>
          <a:lstStyle/>
          <a:p>
            <a:pPr marL="16933">
              <a:spcBef>
                <a:spcPts val="313"/>
              </a:spcBef>
            </a:pPr>
            <a:r>
              <a:rPr lang="en-US" sz="2667" dirty="0">
                <a:solidFill>
                  <a:srgbClr val="3E3E3E"/>
                </a:solidFill>
                <a:latin typeface="Calibri"/>
                <a:cs typeface="Calibri"/>
              </a:rPr>
              <a:t>Data Mining</a:t>
            </a:r>
            <a:r>
              <a:rPr sz="2667" dirty="0">
                <a:solidFill>
                  <a:srgbClr val="3E3E3E"/>
                </a:solidFill>
                <a:latin typeface="Calibri"/>
                <a:cs typeface="Calibri"/>
              </a:rPr>
              <a:t>–</a:t>
            </a:r>
            <a:r>
              <a:rPr sz="2667" spc="-67" dirty="0">
                <a:solidFill>
                  <a:srgbClr val="3E3E3E"/>
                </a:solidFill>
                <a:latin typeface="Calibri"/>
                <a:cs typeface="Calibri"/>
              </a:rPr>
              <a:t> </a:t>
            </a:r>
            <a:r>
              <a:rPr sz="2667" dirty="0">
                <a:solidFill>
                  <a:srgbClr val="3E3E3E"/>
                </a:solidFill>
                <a:latin typeface="Calibri"/>
                <a:cs typeface="Calibri"/>
              </a:rPr>
              <a:t>Final</a:t>
            </a:r>
            <a:r>
              <a:rPr sz="2667" spc="-47" dirty="0">
                <a:solidFill>
                  <a:srgbClr val="3E3E3E"/>
                </a:solidFill>
                <a:latin typeface="Calibri"/>
                <a:cs typeface="Calibri"/>
              </a:rPr>
              <a:t> </a:t>
            </a:r>
            <a:r>
              <a:rPr sz="2667" dirty="0">
                <a:solidFill>
                  <a:srgbClr val="3E3E3E"/>
                </a:solidFill>
                <a:latin typeface="Calibri"/>
                <a:cs typeface="Calibri"/>
              </a:rPr>
              <a:t>Week</a:t>
            </a:r>
            <a:r>
              <a:rPr sz="2667" spc="-53" dirty="0">
                <a:solidFill>
                  <a:srgbClr val="3E3E3E"/>
                </a:solidFill>
                <a:latin typeface="Calibri"/>
                <a:cs typeface="Calibri"/>
              </a:rPr>
              <a:t> </a:t>
            </a:r>
            <a:r>
              <a:rPr lang="en-US" sz="2667" spc="-67" dirty="0">
                <a:solidFill>
                  <a:srgbClr val="3E3E3E"/>
                </a:solidFill>
                <a:latin typeface="Calibri"/>
                <a:cs typeface="Calibri"/>
              </a:rPr>
              <a:t>1 </a:t>
            </a:r>
            <a:endParaRPr sz="2667" dirty="0">
              <a:latin typeface="Calibri"/>
              <a:cs typeface="Calibri"/>
            </a:endParaRPr>
          </a:p>
          <a:p>
            <a:pPr marL="16933" marR="4059665">
              <a:lnSpc>
                <a:spcPct val="90100"/>
              </a:lnSpc>
              <a:spcBef>
                <a:spcPts val="507"/>
              </a:spcBef>
            </a:pPr>
            <a:endParaRPr sz="2667" dirty="0">
              <a:latin typeface="Calibri"/>
              <a:cs typeface="Calibri"/>
            </a:endParaRPr>
          </a:p>
        </p:txBody>
      </p:sp>
      <p:sp>
        <p:nvSpPr>
          <p:cNvPr id="13" name="object 5">
            <a:extLst>
              <a:ext uri="{FF2B5EF4-FFF2-40B4-BE49-F238E27FC236}">
                <a16:creationId xmlns:a16="http://schemas.microsoft.com/office/drawing/2014/main" xmlns="" id="{36DBFFEF-B102-217A-056F-755C77016154}"/>
              </a:ext>
            </a:extLst>
          </p:cNvPr>
          <p:cNvSpPr txBox="1"/>
          <p:nvPr/>
        </p:nvSpPr>
        <p:spPr>
          <a:xfrm>
            <a:off x="1158240" y="4531500"/>
            <a:ext cx="8479536" cy="2032650"/>
          </a:xfrm>
          <a:prstGeom prst="rect">
            <a:avLst/>
          </a:prstGeom>
        </p:spPr>
        <p:txBody>
          <a:bodyPr vert="horz" wrap="square" lIns="0" tIns="39793" rIns="0" bIns="0" rtlCol="0">
            <a:spAutoFit/>
          </a:bodyPr>
          <a:lstStyle/>
          <a:p>
            <a:pPr marL="16933" marR="4059665">
              <a:lnSpc>
                <a:spcPct val="90100"/>
              </a:lnSpc>
              <a:spcBef>
                <a:spcPts val="507"/>
              </a:spcBef>
            </a:pPr>
            <a:r>
              <a:rPr lang="en-US" sz="2400" spc="-27" dirty="0">
                <a:solidFill>
                  <a:srgbClr val="6DAC1C"/>
                </a:solidFill>
                <a:uFill>
                  <a:solidFill>
                    <a:srgbClr val="6DAC1C"/>
                  </a:solidFill>
                </a:uFill>
                <a:latin typeface="Calibri"/>
                <a:cs typeface="Calibri"/>
              </a:rPr>
              <a:t>Humaira Anzum Neha</a:t>
            </a:r>
            <a:r>
              <a:rPr lang="en-US" sz="2400" spc="-13" dirty="0">
                <a:solidFill>
                  <a:srgbClr val="6DAC1C"/>
                </a:solidFill>
                <a:latin typeface="Calibri"/>
                <a:cs typeface="Calibri"/>
              </a:rPr>
              <a:t> </a:t>
            </a:r>
          </a:p>
          <a:p>
            <a:pPr marL="16933" marR="4059665">
              <a:lnSpc>
                <a:spcPct val="90100"/>
              </a:lnSpc>
              <a:spcBef>
                <a:spcPts val="507"/>
              </a:spcBef>
            </a:pPr>
            <a:r>
              <a:rPr lang="en-US" sz="2400" spc="-13" dirty="0">
                <a:latin typeface="Calibri"/>
                <a:cs typeface="Calibri"/>
              </a:rPr>
              <a:t>Lecturer</a:t>
            </a:r>
          </a:p>
          <a:p>
            <a:pPr marL="16933" marR="4059665">
              <a:lnSpc>
                <a:spcPct val="90100"/>
              </a:lnSpc>
              <a:spcBef>
                <a:spcPts val="507"/>
              </a:spcBef>
            </a:pPr>
            <a:r>
              <a:rPr lang="en-US" sz="2400" dirty="0">
                <a:solidFill>
                  <a:srgbClr val="3E3E3E"/>
                </a:solidFill>
                <a:latin typeface="Calibri"/>
                <a:cs typeface="Calibri"/>
              </a:rPr>
              <a:t>Dept</a:t>
            </a:r>
            <a:r>
              <a:rPr lang="en-US" sz="2400" spc="-60" dirty="0">
                <a:solidFill>
                  <a:srgbClr val="3E3E3E"/>
                </a:solidFill>
                <a:latin typeface="Calibri"/>
                <a:cs typeface="Calibri"/>
              </a:rPr>
              <a:t> </a:t>
            </a:r>
            <a:r>
              <a:rPr lang="en-US" sz="2400" dirty="0">
                <a:solidFill>
                  <a:srgbClr val="3E3E3E"/>
                </a:solidFill>
                <a:latin typeface="Calibri"/>
                <a:cs typeface="Calibri"/>
              </a:rPr>
              <a:t>of</a:t>
            </a:r>
            <a:r>
              <a:rPr lang="en-US" sz="2400" spc="-33" dirty="0">
                <a:solidFill>
                  <a:srgbClr val="3E3E3E"/>
                </a:solidFill>
                <a:latin typeface="Calibri"/>
                <a:cs typeface="Calibri"/>
              </a:rPr>
              <a:t> </a:t>
            </a:r>
            <a:r>
              <a:rPr lang="en-US" sz="2400" dirty="0">
                <a:solidFill>
                  <a:srgbClr val="3E3E3E"/>
                </a:solidFill>
                <a:latin typeface="Calibri"/>
                <a:cs typeface="Calibri"/>
              </a:rPr>
              <a:t>CSE,</a:t>
            </a:r>
            <a:r>
              <a:rPr lang="en-US" sz="2400" spc="-47" dirty="0">
                <a:solidFill>
                  <a:srgbClr val="3E3E3E"/>
                </a:solidFill>
                <a:latin typeface="Calibri"/>
                <a:cs typeface="Calibri"/>
              </a:rPr>
              <a:t> </a:t>
            </a:r>
            <a:r>
              <a:rPr lang="en-US" sz="2400" spc="-33" dirty="0">
                <a:solidFill>
                  <a:srgbClr val="3E3E3E"/>
                </a:solidFill>
                <a:latin typeface="Calibri"/>
                <a:cs typeface="Calibri"/>
              </a:rPr>
              <a:t>UIU </a:t>
            </a:r>
          </a:p>
          <a:p>
            <a:pPr marL="16933" marR="4059665">
              <a:lnSpc>
                <a:spcPct val="90100"/>
              </a:lnSpc>
              <a:spcBef>
                <a:spcPts val="507"/>
              </a:spcBef>
            </a:pPr>
            <a:r>
              <a:rPr lang="en-US" sz="2400" spc="-33" dirty="0">
                <a:solidFill>
                  <a:srgbClr val="3E3E3E"/>
                </a:solidFill>
                <a:latin typeface="Calibri"/>
                <a:cs typeface="Calibri"/>
                <a:hlinkClick r:id="rId3"/>
              </a:rPr>
              <a:t>humaira</a:t>
            </a:r>
            <a:r>
              <a:rPr lang="en-US" sz="2400" u="sng" spc="-13" dirty="0">
                <a:solidFill>
                  <a:srgbClr val="6DAC1C"/>
                </a:solidFill>
                <a:uFill>
                  <a:solidFill>
                    <a:srgbClr val="6DAC1C"/>
                  </a:solidFill>
                </a:uFill>
                <a:latin typeface="Calibri"/>
                <a:cs typeface="Calibri"/>
                <a:hlinkClick r:id="rId3"/>
              </a:rPr>
              <a:t>@cse.uiu.ac.bd</a:t>
            </a:r>
            <a:endParaRPr lang="en-US" sz="2400" u="sng" spc="-13" dirty="0">
              <a:solidFill>
                <a:srgbClr val="6DAC1C"/>
              </a:solidFill>
              <a:uFill>
                <a:solidFill>
                  <a:srgbClr val="6DAC1C"/>
                </a:solidFill>
              </a:uFill>
              <a:latin typeface="Calibri"/>
              <a:cs typeface="Calibri"/>
            </a:endParaRPr>
          </a:p>
          <a:p>
            <a:pPr marL="16933" marR="4059665">
              <a:lnSpc>
                <a:spcPct val="90100"/>
              </a:lnSpc>
              <a:spcBef>
                <a:spcPts val="507"/>
              </a:spcBef>
            </a:pPr>
            <a:endParaRPr sz="2667"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p:spPr>
        <p:txBody>
          <a:bodyPr vert="horz" wrap="square" lIns="0" tIns="0" rIns="0" bIns="0" rtlCol="0" anchor="ctr">
            <a:spAutoFit/>
          </a:bodyPr>
          <a:lstStyle/>
          <a:p>
            <a:pPr marR="85511" algn="ctr">
              <a:lnSpc>
                <a:spcPts val="4513"/>
              </a:lnSpc>
            </a:pPr>
            <a:r>
              <a:rPr lang="en-US" sz="4000" b="1" spc="-13" dirty="0">
                <a:solidFill>
                  <a:schemeClr val="bg1"/>
                </a:solidFill>
              </a:rPr>
              <a:t>Ensemble Methods</a:t>
            </a:r>
            <a:endParaRPr sz="4000" b="1" spc="-13" dirty="0">
              <a:solidFill>
                <a:schemeClr val="bg1"/>
              </a:solidFill>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50799">
              <a:lnSpc>
                <a:spcPts val="1753"/>
              </a:lnSpc>
            </a:pPr>
            <a:fld id="{81D60167-4931-47E6-BA6A-407CBD079E47}" type="slidenum">
              <a:rPr lang="en-US" spc="-50" smtClean="0"/>
              <a:pPr marL="38100">
                <a:lnSpc>
                  <a:spcPts val="1315"/>
                </a:lnSpc>
              </a:pPr>
              <a:t>2</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27027" y="1650168"/>
            <a:ext cx="14020800" cy="1326004"/>
          </a:xfrm>
          <a:prstGeom prst="rect">
            <a:avLst/>
          </a:prstGeom>
        </p:spPr>
        <p:txBody>
          <a:bodyPr vert="horz" wrap="square" lIns="0" tIns="231140" rIns="0" bIns="0" rtlCol="0">
            <a:spAutoFit/>
          </a:bodyPr>
          <a:lstStyle/>
          <a:p>
            <a:pPr marL="997348" indent="-514760">
              <a:lnSpc>
                <a:spcPct val="100000"/>
              </a:lnSpc>
              <a:spcBef>
                <a:spcPts val="1820"/>
              </a:spcBef>
              <a:buAutoNum type="arabicParenR"/>
              <a:tabLst>
                <a:tab pos="998195" algn="l"/>
              </a:tabLst>
            </a:pPr>
            <a:r>
              <a:rPr lang="en-US" dirty="0">
                <a:latin typeface="Constantia"/>
                <a:cs typeface="Constantia"/>
              </a:rPr>
              <a:t>Boosting</a:t>
            </a:r>
          </a:p>
          <a:p>
            <a:pPr marL="997348" indent="-514760">
              <a:lnSpc>
                <a:spcPct val="100000"/>
              </a:lnSpc>
              <a:spcBef>
                <a:spcPts val="1820"/>
              </a:spcBef>
              <a:buAutoNum type="arabicParenR"/>
              <a:tabLst>
                <a:tab pos="998195" algn="l"/>
              </a:tabLst>
            </a:pPr>
            <a:r>
              <a:rPr lang="en-US" dirty="0">
                <a:latin typeface="Constantia"/>
                <a:cs typeface="Constantia"/>
              </a:rPr>
              <a:t>AdaBoost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Boosting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3</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sp>
        <p:nvSpPr>
          <p:cNvPr id="5" name="object 5"/>
          <p:cNvSpPr txBox="1">
            <a:spLocks noGrp="1"/>
          </p:cNvSpPr>
          <p:nvPr>
            <p:ph type="body" idx="1"/>
          </p:nvPr>
        </p:nvSpPr>
        <p:spPr>
          <a:xfrm>
            <a:off x="1102935" y="962780"/>
            <a:ext cx="9477012" cy="4523290"/>
          </a:xfrm>
          <a:prstGeom prst="rect">
            <a:avLst/>
          </a:prstGeom>
        </p:spPr>
        <p:txBody>
          <a:bodyPr vert="horz" wrap="square" lIns="0" tIns="231140" rIns="0" bIns="0" rtlCol="0">
            <a:spAutoFit/>
          </a:bodyPr>
          <a:lstStyle/>
          <a:p>
            <a:pPr rtl="0" fontAlgn="base">
              <a:spcBef>
                <a:spcPts val="600"/>
              </a:spcBef>
              <a:spcAft>
                <a:spcPts val="0"/>
              </a:spcAft>
              <a:buFont typeface="Wingdings" panose="05000000000000000000" pitchFamily="2" charset="2"/>
              <a:buChar char="q"/>
            </a:pPr>
            <a:r>
              <a:rPr lang="en-US" sz="2400" b="0" i="0" u="none" strike="noStrike" dirty="0">
                <a:solidFill>
                  <a:srgbClr val="000000"/>
                </a:solidFill>
                <a:effectLst/>
                <a:latin typeface="Calibri" panose="020F0502020204030204" pitchFamily="34" charset="0"/>
              </a:rPr>
              <a:t>How boosting works?</a:t>
            </a:r>
            <a:endParaRPr lang="en-US" sz="1920" b="0" i="0" u="none" strike="noStrike" dirty="0">
              <a:solidFill>
                <a:srgbClr val="0000CC"/>
              </a:solidFill>
              <a:effectLst/>
              <a:latin typeface="Noto Sans Symbols"/>
            </a:endParaRPr>
          </a:p>
          <a:p>
            <a:pPr lvl="1" rtl="0" fontAlgn="base">
              <a:lnSpc>
                <a:spcPct val="200000"/>
              </a:lnSpc>
              <a:spcBef>
                <a:spcPts val="600"/>
              </a:spcBef>
              <a:spcAft>
                <a:spcPts val="0"/>
              </a:spcAft>
              <a:buFont typeface="Wingdings" panose="05000000000000000000" pitchFamily="2" charset="2"/>
              <a:buChar char="q"/>
            </a:pPr>
            <a:r>
              <a:rPr lang="en-US" sz="2000" b="0" i="0" u="none" strike="noStrike" dirty="0">
                <a:solidFill>
                  <a:srgbClr val="000000"/>
                </a:solidFill>
                <a:effectLst/>
                <a:latin typeface="Calibri" panose="020F0502020204030204" pitchFamily="34" charset="0"/>
              </a:rPr>
              <a:t>A series of k classifiers are iteratively learned</a:t>
            </a:r>
            <a:endParaRPr lang="en-US" sz="2000" b="0" i="0" u="none" strike="noStrike" dirty="0">
              <a:solidFill>
                <a:srgbClr val="BD582C"/>
              </a:solidFill>
              <a:effectLst/>
              <a:latin typeface="Noto Sans Symbols"/>
            </a:endParaRPr>
          </a:p>
          <a:p>
            <a:pPr lvl="1" rtl="0" fontAlgn="base">
              <a:lnSpc>
                <a:spcPct val="200000"/>
              </a:lnSpc>
              <a:spcBef>
                <a:spcPts val="600"/>
              </a:spcBef>
              <a:spcAft>
                <a:spcPts val="0"/>
              </a:spcAft>
              <a:buFont typeface="Wingdings" panose="05000000000000000000" pitchFamily="2" charset="2"/>
              <a:buChar char="q"/>
            </a:pPr>
            <a:r>
              <a:rPr lang="en-US" sz="2000" b="0" i="0" u="none" strike="noStrike" dirty="0">
                <a:solidFill>
                  <a:srgbClr val="000000"/>
                </a:solidFill>
                <a:effectLst/>
                <a:latin typeface="Calibri" panose="020F0502020204030204" pitchFamily="34" charset="0"/>
              </a:rPr>
              <a:t>After a classifier M</a:t>
            </a:r>
            <a:r>
              <a:rPr lang="en-US" sz="2000" b="0" i="0" u="none" strike="noStrike" baseline="-25000" dirty="0">
                <a:solidFill>
                  <a:srgbClr val="000000"/>
                </a:solidFill>
                <a:effectLst/>
                <a:latin typeface="Calibri" panose="020F0502020204030204" pitchFamily="34" charset="0"/>
              </a:rPr>
              <a:t>i</a:t>
            </a:r>
            <a:r>
              <a:rPr lang="en-US" sz="2000" b="0" i="0" u="none" strike="noStrike" dirty="0">
                <a:solidFill>
                  <a:srgbClr val="000000"/>
                </a:solidFill>
                <a:effectLst/>
                <a:latin typeface="Calibri" panose="020F0502020204030204" pitchFamily="34" charset="0"/>
              </a:rPr>
              <a:t> is learned, set the subsequent classifier, M</a:t>
            </a:r>
            <a:r>
              <a:rPr lang="en-US" sz="2000" b="0" i="0" u="none" strike="noStrike" baseline="-25000" dirty="0">
                <a:solidFill>
                  <a:srgbClr val="000000"/>
                </a:solidFill>
                <a:effectLst/>
                <a:latin typeface="Calibri" panose="020F0502020204030204" pitchFamily="34" charset="0"/>
              </a:rPr>
              <a:t>i+1</a:t>
            </a:r>
            <a:r>
              <a:rPr lang="en-US" sz="2000" b="0" i="0" u="none" strike="noStrike" dirty="0">
                <a:solidFill>
                  <a:srgbClr val="000000"/>
                </a:solidFill>
                <a:effectLst/>
                <a:latin typeface="Calibri" panose="020F0502020204030204" pitchFamily="34" charset="0"/>
              </a:rPr>
              <a:t>, to </a:t>
            </a:r>
            <a:r>
              <a:rPr lang="en-US" sz="2000" b="1" i="0" u="none" strike="noStrike" dirty="0">
                <a:solidFill>
                  <a:srgbClr val="000000"/>
                </a:solidFill>
                <a:effectLst/>
                <a:latin typeface="Calibri" panose="020F0502020204030204" pitchFamily="34" charset="0"/>
              </a:rPr>
              <a:t>pay more attention to the training tuples that were misclassified</a:t>
            </a:r>
            <a:r>
              <a:rPr lang="en-US" sz="2000" b="0" i="0" u="none" strike="noStrike" dirty="0">
                <a:solidFill>
                  <a:srgbClr val="000000"/>
                </a:solidFill>
                <a:effectLst/>
                <a:latin typeface="Calibri" panose="020F0502020204030204" pitchFamily="34" charset="0"/>
              </a:rPr>
              <a:t> by M</a:t>
            </a:r>
            <a:r>
              <a:rPr lang="en-US" sz="2000" b="0" i="0" u="none" strike="noStrike" baseline="-25000" dirty="0">
                <a:solidFill>
                  <a:srgbClr val="000000"/>
                </a:solidFill>
                <a:effectLst/>
                <a:latin typeface="Calibri" panose="020F0502020204030204" pitchFamily="34" charset="0"/>
              </a:rPr>
              <a:t>i</a:t>
            </a:r>
            <a:endParaRPr lang="en-US" sz="2000" b="0" i="0" u="none" strike="noStrike" dirty="0">
              <a:solidFill>
                <a:srgbClr val="BD582C"/>
              </a:solidFill>
              <a:effectLst/>
              <a:latin typeface="Noto Sans Symbols"/>
            </a:endParaRPr>
          </a:p>
          <a:p>
            <a:pPr lvl="1">
              <a:lnSpc>
                <a:spcPct val="200000"/>
              </a:lnSpc>
              <a:buFont typeface="Wingdings" panose="05000000000000000000" pitchFamily="2" charset="2"/>
              <a:buChar char="q"/>
            </a:pPr>
            <a:r>
              <a:rPr lang="en-US" sz="2000" b="0" i="0" u="none" strike="noStrike" dirty="0">
                <a:solidFill>
                  <a:srgbClr val="000000"/>
                </a:solidFill>
                <a:effectLst/>
                <a:latin typeface="Calibri" panose="020F0502020204030204" pitchFamily="34" charset="0"/>
              </a:rPr>
              <a:t>The final </a:t>
            </a:r>
            <a:r>
              <a:rPr lang="en-US" sz="2000" b="1" i="0" u="none" strike="noStrike" dirty="0">
                <a:solidFill>
                  <a:srgbClr val="000000"/>
                </a:solidFill>
                <a:effectLst/>
                <a:latin typeface="Calibri" panose="020F0502020204030204" pitchFamily="34" charset="0"/>
              </a:rPr>
              <a:t>M* combines the votes</a:t>
            </a:r>
            <a:r>
              <a:rPr lang="en-US" sz="2000" b="0" i="0" u="none" strike="noStrike" dirty="0">
                <a:solidFill>
                  <a:srgbClr val="000000"/>
                </a:solidFill>
                <a:effectLst/>
                <a:latin typeface="Calibri" panose="020F0502020204030204" pitchFamily="34" charset="0"/>
              </a:rPr>
              <a:t> of each individual classifier, where the weight of each classifier's vote is a function of its accuracy</a:t>
            </a:r>
            <a:endParaRPr lang="en-US" spc="-7" dirty="0">
              <a:latin typeface="Constantia"/>
              <a:cs typeface="Constantia"/>
            </a:endParaRPr>
          </a:p>
          <a:p>
            <a:pPr marL="939788" indent="-457200">
              <a:lnSpc>
                <a:spcPct val="100000"/>
              </a:lnSpc>
              <a:spcBef>
                <a:spcPts val="1820"/>
              </a:spcBef>
              <a:buFont typeface="Wingdings" panose="05000000000000000000" pitchFamily="2" charset="2"/>
              <a:buChar char="q"/>
              <a:tabLst>
                <a:tab pos="998195" algn="l"/>
              </a:tabLst>
            </a:pPr>
            <a:endParaRPr lang="en-US" spc="-7" dirty="0">
              <a:latin typeface="Constantia"/>
              <a:cs typeface="Constantia"/>
            </a:endParaRPr>
          </a:p>
        </p:txBody>
      </p:sp>
    </p:spTree>
    <p:extLst>
      <p:ext uri="{BB962C8B-B14F-4D97-AF65-F5344CB8AC3E}">
        <p14:creationId xmlns:p14="http://schemas.microsoft.com/office/powerpoint/2010/main" val="943543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Bagging vs Boosting</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4</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pic>
        <p:nvPicPr>
          <p:cNvPr id="3" name="Picture 2">
            <a:extLst>
              <a:ext uri="{FF2B5EF4-FFF2-40B4-BE49-F238E27FC236}">
                <a16:creationId xmlns:a16="http://schemas.microsoft.com/office/drawing/2014/main" xmlns="" id="{FEE49EF8-933B-F148-A819-3ABD576DF898}"/>
              </a:ext>
            </a:extLst>
          </p:cNvPr>
          <p:cNvPicPr>
            <a:picLocks noChangeAspect="1"/>
          </p:cNvPicPr>
          <p:nvPr/>
        </p:nvPicPr>
        <p:blipFill>
          <a:blip r:embed="rId3"/>
          <a:stretch>
            <a:fillRect/>
          </a:stretch>
        </p:blipFill>
        <p:spPr>
          <a:xfrm>
            <a:off x="2686827" y="1361439"/>
            <a:ext cx="7160514" cy="4005033"/>
          </a:xfrm>
          <a:prstGeom prst="rect">
            <a:avLst/>
          </a:prstGeom>
        </p:spPr>
      </p:pic>
    </p:spTree>
    <p:extLst>
      <p:ext uri="{BB962C8B-B14F-4D97-AF65-F5344CB8AC3E}">
        <p14:creationId xmlns:p14="http://schemas.microsoft.com/office/powerpoint/2010/main" val="319297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55889"/>
            <a:ext cx="8991600" cy="589072"/>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4000" b="1" spc="-13" dirty="0">
                <a:solidFill>
                  <a:schemeClr val="bg1"/>
                </a:solidFill>
              </a:rPr>
              <a:t>Random Forest vs AdaBoost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5</a:t>
            </a:fld>
            <a:endParaRPr lang="en-US"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lang="en-US" spc="-33" dirty="0"/>
          </a:p>
        </p:txBody>
      </p:sp>
      <p:graphicFrame>
        <p:nvGraphicFramePr>
          <p:cNvPr id="5" name="Table 4">
            <a:extLst>
              <a:ext uri="{FF2B5EF4-FFF2-40B4-BE49-F238E27FC236}">
                <a16:creationId xmlns:a16="http://schemas.microsoft.com/office/drawing/2014/main" xmlns="" id="{2882ABB3-71B4-2EC4-EB90-EF10E76D9376}"/>
              </a:ext>
            </a:extLst>
          </p:cNvPr>
          <p:cNvGraphicFramePr>
            <a:graphicFrameLocks noGrp="1"/>
          </p:cNvGraphicFramePr>
          <p:nvPr>
            <p:extLst>
              <p:ext uri="{D42A27DB-BD31-4B8C-83A1-F6EECF244321}">
                <p14:modId xmlns:p14="http://schemas.microsoft.com/office/powerpoint/2010/main" val="1441974265"/>
              </p:ext>
            </p:extLst>
          </p:nvPr>
        </p:nvGraphicFramePr>
        <p:xfrm>
          <a:off x="1009225" y="1389220"/>
          <a:ext cx="9828084" cy="4658712"/>
        </p:xfrm>
        <a:graphic>
          <a:graphicData uri="http://schemas.openxmlformats.org/drawingml/2006/table">
            <a:tbl>
              <a:tblPr/>
              <a:tblGrid>
                <a:gridCol w="3276028">
                  <a:extLst>
                    <a:ext uri="{9D8B030D-6E8A-4147-A177-3AD203B41FA5}">
                      <a16:colId xmlns:a16="http://schemas.microsoft.com/office/drawing/2014/main" xmlns="" val="2794235903"/>
                    </a:ext>
                  </a:extLst>
                </a:gridCol>
                <a:gridCol w="3276028">
                  <a:extLst>
                    <a:ext uri="{9D8B030D-6E8A-4147-A177-3AD203B41FA5}">
                      <a16:colId xmlns:a16="http://schemas.microsoft.com/office/drawing/2014/main" xmlns="" val="90568908"/>
                    </a:ext>
                  </a:extLst>
                </a:gridCol>
                <a:gridCol w="3276028">
                  <a:extLst>
                    <a:ext uri="{9D8B030D-6E8A-4147-A177-3AD203B41FA5}">
                      <a16:colId xmlns:a16="http://schemas.microsoft.com/office/drawing/2014/main" xmlns="" val="1844089563"/>
                    </a:ext>
                  </a:extLst>
                </a:gridCol>
              </a:tblGrid>
              <a:tr h="338733">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Factors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Random Forest</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AdaBoost</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582121351"/>
                  </a:ext>
                </a:extLst>
              </a:tr>
              <a:tr h="847930">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Learning Process</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Parallel: </a:t>
                      </a:r>
                      <a:r>
                        <a:rPr lang="en-US" sz="1800" dirty="0">
                          <a:latin typeface="Calibri" panose="020F0502020204030204" pitchFamily="34" charset="0"/>
                          <a:ea typeface="Calibri" panose="020F0502020204030204" pitchFamily="34" charset="0"/>
                          <a:cs typeface="Calibri" panose="020F0502020204030204" pitchFamily="34" charset="0"/>
                        </a:rPr>
                        <a:t>Trees are built independently and simultaneously.</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Sequential: </a:t>
                      </a:r>
                      <a:r>
                        <a:rPr lang="en-US" sz="1800" dirty="0">
                          <a:latin typeface="Calibri" panose="020F0502020204030204" pitchFamily="34" charset="0"/>
                          <a:ea typeface="Calibri" panose="020F0502020204030204" pitchFamily="34" charset="0"/>
                          <a:cs typeface="Calibri" panose="020F0502020204030204" pitchFamily="34" charset="0"/>
                        </a:rPr>
                        <a:t>Trees are built one after another, each correcting the errors of the previous one.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311599541"/>
                  </a:ext>
                </a:extLst>
              </a:tr>
              <a:tr h="847930">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Model Weights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All trees have equal weight in the final prediction.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Trees are weighted based on their performance; better-performing trees have more influence.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1933818"/>
                  </a:ext>
                </a:extLst>
              </a:tr>
              <a:tr h="593332">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Tree Complexity</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Fully grown decision trees with many splits.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Simple decision stumps with only one split (root and two leaves).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888064576"/>
                  </a:ext>
                </a:extLst>
              </a:tr>
              <a:tr h="847930">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Strength of Models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Strong individual models (complex trees).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Weak individual models (simple stumps), combined for better performance.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290945789"/>
                  </a:ext>
                </a:extLst>
              </a:tr>
              <a:tr h="593332">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Main Focus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Reducing overfitting by building diverse trees.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Reducing errors by focusing on the mistakes of previous trees.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84096877"/>
                  </a:ext>
                </a:extLst>
              </a:tr>
            </a:tbl>
          </a:graphicData>
        </a:graphic>
      </p:graphicFrame>
    </p:spTree>
    <p:extLst>
      <p:ext uri="{BB962C8B-B14F-4D97-AF65-F5344CB8AC3E}">
        <p14:creationId xmlns:p14="http://schemas.microsoft.com/office/powerpoint/2010/main" val="110934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6</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7920413" cy="6081152"/>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Boosting Algorithm</a:t>
            </a:r>
          </a:p>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Short for Adaptive Boosting - higher weights are assigned to the data points which are miss-classified or incorrectly predicted by the previous model. This means each successive model will get a weighted input.</a:t>
            </a:r>
          </a:p>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Always works better</a:t>
            </a:r>
          </a:p>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Combines multiple weak learners to </a:t>
            </a:r>
            <a:r>
              <a:rPr lang="en-US" sz="2000" b="1" spc="-7" dirty="0">
                <a:latin typeface="Calibri" panose="020F0502020204030204" pitchFamily="34" charset="0"/>
                <a:ea typeface="Calibri" panose="020F0502020204030204" pitchFamily="34" charset="0"/>
                <a:cs typeface="Calibri" panose="020F0502020204030204" pitchFamily="34" charset="0"/>
              </a:rPr>
              <a:t>generate a powerful model</a:t>
            </a:r>
          </a:p>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Weak learners - </a:t>
            </a:r>
            <a:r>
              <a:rPr lang="en-US"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ML algorithm that’s accuracy is less than 50% or nearly 50%.</a:t>
            </a:r>
          </a:p>
          <a:p>
            <a:pPr marL="939788" indent="-457200">
              <a:lnSpc>
                <a:spcPct val="100000"/>
              </a:lnSpc>
              <a:spcBef>
                <a:spcPts val="1820"/>
              </a:spcBef>
              <a:buFont typeface="Wingdings" panose="05000000000000000000" pitchFamily="2" charset="2"/>
              <a:buChar char="q"/>
              <a:tabLst>
                <a:tab pos="998195" algn="l"/>
              </a:tabLst>
            </a:pPr>
            <a:r>
              <a:rPr lang="en-US"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Strong Learners - 95-99%</a:t>
            </a:r>
            <a:endParaRPr lang="en-US" sz="20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p:txBody>
      </p:sp>
    </p:spTree>
    <p:extLst>
      <p:ext uri="{BB962C8B-B14F-4D97-AF65-F5344CB8AC3E}">
        <p14:creationId xmlns:p14="http://schemas.microsoft.com/office/powerpoint/2010/main" val="2106941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7</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7920413" cy="2695610"/>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Base Model – Weak Learners</a:t>
            </a:r>
          </a:p>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p:txBody>
      </p:sp>
      <p:pic>
        <p:nvPicPr>
          <p:cNvPr id="3" name="Picture 2">
            <a:extLst>
              <a:ext uri="{FF2B5EF4-FFF2-40B4-BE49-F238E27FC236}">
                <a16:creationId xmlns:a16="http://schemas.microsoft.com/office/drawing/2014/main" xmlns="" id="{61712E2E-A6BC-4930-397D-05656B0E0D0A}"/>
              </a:ext>
            </a:extLst>
          </p:cNvPr>
          <p:cNvPicPr>
            <a:picLocks noChangeAspect="1"/>
          </p:cNvPicPr>
          <p:nvPr/>
        </p:nvPicPr>
        <p:blipFill>
          <a:blip r:embed="rId3"/>
          <a:stretch>
            <a:fillRect/>
          </a:stretch>
        </p:blipFill>
        <p:spPr>
          <a:xfrm>
            <a:off x="2640621" y="1933817"/>
            <a:ext cx="5805512" cy="3263333"/>
          </a:xfrm>
          <a:prstGeom prst="rect">
            <a:avLst/>
          </a:prstGeom>
        </p:spPr>
      </p:pic>
    </p:spTree>
    <p:extLst>
      <p:ext uri="{BB962C8B-B14F-4D97-AF65-F5344CB8AC3E}">
        <p14:creationId xmlns:p14="http://schemas.microsoft.com/office/powerpoint/2010/main" val="348061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8</a:t>
            </a:fld>
            <a:endParaRPr spc="-67" dirty="0"/>
          </a:p>
        </p:txBody>
      </p:sp>
      <p:sp>
        <p:nvSpPr>
          <p:cNvPr id="7" name="object 7"/>
          <p:cNvSpPr txBox="1">
            <a:spLocks noGrp="1"/>
          </p:cNvSpPr>
          <p:nvPr>
            <p:ph type="ftr" sz="quarter" idx="5"/>
          </p:nvPr>
        </p:nvSpPr>
        <p:spPr>
          <a:xfrm>
            <a:off x="7868919" y="4968875"/>
            <a:ext cx="1154429" cy="160020"/>
          </a:xfrm>
          <a:prstGeom prst="rect">
            <a:avLst/>
          </a:prstGeom>
        </p:spPr>
        <p:txBody>
          <a:bodyPr vert="horz" wrap="square" lIns="0" tIns="0" rIns="0" bIns="0" rtlCol="0">
            <a:spAutoFit/>
          </a:bodyPr>
          <a:lstStyle>
            <a:defPPr>
              <a:defRPr kern="0"/>
            </a:defPPr>
            <a:lvl1pPr>
              <a:defRPr sz="1050" b="1" i="0">
                <a:solidFill>
                  <a:schemeClr val="bg1"/>
                </a:solidFill>
                <a:latin typeface="Calibri"/>
                <a:cs typeface="Calibri"/>
              </a:defRPr>
            </a:lvl1pPr>
          </a:lstStyle>
          <a:p>
            <a:pPr marL="16933">
              <a:lnSpc>
                <a:spcPts val="1473"/>
              </a:lnSpc>
            </a:pPr>
            <a:r>
              <a:rPr lang="en-US"/>
              <a:t>Lec</a:t>
            </a:r>
            <a:r>
              <a:rPr lang="en-US" spc="10"/>
              <a:t> </a:t>
            </a:r>
            <a:r>
              <a:rPr lang="en-US"/>
              <a:t>Raiyan,</a:t>
            </a:r>
            <a:r>
              <a:rPr lang="en-US" spc="-20"/>
              <a:t> </a:t>
            </a:r>
            <a:r>
              <a:rPr lang="en-US"/>
              <a:t>CSE, </a:t>
            </a:r>
            <a:r>
              <a:rPr lang="en-US" spc="-25"/>
              <a:t>UIU</a:t>
            </a:r>
            <a:endParaRPr spc="-33" dirty="0"/>
          </a:p>
        </p:txBody>
      </p:sp>
      <p:sp>
        <p:nvSpPr>
          <p:cNvPr id="5" name="object 5"/>
          <p:cNvSpPr txBox="1">
            <a:spLocks noGrp="1"/>
          </p:cNvSpPr>
          <p:nvPr>
            <p:ph type="body" idx="1"/>
          </p:nvPr>
        </p:nvSpPr>
        <p:spPr>
          <a:xfrm>
            <a:off x="1102935" y="1037425"/>
            <a:ext cx="7920413" cy="2695610"/>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r>
              <a:rPr lang="en-US" sz="2000" spc="-7" dirty="0">
                <a:latin typeface="Calibri" panose="020F0502020204030204" pitchFamily="34" charset="0"/>
                <a:ea typeface="Calibri" panose="020F0502020204030204" pitchFamily="34" charset="0"/>
                <a:cs typeface="Calibri" panose="020F0502020204030204" pitchFamily="34" charset="0"/>
              </a:rPr>
              <a:t>Base Model – Weak Learners</a:t>
            </a:r>
          </a:p>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p:txBody>
      </p:sp>
      <p:pic>
        <p:nvPicPr>
          <p:cNvPr id="8" name="Picture 7">
            <a:extLst>
              <a:ext uri="{FF2B5EF4-FFF2-40B4-BE49-F238E27FC236}">
                <a16:creationId xmlns:a16="http://schemas.microsoft.com/office/drawing/2014/main" xmlns="" id="{98F169D9-88B6-8AC6-8D5D-4C12B6BE0D39}"/>
              </a:ext>
            </a:extLst>
          </p:cNvPr>
          <p:cNvPicPr>
            <a:picLocks noChangeAspect="1"/>
          </p:cNvPicPr>
          <p:nvPr/>
        </p:nvPicPr>
        <p:blipFill>
          <a:blip r:embed="rId3"/>
          <a:stretch>
            <a:fillRect/>
          </a:stretch>
        </p:blipFill>
        <p:spPr>
          <a:xfrm>
            <a:off x="1722086" y="1281079"/>
            <a:ext cx="8724122" cy="4903911"/>
          </a:xfrm>
          <a:prstGeom prst="rect">
            <a:avLst/>
          </a:prstGeom>
        </p:spPr>
      </p:pic>
    </p:spTree>
    <p:extLst>
      <p:ext uri="{BB962C8B-B14F-4D97-AF65-F5344CB8AC3E}">
        <p14:creationId xmlns:p14="http://schemas.microsoft.com/office/powerpoint/2010/main" val="1885594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9</a:t>
            </a:fld>
            <a:endParaRPr spc="-67" dirty="0"/>
          </a:p>
        </p:txBody>
      </p:sp>
      <p:sp>
        <p:nvSpPr>
          <p:cNvPr id="5" name="object 5"/>
          <p:cNvSpPr txBox="1">
            <a:spLocks noGrp="1"/>
          </p:cNvSpPr>
          <p:nvPr>
            <p:ph type="body" idx="1"/>
          </p:nvPr>
        </p:nvSpPr>
        <p:spPr>
          <a:xfrm>
            <a:off x="1358967" y="1485481"/>
            <a:ext cx="7920413" cy="2157001"/>
          </a:xfrm>
          <a:prstGeom prst="rect">
            <a:avLst/>
          </a:prstGeom>
        </p:spPr>
        <p:txBody>
          <a:bodyPr vert="horz" wrap="square" lIns="0" tIns="231140" rIns="0" bIns="0" rtlCol="0">
            <a:spAutoFit/>
          </a:bodyPr>
          <a:lstStyle/>
          <a:p>
            <a:pPr marL="939788" indent="-457200">
              <a:lnSpc>
                <a:spcPct val="100000"/>
              </a:lnSpc>
              <a:spcBef>
                <a:spcPts val="1820"/>
              </a:spcBef>
              <a:buFont typeface="Wingdings" panose="05000000000000000000" pitchFamily="2" charset="2"/>
              <a:buChar char="q"/>
              <a:tabLst>
                <a:tab pos="998195" algn="l"/>
              </a:tabLst>
            </a:pPr>
            <a:endParaRPr lang="en-US" sz="2000"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a:p>
            <a:pPr marL="482588" indent="0">
              <a:lnSpc>
                <a:spcPct val="100000"/>
              </a:lnSpc>
              <a:spcBef>
                <a:spcPts val="1820"/>
              </a:spcBef>
              <a:buNone/>
              <a:tabLst>
                <a:tab pos="998195" algn="l"/>
              </a:tabLst>
            </a:pPr>
            <a:endParaRPr lang="en-US" sz="2000" spc="-7" dirty="0">
              <a:latin typeface="Constantia"/>
              <a:cs typeface="Constantia"/>
            </a:endParaRPr>
          </a:p>
        </p:txBody>
      </p:sp>
      <p:grpSp>
        <p:nvGrpSpPr>
          <p:cNvPr id="13" name="Group 12">
            <a:extLst>
              <a:ext uri="{FF2B5EF4-FFF2-40B4-BE49-F238E27FC236}">
                <a16:creationId xmlns:a16="http://schemas.microsoft.com/office/drawing/2014/main" xmlns="" id="{8847ECB4-D8F9-DE58-8BC0-ED6C7B2B29A9}"/>
              </a:ext>
            </a:extLst>
          </p:cNvPr>
          <p:cNvGrpSpPr/>
          <p:nvPr/>
        </p:nvGrpSpPr>
        <p:grpSpPr>
          <a:xfrm>
            <a:off x="2370390" y="952609"/>
            <a:ext cx="7390407" cy="5122447"/>
            <a:chOff x="2370390" y="952609"/>
            <a:chExt cx="7390407" cy="5122447"/>
          </a:xfrm>
        </p:grpSpPr>
        <p:pic>
          <p:nvPicPr>
            <p:cNvPr id="9" name="Picture 8">
              <a:extLst>
                <a:ext uri="{FF2B5EF4-FFF2-40B4-BE49-F238E27FC236}">
                  <a16:creationId xmlns:a16="http://schemas.microsoft.com/office/drawing/2014/main" xmlns="" id="{74EFA4C8-D1C2-1CD4-96B7-157B39841FC2}"/>
                </a:ext>
              </a:extLst>
            </p:cNvPr>
            <p:cNvPicPr>
              <a:picLocks noChangeAspect="1"/>
            </p:cNvPicPr>
            <p:nvPr/>
          </p:nvPicPr>
          <p:blipFill rotWithShape="1">
            <a:blip r:embed="rId4"/>
            <a:srcRect l="2739" r="6975" b="13876"/>
            <a:stretch/>
          </p:blipFill>
          <p:spPr>
            <a:xfrm>
              <a:off x="2370390" y="952609"/>
              <a:ext cx="7244633" cy="3222743"/>
            </a:xfrm>
            <a:prstGeom prst="rect">
              <a:avLst/>
            </a:prstGeom>
          </p:spPr>
        </p:pic>
        <p:pic>
          <p:nvPicPr>
            <p:cNvPr id="12" name="Picture 11">
              <a:extLst>
                <a:ext uri="{FF2B5EF4-FFF2-40B4-BE49-F238E27FC236}">
                  <a16:creationId xmlns:a16="http://schemas.microsoft.com/office/drawing/2014/main" xmlns="" id="{20350202-9303-7C38-BA4B-73D4DF521948}"/>
                </a:ext>
              </a:extLst>
            </p:cNvPr>
            <p:cNvPicPr>
              <a:picLocks noChangeAspect="1"/>
            </p:cNvPicPr>
            <p:nvPr/>
          </p:nvPicPr>
          <p:blipFill rotWithShape="1">
            <a:blip r:embed="rId5"/>
            <a:srcRect l="30320" t="62982" r="37224"/>
            <a:stretch/>
          </p:blipFill>
          <p:spPr>
            <a:xfrm>
              <a:off x="4644219" y="4749304"/>
              <a:ext cx="2386584" cy="1325752"/>
            </a:xfrm>
            <a:prstGeom prst="rect">
              <a:avLst/>
            </a:prstGeom>
          </p:spPr>
        </p:pic>
        <p:pic>
          <p:nvPicPr>
            <p:cNvPr id="2054" name="Picture 6" descr="AdaBoost Ensemble">
              <a:extLst>
                <a:ext uri="{FF2B5EF4-FFF2-40B4-BE49-F238E27FC236}">
                  <a16:creationId xmlns:a16="http://schemas.microsoft.com/office/drawing/2014/main" xmlns="" id="{A819E48A-39AD-B95E-80AB-C5F59A87AD0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45180" b="37647"/>
            <a:stretch/>
          </p:blipFill>
          <p:spPr bwMode="auto">
            <a:xfrm>
              <a:off x="2407497" y="4134270"/>
              <a:ext cx="7353300" cy="6150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96695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10</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1083145"/>
            <a:ext cx="7920413" cy="4903907"/>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1: Assigning Weights</a:t>
            </a:r>
          </a:p>
          <a:p>
            <a:pPr marL="742950" lvl="1" indent="-285750">
              <a:buFont typeface="Wingdings" panose="05000000000000000000" pitchFamily="2" charset="2"/>
              <a:buChar char="q"/>
            </a:pPr>
            <a:r>
              <a:rPr lang="en-US" sz="160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All data points will be assigned some weights. Initially, all the weights will be equal</a:t>
            </a:r>
            <a:r>
              <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q"/>
            </a:pPr>
            <a:r>
              <a:rPr lang="en-US" sz="1200" b="0" i="0" dirty="0">
                <a:solidFill>
                  <a:srgbClr val="383838"/>
                </a:solidFill>
                <a:effectLst/>
                <a:highlight>
                  <a:srgbClr val="FFFFFF"/>
                </a:highlight>
                <a:latin typeface="Inter"/>
              </a:rPr>
              <a:t>The formula to calculate the sample weights is:</a:t>
            </a:r>
          </a:p>
          <a:p>
            <a:pPr marL="742950" lvl="1" indent="-285750">
              <a:buFont typeface="Wingdings" panose="05000000000000000000" pitchFamily="2" charset="2"/>
              <a:buChar char="q"/>
            </a:pPr>
            <a:endParaRPr lang="en-US" sz="1200"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r>
              <a:rPr lang="en-US" sz="1200" b="0" i="0" dirty="0">
                <a:solidFill>
                  <a:srgbClr val="383838"/>
                </a:solidFill>
                <a:effectLst/>
                <a:highlight>
                  <a:srgbClr val="FFFFFF"/>
                </a:highlight>
                <a:latin typeface="Inter"/>
              </a:rPr>
              <a:t>Where N is the total number of data points</a:t>
            </a:r>
            <a:endParaRPr lang="en-US" sz="1200" b="1" i="0" dirty="0">
              <a:solidFill>
                <a:srgbClr val="383838"/>
              </a:solidFill>
              <a:effectLst/>
              <a:highlight>
                <a:srgbClr val="FFFFFF"/>
              </a:highlight>
              <a:latin typeface="Inter"/>
              <a:ea typeface="Calibri" panose="020F0502020204030204" pitchFamily="34" charset="0"/>
              <a:cs typeface="Calibri" panose="020F0502020204030204" pitchFamily="34" charset="0"/>
            </a:endParaRPr>
          </a:p>
          <a:p>
            <a:pPr marL="457200" lvl="1" indent="0">
              <a:buNone/>
            </a:pPr>
            <a:r>
              <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a:t>
            </a: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xmlns="" id="{94436793-7221-1873-B2C4-D9855EDEC22C}"/>
              </a:ext>
            </a:extLst>
          </p:cNvPr>
          <p:cNvPicPr>
            <a:picLocks noChangeAspect="1"/>
          </p:cNvPicPr>
          <p:nvPr/>
        </p:nvPicPr>
        <p:blipFill>
          <a:blip r:embed="rId4"/>
          <a:stretch>
            <a:fillRect/>
          </a:stretch>
        </p:blipFill>
        <p:spPr>
          <a:xfrm>
            <a:off x="3398710" y="2369629"/>
            <a:ext cx="3876675" cy="619125"/>
          </a:xfrm>
          <a:prstGeom prst="rect">
            <a:avLst/>
          </a:prstGeom>
        </p:spPr>
      </p:pic>
      <p:pic>
        <p:nvPicPr>
          <p:cNvPr id="15" name="Picture 14">
            <a:extLst>
              <a:ext uri="{FF2B5EF4-FFF2-40B4-BE49-F238E27FC236}">
                <a16:creationId xmlns:a16="http://schemas.microsoft.com/office/drawing/2014/main" xmlns="" id="{93F7E685-E462-345B-14AF-1248DC1653D5}"/>
              </a:ext>
            </a:extLst>
          </p:cNvPr>
          <p:cNvPicPr>
            <a:picLocks noChangeAspect="1"/>
          </p:cNvPicPr>
          <p:nvPr/>
        </p:nvPicPr>
        <p:blipFill>
          <a:blip r:embed="rId5"/>
          <a:stretch>
            <a:fillRect/>
          </a:stretch>
        </p:blipFill>
        <p:spPr>
          <a:xfrm>
            <a:off x="2960447" y="3482462"/>
            <a:ext cx="6006271" cy="2292393"/>
          </a:xfrm>
          <a:prstGeom prst="rect">
            <a:avLst/>
          </a:prstGeom>
        </p:spPr>
      </p:pic>
    </p:spTree>
    <p:extLst>
      <p:ext uri="{BB962C8B-B14F-4D97-AF65-F5344CB8AC3E}">
        <p14:creationId xmlns:p14="http://schemas.microsoft.com/office/powerpoint/2010/main" val="3395392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11</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1083145"/>
            <a:ext cx="8744373" cy="5402505"/>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2: Classify the Samples</a:t>
            </a:r>
          </a:p>
          <a:p>
            <a:pPr marL="0" indent="0" algn="l">
              <a:buNone/>
            </a:pPr>
            <a:endPar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r>
              <a:rPr lang="en-US" sz="20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Create a decision stump for each of the features and then calculate the Gini Index of each tree. The tree with the lowest Gini Index will be our first stump.</a:t>
            </a:r>
          </a:p>
          <a:p>
            <a:pPr marL="742950" lvl="1" indent="-285750">
              <a:buFont typeface="Wingdings" panose="05000000000000000000" pitchFamily="2" charset="2"/>
              <a:buChar char="q"/>
            </a:pPr>
            <a:endParaRPr lang="en-US" sz="20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r>
              <a:rPr lang="en-US" sz="20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let’s say Gender has the lowest </a:t>
            </a:r>
            <a:r>
              <a:rPr lang="en-US" sz="2000" dirty="0" err="1">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gini</a:t>
            </a:r>
            <a:r>
              <a:rPr lang="en-US" sz="20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index, so it will be our first stump.</a:t>
            </a:r>
          </a:p>
          <a:p>
            <a:pPr marL="742950" lvl="1" indent="-285750">
              <a:buFont typeface="Wingdings" panose="05000000000000000000" pitchFamily="2" charset="2"/>
              <a:buChar char="q"/>
            </a:pP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457200" lvl="1" indent="0">
              <a:buNone/>
            </a:pPr>
            <a:r>
              <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a:t>
            </a: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38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12</a:t>
            </a:fld>
            <a:endParaRPr spc="-67" dirty="0"/>
          </a:p>
        </p:txBody>
      </p:sp>
      <mc:AlternateContent xmlns:mc="http://schemas.openxmlformats.org/markup-compatibility/2006" xmlns:a14="http://schemas.microsoft.com/office/drawing/2010/main">
        <mc:Choice Requires="a14">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758613"/>
                <a:ext cx="8638004" cy="7331238"/>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3: Calculate the Influence (Amount of say)</a:t>
                </a:r>
                <a:endParaRPr lang="en-US" sz="1200" b="1" dirty="0">
                  <a:solidFill>
                    <a:srgbClr val="383838"/>
                  </a:solidFill>
                  <a:highlight>
                    <a:srgbClr val="FFFFFF"/>
                  </a:highlight>
                  <a:latin typeface="Inter"/>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r>
                  <a:rPr lang="en-US" sz="1600" b="1" dirty="0">
                    <a:solidFill>
                      <a:srgbClr val="383838"/>
                    </a:solidFill>
                    <a:highlight>
                      <a:srgbClr val="FFFFFF"/>
                    </a:highlight>
                    <a:ea typeface="Cambria Math" panose="02040503050406030204" pitchFamily="18" charset="0"/>
                    <a:cs typeface="Calibri" panose="020F0502020204030204" pitchFamily="34" charset="0"/>
                  </a:rPr>
                  <a:t>F = </a:t>
                </a:r>
                <a14:m>
                  <m:oMath xmlns:m="http://schemas.openxmlformats.org/officeDocument/2006/math">
                    <m:sSub>
                      <m:sSubPr>
                        <m:ctrlP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𝜶</m:t>
                        </m:r>
                      </m:e>
                      <m:sub>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𝟏</m:t>
                        </m:r>
                      </m:sub>
                    </m:sSub>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𝑴</m:t>
                    </m:r>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𝟏</m:t>
                    </m:r>
                  </m:oMath>
                </a14:m>
                <a:r>
                  <a:rPr lang="en-US" sz="1600" b="1" dirty="0">
                    <a:solidFill>
                      <a:srgbClr val="383838"/>
                    </a:solidFill>
                    <a:highlight>
                      <a:srgbClr val="FFFFFF"/>
                    </a:highlight>
                    <a:latin typeface="Inter"/>
                    <a:ea typeface="Calibri" panose="020F0502020204030204" pitchFamily="34" charset="0"/>
                    <a:cs typeface="Calibri" panose="020F0502020204030204" pitchFamily="34" charset="0"/>
                  </a:rPr>
                  <a:t> + </a:t>
                </a:r>
                <a14:m>
                  <m:oMath xmlns:m="http://schemas.openxmlformats.org/officeDocument/2006/math">
                    <m:sSub>
                      <m:sSubPr>
                        <m:ctrlPr>
                          <a:rPr lang="en-US" sz="1600" b="1"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600" b="1"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𝜶</m:t>
                        </m:r>
                      </m:e>
                      <m:sub>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𝟐</m:t>
                        </m:r>
                        <m:r>
                          <a:rPr lang="en-US" sz="1600" b="1"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 </m:t>
                        </m:r>
                      </m:sub>
                    </m:sSub>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𝑴</m:t>
                    </m:r>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𝟐</m:t>
                    </m:r>
                    <m:r>
                      <a:rPr lang="en-US" sz="16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 </m:t>
                    </m:r>
                  </m:oMath>
                </a14:m>
                <a:r>
                  <a:rPr lang="en-US" sz="1800" b="1" dirty="0">
                    <a:solidFill>
                      <a:srgbClr val="383838"/>
                    </a:solidFill>
                    <a:highlight>
                      <a:srgbClr val="FFFFFF"/>
                    </a:highlight>
                    <a:latin typeface="Inter"/>
                    <a:ea typeface="Calibri" panose="020F0502020204030204" pitchFamily="34" charset="0"/>
                    <a:cs typeface="Calibri" panose="020F0502020204030204" pitchFamily="34" charset="0"/>
                  </a:rPr>
                  <a:t>+ </a:t>
                </a:r>
                <a14:m>
                  <m:oMath xmlns:m="http://schemas.openxmlformats.org/officeDocument/2006/math">
                    <m:sSub>
                      <m:sSubPr>
                        <m:ctrlPr>
                          <a:rPr lang="en-US" sz="1800" b="1"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800" b="1"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𝜶</m:t>
                        </m:r>
                      </m:e>
                      <m:sub>
                        <m:r>
                          <a:rPr lang="en-US" sz="18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𝟑</m:t>
                        </m:r>
                      </m:sub>
                    </m:sSub>
                    <m:r>
                      <a:rPr lang="en-US" sz="18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𝑴</m:t>
                    </m:r>
                    <m:r>
                      <a:rPr lang="en-US" sz="1800" b="1"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𝟑</m:t>
                    </m:r>
                  </m:oMath>
                </a14:m>
                <a:r>
                  <a:rPr lang="en-US" sz="1800" b="1" dirty="0">
                    <a:solidFill>
                      <a:srgbClr val="383838"/>
                    </a:solidFill>
                    <a:highlight>
                      <a:srgbClr val="FFFFFF"/>
                    </a:highlight>
                    <a:latin typeface="Inter"/>
                    <a:ea typeface="Calibri" panose="020F0502020204030204" pitchFamily="34" charset="0"/>
                    <a:cs typeface="Calibri" panose="020F0502020204030204" pitchFamily="34" charset="0"/>
                  </a:rPr>
                  <a:t>  </a:t>
                </a: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r>
                  <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M1 – 100% ( LB ) , M2 – 50% , M3 – 0% (HB) : Which model to be trusted most?</a:t>
                </a:r>
              </a:p>
              <a:p>
                <a:pPr marL="742950" lvl="1" indent="-285750">
                  <a:lnSpc>
                    <a:spcPct val="150000"/>
                  </a:lnSpc>
                  <a:buFont typeface="Wingdings" panose="05000000000000000000" pitchFamily="2" charset="2"/>
                  <a:buChar char="q"/>
                </a:pPr>
                <a:endPar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endPar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endPar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457200" lvl="1" indent="0">
                  <a:lnSpc>
                    <a:spcPct val="150000"/>
                  </a:lnSpc>
                  <a:buNone/>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Wingdings" panose="05000000000000000000" pitchFamily="2" charset="2"/>
                  <a:buChar char="q"/>
                </a:pPr>
                <a:r>
                  <a:rPr lang="en-US" sz="16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Amount of say </a:t>
                </a:r>
              </a:p>
              <a:p>
                <a:pPr marL="742950" lvl="1" indent="-285750">
                  <a:buFont typeface="Wingdings" panose="05000000000000000000" pitchFamily="2" charset="2"/>
                  <a:buChar char="q"/>
                </a:pPr>
                <a:endParaRPr lang="en-US" sz="16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object 5">
                <a:extLst>
                  <a:ext uri="{FF2B5EF4-FFF2-40B4-BE49-F238E27FC236}">
                    <a16:creationId xmlns:a16="http://schemas.microsoft.com/office/drawing/2014/main" id="{6243D8AF-052E-1094-439F-21C21B0EDC52}"/>
                  </a:ext>
                </a:extLst>
              </p:cNvPr>
              <p:cNvSpPr txBox="1">
                <a:spLocks noRot="1" noChangeAspect="1" noMove="1" noResize="1" noEditPoints="1" noAdjustHandles="1" noChangeArrowheads="1" noChangeShapeType="1" noTextEdit="1"/>
              </p:cNvSpPr>
              <p:nvPr/>
            </p:nvSpPr>
            <p:spPr>
              <a:xfrm>
                <a:off x="1588347" y="758613"/>
                <a:ext cx="8638004" cy="7331238"/>
              </a:xfrm>
              <a:prstGeom prst="rect">
                <a:avLst/>
              </a:prstGeom>
              <a:blipFill>
                <a:blip r:embed="rId3"/>
                <a:stretch>
                  <a:fillRect l="-169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xmlns="" id="{E089E364-62D5-74CD-8C06-6BDCDE337CDE}"/>
              </a:ext>
            </a:extLst>
          </p:cNvPr>
          <p:cNvPicPr>
            <a:picLocks noChangeAspect="1"/>
          </p:cNvPicPr>
          <p:nvPr/>
        </p:nvPicPr>
        <p:blipFill>
          <a:blip r:embed="rId4"/>
          <a:stretch>
            <a:fillRect/>
          </a:stretch>
        </p:blipFill>
        <p:spPr>
          <a:xfrm>
            <a:off x="3816299" y="2240407"/>
            <a:ext cx="3299916" cy="2870126"/>
          </a:xfrm>
          <a:prstGeom prst="rect">
            <a:avLst/>
          </a:prstGeom>
        </p:spPr>
      </p:pic>
      <p:pic>
        <p:nvPicPr>
          <p:cNvPr id="7" name="Picture 6">
            <a:extLst>
              <a:ext uri="{FF2B5EF4-FFF2-40B4-BE49-F238E27FC236}">
                <a16:creationId xmlns:a16="http://schemas.microsoft.com/office/drawing/2014/main" xmlns="" id="{07A7DECF-0C40-109D-BAE8-96FF967621E9}"/>
              </a:ext>
            </a:extLst>
          </p:cNvPr>
          <p:cNvPicPr>
            <a:picLocks noChangeAspect="1"/>
          </p:cNvPicPr>
          <p:nvPr/>
        </p:nvPicPr>
        <p:blipFill>
          <a:blip r:embed="rId5"/>
          <a:stretch>
            <a:fillRect/>
          </a:stretch>
        </p:blipFill>
        <p:spPr>
          <a:xfrm>
            <a:off x="4166094" y="5357179"/>
            <a:ext cx="2600325" cy="828675"/>
          </a:xfrm>
          <a:prstGeom prst="rect">
            <a:avLst/>
          </a:prstGeom>
        </p:spPr>
      </p:pic>
    </p:spTree>
    <p:extLst>
      <p:ext uri="{BB962C8B-B14F-4D97-AF65-F5344CB8AC3E}">
        <p14:creationId xmlns:p14="http://schemas.microsoft.com/office/powerpoint/2010/main" val="1615904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13</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1083145"/>
            <a:ext cx="7920413" cy="4172937"/>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3: Calculate the Influence (Amount of say)</a:t>
            </a:r>
          </a:p>
          <a:p>
            <a:pPr marL="285750" indent="-285750" algn="l">
              <a:lnSpc>
                <a:spcPct val="100000"/>
              </a:lnSpc>
              <a:buFont typeface="Wingdings" panose="05000000000000000000" pitchFamily="2" charset="2"/>
              <a:buChar char="q"/>
            </a:pPr>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T</a:t>
            </a: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otal error = the summation of all the sample weights of misclassified data points. So, total error will always be between 0 and 1. 0 Indicates perfect stump, and 1 indicates horrible stump.</a:t>
            </a:r>
          </a:p>
          <a:p>
            <a:pPr marL="285750" indent="-285750" algn="l">
              <a:lnSpc>
                <a:spcPct val="10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Here in our dataset, let’s assume there is 1 wrong output, so our total error will be 1/5, and the alpha (performance of the stump) will be:</a:t>
            </a:r>
            <a:endPar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Wingdings" panose="05000000000000000000" pitchFamily="2" charset="2"/>
              <a:buChar char="q"/>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xmlns="" id="{C113059F-8C48-7DAB-033B-0C541F6BA93C}"/>
              </a:ext>
            </a:extLst>
          </p:cNvPr>
          <p:cNvPicPr>
            <a:picLocks noChangeAspect="1"/>
          </p:cNvPicPr>
          <p:nvPr/>
        </p:nvPicPr>
        <p:blipFill>
          <a:blip r:embed="rId3"/>
          <a:stretch>
            <a:fillRect/>
          </a:stretch>
        </p:blipFill>
        <p:spPr>
          <a:xfrm>
            <a:off x="3686556" y="3407919"/>
            <a:ext cx="5364698" cy="3004231"/>
          </a:xfrm>
          <a:prstGeom prst="rect">
            <a:avLst/>
          </a:prstGeom>
        </p:spPr>
      </p:pic>
    </p:spTree>
    <p:extLst>
      <p:ext uri="{BB962C8B-B14F-4D97-AF65-F5344CB8AC3E}">
        <p14:creationId xmlns:p14="http://schemas.microsoft.com/office/powerpoint/2010/main" val="1607379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14</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771227" y="902170"/>
            <a:ext cx="8881533" cy="6496650"/>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4: Updating Weights of data points</a:t>
            </a:r>
          </a:p>
          <a:p>
            <a:pPr marL="285750" indent="-285750" algn="l">
              <a:lnSpc>
                <a:spcPct val="150000"/>
              </a:lnSpc>
              <a:buFont typeface="Wingdings" panose="05000000000000000000" pitchFamily="2" charset="2"/>
              <a:buChar char="q"/>
            </a:pPr>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The wrong predictions will be given more weight, whereas the correct predictions weights will be decreased. Now when we build our next model after updating the weights, more preference will be given to the points with higher weights.</a:t>
            </a:r>
          </a:p>
          <a:p>
            <a:pPr marL="285750" indent="-285750" algn="l">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After finding the importance of the classifier and total error, we need to finally update the weights, and for this, we use the following formula:</a:t>
            </a:r>
          </a:p>
          <a:p>
            <a:pPr marL="0" indent="0" algn="l">
              <a:lnSpc>
                <a:spcPct val="150000"/>
              </a:lnSpc>
              <a:buNone/>
            </a:pPr>
            <a:endParaRPr lang="en-US" sz="1800" b="1" spc="-7" dirty="0">
              <a:latin typeface="Calibri" panose="020F0502020204030204" pitchFamily="34" charset="0"/>
              <a:ea typeface="Calibri" panose="020F0502020204030204" pitchFamily="34" charset="0"/>
              <a:cs typeface="Calibri" panose="020F0502020204030204" pitchFamily="34" charset="0"/>
            </a:endParaRPr>
          </a:p>
          <a:p>
            <a:pPr marL="285750" indent="-285750" algn="l">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amount of, say (alpha) will be </a:t>
            </a:r>
            <a:r>
              <a:rPr lang="en-US" sz="1800" b="1" i="1"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negative </a:t>
            </a: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when the sample is </a:t>
            </a:r>
            <a:r>
              <a:rPr lang="en-US" sz="18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correctly classified</a:t>
            </a: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marL="285750" indent="-285750" algn="l">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amount of, say (alpha) will be </a:t>
            </a:r>
            <a:r>
              <a:rPr lang="en-US" sz="1800" b="1" i="1"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positive</a:t>
            </a: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when the sample is </a:t>
            </a:r>
            <a:r>
              <a:rPr lang="en-US" sz="18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miss-classified.</a:t>
            </a:r>
            <a:endParaRPr lang="en-US" sz="1800" b="1" i="0" spc="-7"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Wingdings" panose="05000000000000000000" pitchFamily="2" charset="2"/>
              <a:buChar char="q"/>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net weight sample">
            <a:extLst>
              <a:ext uri="{FF2B5EF4-FFF2-40B4-BE49-F238E27FC236}">
                <a16:creationId xmlns:a16="http://schemas.microsoft.com/office/drawing/2014/main" xmlns="" id="{8C6D3BE0-27F5-C4D4-6722-30B70EF83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60" y="3865562"/>
            <a:ext cx="6389763" cy="404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550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15</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679787" y="1378346"/>
            <a:ext cx="7920413" cy="5302477"/>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4: Updating Weights of data points</a:t>
            </a:r>
          </a:p>
          <a:p>
            <a:pPr marL="285750" indent="-285750" algn="l">
              <a:buFont typeface="Wingdings" panose="05000000000000000000" pitchFamily="2" charset="2"/>
              <a:buChar char="q"/>
            </a:pPr>
            <a:r>
              <a:rPr lang="en-US" sz="1400" b="0" i="0" dirty="0">
                <a:solidFill>
                  <a:srgbClr val="383838"/>
                </a:solidFill>
                <a:effectLst/>
                <a:highlight>
                  <a:srgbClr val="FFFFFF"/>
                </a:highlight>
                <a:latin typeface="Inter"/>
              </a:rPr>
              <a:t>There are four correctly classified samples and 1 wrong. Here, the </a:t>
            </a:r>
            <a:r>
              <a:rPr lang="en-US" sz="1400" b="1" i="1" dirty="0">
                <a:solidFill>
                  <a:srgbClr val="383838"/>
                </a:solidFill>
                <a:effectLst/>
                <a:highlight>
                  <a:srgbClr val="FFFFFF"/>
                </a:highlight>
                <a:latin typeface="Inter"/>
              </a:rPr>
              <a:t>sample weight</a:t>
            </a:r>
            <a:r>
              <a:rPr lang="en-US" sz="1400" b="0" i="0" dirty="0">
                <a:solidFill>
                  <a:srgbClr val="383838"/>
                </a:solidFill>
                <a:effectLst/>
                <a:highlight>
                  <a:srgbClr val="FFFFFF"/>
                </a:highlight>
                <a:latin typeface="Inter"/>
              </a:rPr>
              <a:t> of that datapoint is</a:t>
            </a:r>
            <a:r>
              <a:rPr lang="en-US" sz="1400" b="0" i="1" dirty="0">
                <a:solidFill>
                  <a:srgbClr val="383838"/>
                </a:solidFill>
                <a:effectLst/>
                <a:highlight>
                  <a:srgbClr val="FFFFFF"/>
                </a:highlight>
                <a:latin typeface="Inter"/>
              </a:rPr>
              <a:t> 1/5,</a:t>
            </a:r>
            <a:r>
              <a:rPr lang="en-US" sz="1400" b="0" i="0" dirty="0">
                <a:solidFill>
                  <a:srgbClr val="383838"/>
                </a:solidFill>
                <a:effectLst/>
                <a:highlight>
                  <a:srgbClr val="FFFFFF"/>
                </a:highlight>
                <a:latin typeface="Inter"/>
              </a:rPr>
              <a:t> and the </a:t>
            </a:r>
            <a:r>
              <a:rPr lang="en-US" sz="1400" b="1" i="1" dirty="0">
                <a:solidFill>
                  <a:srgbClr val="383838"/>
                </a:solidFill>
                <a:effectLst/>
                <a:highlight>
                  <a:srgbClr val="FFFFFF"/>
                </a:highlight>
                <a:latin typeface="Inter"/>
              </a:rPr>
              <a:t>amount of say/performance of the stump </a:t>
            </a:r>
            <a:r>
              <a:rPr lang="en-US" sz="1400" b="0" i="0" dirty="0">
                <a:solidFill>
                  <a:srgbClr val="383838"/>
                </a:solidFill>
                <a:effectLst/>
                <a:highlight>
                  <a:srgbClr val="FFFFFF"/>
                </a:highlight>
                <a:latin typeface="Inter"/>
              </a:rPr>
              <a:t>of</a:t>
            </a:r>
            <a:r>
              <a:rPr lang="en-US" sz="1400" b="1" i="1" dirty="0">
                <a:solidFill>
                  <a:srgbClr val="383838"/>
                </a:solidFill>
                <a:effectLst/>
                <a:highlight>
                  <a:srgbClr val="FFFFFF"/>
                </a:highlight>
                <a:latin typeface="Inter"/>
              </a:rPr>
              <a:t> Gender</a:t>
            </a:r>
            <a:r>
              <a:rPr lang="en-US" sz="1400" b="0" i="0" dirty="0">
                <a:solidFill>
                  <a:srgbClr val="383838"/>
                </a:solidFill>
                <a:effectLst/>
                <a:highlight>
                  <a:srgbClr val="FFFFFF"/>
                </a:highlight>
                <a:latin typeface="Inter"/>
              </a:rPr>
              <a:t> is </a:t>
            </a:r>
            <a:r>
              <a:rPr lang="en-US" sz="1400" b="0" i="1" dirty="0">
                <a:solidFill>
                  <a:srgbClr val="383838"/>
                </a:solidFill>
                <a:effectLst/>
                <a:highlight>
                  <a:srgbClr val="FFFFFF"/>
                </a:highlight>
                <a:latin typeface="Inter"/>
              </a:rPr>
              <a:t>0.69</a:t>
            </a:r>
            <a:r>
              <a:rPr lang="en-US" sz="1400" b="0" i="0" dirty="0">
                <a:solidFill>
                  <a:srgbClr val="383838"/>
                </a:solidFill>
                <a:effectLst/>
                <a:highlight>
                  <a:srgbClr val="FFFFFF"/>
                </a:highlight>
                <a:latin typeface="Inter"/>
              </a:rPr>
              <a:t>.</a:t>
            </a:r>
          </a:p>
          <a:p>
            <a:pPr marL="285750" indent="-285750" algn="l">
              <a:buFont typeface="Wingdings" panose="05000000000000000000" pitchFamily="2" charset="2"/>
              <a:buChar char="q"/>
            </a:pPr>
            <a:r>
              <a:rPr lang="en-US" sz="1400" b="0" i="0" dirty="0">
                <a:solidFill>
                  <a:srgbClr val="383838"/>
                </a:solidFill>
                <a:effectLst/>
                <a:highlight>
                  <a:srgbClr val="FFFFFF"/>
                </a:highlight>
                <a:latin typeface="Inter"/>
              </a:rPr>
              <a:t>New weights for </a:t>
            </a:r>
            <a:r>
              <a:rPr lang="en-US" sz="1400" b="0" i="1" dirty="0">
                <a:solidFill>
                  <a:srgbClr val="383838"/>
                </a:solidFill>
                <a:effectLst/>
                <a:highlight>
                  <a:srgbClr val="FFFFFF"/>
                </a:highlight>
                <a:latin typeface="Inter"/>
              </a:rPr>
              <a:t>correctly classified</a:t>
            </a:r>
            <a:r>
              <a:rPr lang="en-US" sz="1400" b="0" i="0" dirty="0">
                <a:solidFill>
                  <a:srgbClr val="383838"/>
                </a:solidFill>
                <a:effectLst/>
                <a:highlight>
                  <a:srgbClr val="FFFFFF"/>
                </a:highlight>
                <a:latin typeface="Inter"/>
              </a:rPr>
              <a:t> samples are:</a:t>
            </a: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r>
              <a:rPr lang="en-US" sz="1400" dirty="0">
                <a:solidFill>
                  <a:srgbClr val="383838"/>
                </a:solidFill>
                <a:highlight>
                  <a:srgbClr val="FFFFFF"/>
                </a:highlight>
                <a:latin typeface="Inter"/>
              </a:rPr>
              <a:t>For wrongly classified samples, the updated weights will be:</a:t>
            </a: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xmlns="" id="{DE41A2A8-4ECB-5318-FB54-B0C1C9EEAC46}"/>
              </a:ext>
            </a:extLst>
          </p:cNvPr>
          <p:cNvPicPr>
            <a:picLocks noChangeAspect="1"/>
          </p:cNvPicPr>
          <p:nvPr/>
        </p:nvPicPr>
        <p:blipFill>
          <a:blip r:embed="rId3"/>
          <a:stretch>
            <a:fillRect/>
          </a:stretch>
        </p:blipFill>
        <p:spPr>
          <a:xfrm>
            <a:off x="2960448" y="2798672"/>
            <a:ext cx="5715000" cy="1095375"/>
          </a:xfrm>
          <a:prstGeom prst="rect">
            <a:avLst/>
          </a:prstGeom>
        </p:spPr>
      </p:pic>
      <p:pic>
        <p:nvPicPr>
          <p:cNvPr id="4098" name="Picture 2" descr="wrongly classified">
            <a:extLst>
              <a:ext uri="{FF2B5EF4-FFF2-40B4-BE49-F238E27FC236}">
                <a16:creationId xmlns:a16="http://schemas.microsoft.com/office/drawing/2014/main" xmlns="" id="{E7AA40F7-33B9-FCE7-4B12-8E90147DF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448" y="4548720"/>
            <a:ext cx="5715000" cy="108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084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16</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679787" y="1378346"/>
            <a:ext cx="7920413" cy="1049005"/>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5:</a:t>
            </a:r>
            <a:r>
              <a:rPr lang="en-US" sz="20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Normalize the weights</a:t>
            </a: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xmlns="" id="{506B8588-AB3F-46C0-B7C7-DE79F96A591B}"/>
              </a:ext>
            </a:extLst>
          </p:cNvPr>
          <p:cNvPicPr>
            <a:picLocks noChangeAspect="1"/>
          </p:cNvPicPr>
          <p:nvPr/>
        </p:nvPicPr>
        <p:blipFill>
          <a:blip r:embed="rId3"/>
          <a:stretch>
            <a:fillRect/>
          </a:stretch>
        </p:blipFill>
        <p:spPr>
          <a:xfrm>
            <a:off x="2691643" y="2340623"/>
            <a:ext cx="6785008" cy="2872320"/>
          </a:xfrm>
          <a:prstGeom prst="rect">
            <a:avLst/>
          </a:prstGeom>
        </p:spPr>
      </p:pic>
    </p:spTree>
    <p:extLst>
      <p:ext uri="{BB962C8B-B14F-4D97-AF65-F5344CB8AC3E}">
        <p14:creationId xmlns:p14="http://schemas.microsoft.com/office/powerpoint/2010/main" val="2171352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17</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931072"/>
            <a:ext cx="7920413" cy="1758943"/>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6:</a:t>
            </a:r>
            <a:r>
              <a:rPr lang="en-US" sz="20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Decrease Errors</a:t>
            </a:r>
          </a:p>
          <a:p>
            <a:pPr marL="285750" indent="-285750" algn="l">
              <a:buFont typeface="Wingdings" panose="05000000000000000000" pitchFamily="2" charset="2"/>
              <a:buChar char="q"/>
            </a:pPr>
            <a:r>
              <a:rPr lang="en-US" sz="1400" dirty="0">
                <a:solidFill>
                  <a:srgbClr val="383838"/>
                </a:solidFill>
                <a:highlight>
                  <a:srgbClr val="FFFFFF"/>
                </a:highlight>
                <a:latin typeface="Inter"/>
              </a:rPr>
              <a:t>W</a:t>
            </a:r>
            <a:r>
              <a:rPr lang="en-US" sz="1400" b="0" i="0" dirty="0">
                <a:solidFill>
                  <a:srgbClr val="383838"/>
                </a:solidFill>
                <a:effectLst/>
                <a:highlight>
                  <a:srgbClr val="FFFFFF"/>
                </a:highlight>
                <a:latin typeface="Inter"/>
              </a:rPr>
              <a:t>e need to make a new dataset to see if the errors decreased or not. For this, we will remove the “sample weights” and “new sample weights” columns and then, based on the “new sample weights,” divide our data points into buckets.</a:t>
            </a:r>
            <a:endParaRPr lang="en-US" sz="2000" b="1" spc="-7" dirty="0">
              <a:latin typeface="Calibri" panose="020F0502020204030204" pitchFamily="34" charset="0"/>
              <a:ea typeface="Calibri" panose="020F0502020204030204" pitchFamily="34" charset="0"/>
              <a:cs typeface="Calibri" panose="020F0502020204030204" pitchFamily="34" charset="0"/>
            </a:endParaRPr>
          </a:p>
          <a:p>
            <a:pPr marL="482588" indent="0">
              <a:lnSpc>
                <a:spcPct val="100000"/>
              </a:lnSpc>
              <a:spcBef>
                <a:spcPts val="1820"/>
              </a:spcBef>
              <a:buFont typeface="Arial" panose="020B0604020202020204" pitchFamily="34" charset="0"/>
              <a:buNone/>
              <a:tabLst>
                <a:tab pos="998195" algn="l"/>
              </a:tabLst>
            </a:pP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5122" name="Picture 2" descr="data ,decrease errors">
            <a:extLst>
              <a:ext uri="{FF2B5EF4-FFF2-40B4-BE49-F238E27FC236}">
                <a16:creationId xmlns:a16="http://schemas.microsoft.com/office/drawing/2014/main" xmlns="" id="{909E63E1-492D-E14A-8C00-FD0591E49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969" y="2864887"/>
            <a:ext cx="6451368" cy="2537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212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18</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931072"/>
            <a:ext cx="7920413" cy="2508892"/>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7:</a:t>
            </a:r>
            <a:r>
              <a:rPr lang="en-US" sz="20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New Dataset</a:t>
            </a:r>
          </a:p>
          <a:p>
            <a:pPr marL="285750" indent="-285750" algn="l">
              <a:buFont typeface="Wingdings" panose="05000000000000000000" pitchFamily="2" charset="2"/>
              <a:buChar char="q"/>
            </a:pPr>
            <a:r>
              <a:rPr lang="en-US" sz="1400" dirty="0">
                <a:solidFill>
                  <a:srgbClr val="383838"/>
                </a:solidFill>
                <a:highlight>
                  <a:srgbClr val="FFFFFF"/>
                </a:highlight>
                <a:latin typeface="Inter"/>
              </a:rPr>
              <a:t>selects random numbers from 0-1. Since incorrectly classified records have higher sample weights, the probability of selecting those records is very high.</a:t>
            </a: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r>
              <a:rPr lang="en-US" sz="1400" dirty="0">
                <a:solidFill>
                  <a:srgbClr val="383838"/>
                </a:solidFill>
                <a:highlight>
                  <a:srgbClr val="FFFFFF"/>
                </a:highlight>
                <a:latin typeface="Inter"/>
              </a:rPr>
              <a:t>Suppose the 5 random numbers our algorithm take is 0.38,0.26,0.98,0.40,0.55.</a:t>
            </a:r>
          </a:p>
          <a:p>
            <a:pPr marL="285750" indent="-285750" algn="l">
              <a:buFont typeface="Wingdings" panose="05000000000000000000" pitchFamily="2" charset="2"/>
              <a:buChar char="q"/>
            </a:pPr>
            <a:endParaRPr lang="en-US" sz="1400" dirty="0">
              <a:solidFill>
                <a:srgbClr val="383838"/>
              </a:solidFill>
              <a:highlight>
                <a:srgbClr val="FFFFFF"/>
              </a:highlight>
              <a:latin typeface="Inter"/>
            </a:endParaRPr>
          </a:p>
          <a:p>
            <a:pPr marL="285750" indent="-285750" algn="l">
              <a:buFont typeface="Wingdings" panose="05000000000000000000" pitchFamily="2" charset="2"/>
              <a:buChar char="q"/>
            </a:pPr>
            <a:r>
              <a:rPr lang="en-US" sz="1400" dirty="0">
                <a:solidFill>
                  <a:srgbClr val="383838"/>
                </a:solidFill>
                <a:highlight>
                  <a:srgbClr val="FFFFFF"/>
                </a:highlight>
                <a:latin typeface="Inter"/>
              </a:rPr>
              <a:t>Now we will see where these random numbers fall in the bucket, and according to it, we’ll make our new dataset shown below.</a:t>
            </a:r>
            <a:endParaRPr lang="en-US" sz="2000" b="1" spc="-7"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xmlns="" id="{B6C887C5-E1A1-8748-B2F9-9EE62EE628B9}"/>
              </a:ext>
            </a:extLst>
          </p:cNvPr>
          <p:cNvPicPr>
            <a:picLocks noChangeAspect="1"/>
          </p:cNvPicPr>
          <p:nvPr/>
        </p:nvPicPr>
        <p:blipFill>
          <a:blip r:embed="rId3"/>
          <a:stretch>
            <a:fillRect/>
          </a:stretch>
        </p:blipFill>
        <p:spPr>
          <a:xfrm>
            <a:off x="2827019" y="3717128"/>
            <a:ext cx="6270327" cy="2424526"/>
          </a:xfrm>
          <a:prstGeom prst="rect">
            <a:avLst/>
          </a:prstGeom>
        </p:spPr>
      </p:pic>
    </p:spTree>
    <p:extLst>
      <p:ext uri="{BB962C8B-B14F-4D97-AF65-F5344CB8AC3E}">
        <p14:creationId xmlns:p14="http://schemas.microsoft.com/office/powerpoint/2010/main" val="3622553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19</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931072"/>
            <a:ext cx="7920413" cy="4112023"/>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Step 8:</a:t>
            </a:r>
            <a:r>
              <a:rPr lang="en-US" sz="2000" b="1"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Repeat Previous Steps</a:t>
            </a: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Assign equal weights to all the data points.</a:t>
            </a: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Find the stump that does the best job classifying the new collection of samples by finding their Gini Index and selecting the one with the lowest Gini index.</a:t>
            </a: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Calculate the “Amount of Say” and “Total error” to update the previous sample weights.</a:t>
            </a: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Normalize the new sample weights.</a:t>
            </a: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Iterate through these steps until and unless a low training error is achieved.</a:t>
            </a:r>
          </a:p>
        </p:txBody>
      </p:sp>
    </p:spTree>
    <p:extLst>
      <p:ext uri="{BB962C8B-B14F-4D97-AF65-F5344CB8AC3E}">
        <p14:creationId xmlns:p14="http://schemas.microsoft.com/office/powerpoint/2010/main" val="3749963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AdaBoost – Step by Step</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20</a:t>
            </a:fld>
            <a:endParaRPr spc="-67" dirty="0"/>
          </a:p>
        </p:txBody>
      </p:sp>
      <mc:AlternateContent xmlns:mc="http://schemas.openxmlformats.org/markup-compatibility/2006" xmlns:a14="http://schemas.microsoft.com/office/drawing/2010/main">
        <mc:Choice Requires="a14">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931072"/>
                <a:ext cx="7920413" cy="4776308"/>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buFont typeface="Wingdings" panose="05000000000000000000" pitchFamily="2" charset="2"/>
                  <a:buChar char="q"/>
                </a:pPr>
                <a:r>
                  <a:rPr lang="en-US" sz="2000" b="1"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Prediction</a:t>
                </a:r>
              </a:p>
              <a:p>
                <a:pPr lvl="2">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Suppose, we have constructed 3 decision trees (DT1, DT2, DT3) in a sequential manner. If we send our test data now, it will pass through all the decision trees, and finally, we will see which class has the majority, and based on that, we will do predictions.</a:t>
                </a:r>
              </a:p>
              <a:p>
                <a:pPr lvl="2">
                  <a:lnSpc>
                    <a:spcPct val="150000"/>
                  </a:lnSpc>
                  <a:buFont typeface="Wingdings" panose="05000000000000000000" pitchFamily="2" charset="2"/>
                  <a:buChar char="q"/>
                </a:pPr>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F = </a:t>
                </a:r>
                <a14:m>
                  <m:oMath xmlns:m="http://schemas.openxmlformats.org/officeDocument/2006/math">
                    <m:sSub>
                      <m:sSubPr>
                        <m:ctrlPr>
                          <a:rPr lang="en-US" sz="180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𝛼</m:t>
                        </m:r>
                      </m:e>
                      <m: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1</m:t>
                        </m:r>
                      </m:sub>
                    </m:s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𝑀</m:t>
                    </m:r>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1</m:t>
                    </m:r>
                  </m:oMath>
                </a14:m>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US" sz="1800"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800" b="0"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𝛼</m:t>
                        </m:r>
                      </m:e>
                      <m: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2</m:t>
                        </m:r>
                        <m:r>
                          <a:rPr lang="en-US" sz="1800" b="0"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 </m:t>
                        </m:r>
                      </m:sub>
                    </m:s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𝑀</m:t>
                    </m:r>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2 </m:t>
                    </m:r>
                  </m:oMath>
                </a14:m>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sz="1800"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ctrlPr>
                      </m:sSubPr>
                      <m:e>
                        <m:r>
                          <a:rPr lang="en-US" sz="1800" b="0" i="1">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𝛼</m:t>
                        </m:r>
                      </m:e>
                      <m: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3</m:t>
                        </m:r>
                      </m:sub>
                    </m:sSub>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𝑀</m:t>
                    </m:r>
                    <m:r>
                      <a:rPr lang="en-US" sz="1800" b="0" i="1" smtClean="0">
                        <a:solidFill>
                          <a:srgbClr val="383838"/>
                        </a:solidFill>
                        <a:highlight>
                          <a:srgbClr val="FFFFFF"/>
                        </a:highlight>
                        <a:latin typeface="Cambria Math" panose="02040503050406030204" pitchFamily="18" charset="0"/>
                        <a:ea typeface="Cambria Math" panose="02040503050406030204" pitchFamily="18" charset="0"/>
                        <a:cs typeface="Calibri" panose="020F0502020204030204" pitchFamily="34" charset="0"/>
                      </a:rPr>
                      <m:t>3</m:t>
                    </m:r>
                  </m:oMath>
                </a14:m>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 0.8M1 + 0.8M2 + 0.69M3</a:t>
                </a:r>
              </a:p>
              <a:p>
                <a:pPr lvl="2">
                  <a:lnSpc>
                    <a:spcPct val="150000"/>
                  </a:lnSpc>
                  <a:buFont typeface="Wingdings" panose="05000000000000000000" pitchFamily="2" charset="2"/>
                  <a:buChar char="q"/>
                </a:pPr>
                <a:r>
                  <a:rPr lang="en-US" sz="1800" i="0" dirty="0" err="1">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Xq</a:t>
                </a:r>
                <a:r>
                  <a:rPr lang="en-US" sz="180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 {Female, 50, 28000</a:t>
                </a:r>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a:t>
                </a:r>
              </a:p>
              <a:p>
                <a:pPr lvl="2">
                  <a:lnSpc>
                    <a:spcPct val="150000"/>
                  </a:lnSpc>
                  <a:buFont typeface="Wingdings" panose="05000000000000000000" pitchFamily="2" charset="2"/>
                  <a:buChar char="q"/>
                </a:pPr>
                <a:r>
                  <a:rPr lang="en-US" sz="180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 = 0.8(Y) + 0.8 (N) + 0.6 (Y) = 0.8N + 1.4</a:t>
                </a:r>
                <a:r>
                  <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rPr>
                  <a:t> Y = Yes</a:t>
                </a:r>
                <a:endParaRPr lang="en-US" sz="180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object 5">
                <a:extLst>
                  <a:ext uri="{FF2B5EF4-FFF2-40B4-BE49-F238E27FC236}">
                    <a16:creationId xmlns:a16="http://schemas.microsoft.com/office/drawing/2014/main" id="{6243D8AF-052E-1094-439F-21C21B0EDC52}"/>
                  </a:ext>
                </a:extLst>
              </p:cNvPr>
              <p:cNvSpPr txBox="1">
                <a:spLocks noRot="1" noChangeAspect="1" noMove="1" noResize="1" noEditPoints="1" noAdjustHandles="1" noChangeArrowheads="1" noChangeShapeType="1" noTextEdit="1"/>
              </p:cNvSpPr>
              <p:nvPr/>
            </p:nvSpPr>
            <p:spPr>
              <a:xfrm>
                <a:off x="1588347" y="931072"/>
                <a:ext cx="7920413" cy="4776308"/>
              </a:xfrm>
              <a:prstGeom prst="rect">
                <a:avLst/>
              </a:prstGeom>
              <a:blipFill>
                <a:blip r:embed="rId3"/>
                <a:stretch>
                  <a:fillRect r="-154"/>
                </a:stretch>
              </a:blipFill>
            </p:spPr>
            <p:txBody>
              <a:bodyPr/>
              <a:lstStyle/>
              <a:p>
                <a:r>
                  <a:rPr lang="en-US">
                    <a:noFill/>
                  </a:rPr>
                  <a:t> </a:t>
                </a:r>
              </a:p>
            </p:txBody>
          </p:sp>
        </mc:Fallback>
      </mc:AlternateContent>
    </p:spTree>
    <p:extLst>
      <p:ext uri="{BB962C8B-B14F-4D97-AF65-F5344CB8AC3E}">
        <p14:creationId xmlns:p14="http://schemas.microsoft.com/office/powerpoint/2010/main" val="1590511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177177"/>
            <a:ext cx="8991600" cy="546496"/>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R="85511" algn="ctr">
              <a:lnSpc>
                <a:spcPts val="4513"/>
              </a:lnSpc>
            </a:pPr>
            <a:r>
              <a:rPr lang="en-US" sz="3200" b="1" spc="-13" dirty="0">
                <a:solidFill>
                  <a:schemeClr val="bg1"/>
                </a:solidFill>
              </a:rPr>
              <a:t>Code</a:t>
            </a: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21</a:t>
            </a:fld>
            <a:endParaRPr spc="-67" dirty="0"/>
          </a:p>
        </p:txBody>
      </p:sp>
      <p:sp>
        <p:nvSpPr>
          <p:cNvPr id="8" name="object 5">
            <a:extLst>
              <a:ext uri="{FF2B5EF4-FFF2-40B4-BE49-F238E27FC236}">
                <a16:creationId xmlns:a16="http://schemas.microsoft.com/office/drawing/2014/main" xmlns="" id="{6243D8AF-052E-1094-439F-21C21B0EDC52}"/>
              </a:ext>
            </a:extLst>
          </p:cNvPr>
          <p:cNvSpPr txBox="1">
            <a:spLocks/>
          </p:cNvSpPr>
          <p:nvPr/>
        </p:nvSpPr>
        <p:spPr>
          <a:xfrm>
            <a:off x="1588347" y="931072"/>
            <a:ext cx="9686205" cy="5625258"/>
          </a:xfrm>
          <a:prstGeom prst="rect">
            <a:avLst/>
          </a:prstGeom>
        </p:spPr>
        <p:txBody>
          <a:bodyPr vert="horz" wrap="square" lIns="0" tIns="23114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3"/>
              </a:rPr>
              <a:t>https://github.com/campusx-official/bagging-ensemble</a:t>
            </a: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4"/>
              </a:rPr>
              <a:t>https://github.com/campusx-official/100-days-of-machine-learning/blob/main/day65-random-forest/bagging_vs_random_forest.ipynb</a:t>
            </a:r>
            <a:endPar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5"/>
              </a:rPr>
              <a:t>https://github.com/campusx-official/100-days-of-machine-learning/blob/main/day65-random-forest/random_forest_demo.ipynb</a:t>
            </a: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6"/>
              </a:rPr>
              <a:t>https://scikit-learn.org/stable/modules/generated/sklearn.ensemble.RandomForestClassifier.html</a:t>
            </a:r>
            <a:endPar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7"/>
              </a:rPr>
              <a:t>https://github.com/campusx-official/100-days-of-machine-learning/blob/main/day65-random-forest/code-example-random-forest.ipynb</a:t>
            </a: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r>
              <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hlinkClick r:id="rId8"/>
              </a:rPr>
              <a:t>https://github.com/campusx-official/100-days-of-machine-learning/tree/main/day66-adaboost</a:t>
            </a:r>
            <a:endParaRPr lang="en-US" sz="1800" dirty="0">
              <a:solidFill>
                <a:srgbClr val="383838"/>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lnSpc>
                <a:spcPct val="150000"/>
              </a:lnSpc>
              <a:buFont typeface="Wingdings" panose="05000000000000000000" pitchFamily="2" charset="2"/>
              <a:buChar char="q"/>
            </a:pPr>
            <a:endParaRPr lang="en-US" sz="1800" b="0" i="0" dirty="0">
              <a:solidFill>
                <a:srgbClr val="383838"/>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0326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204204"/>
            <a:ext cx="8991600" cy="492443"/>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Overlock"/>
              </a:rPr>
              <a:t>Classification of Class-Imbalanced Data Sets</a:t>
            </a:r>
            <a:endParaRPr kumimoji="0" lang="en-US" altLang="en-US" sz="3200" b="1" i="0" u="none" strike="noStrike" cap="none" normalizeH="0" baseline="0" dirty="0">
              <a:ln>
                <a:noFill/>
              </a:ln>
              <a:solidFill>
                <a:schemeClr val="bg1"/>
              </a:solidFill>
              <a:effectLst/>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22</a:t>
            </a:fld>
            <a:endParaRPr spc="-67" dirty="0"/>
          </a:p>
        </p:txBody>
      </p:sp>
      <p:sp>
        <p:nvSpPr>
          <p:cNvPr id="13" name="TextBox 12">
            <a:extLst>
              <a:ext uri="{FF2B5EF4-FFF2-40B4-BE49-F238E27FC236}">
                <a16:creationId xmlns:a16="http://schemas.microsoft.com/office/drawing/2014/main" xmlns="" id="{CE3A9F8B-22DA-AB10-45C7-481ADA8CD6FC}"/>
              </a:ext>
            </a:extLst>
          </p:cNvPr>
          <p:cNvSpPr txBox="1"/>
          <p:nvPr/>
        </p:nvSpPr>
        <p:spPr>
          <a:xfrm>
            <a:off x="3047238" y="3244334"/>
            <a:ext cx="6094476" cy="369332"/>
          </a:xfrm>
          <a:prstGeom prst="rect">
            <a:avLst/>
          </a:prstGeom>
          <a:noFill/>
        </p:spPr>
        <p:txBody>
          <a:bodyPr wrap="square">
            <a:spAutoFit/>
          </a:bodyPr>
          <a:lstStyle/>
          <a:p>
            <a:r>
              <a:rPr lang="en-US" dirty="0"/>
              <a:t> </a:t>
            </a:r>
          </a:p>
        </p:txBody>
      </p:sp>
      <p:sp>
        <p:nvSpPr>
          <p:cNvPr id="15" name="TextBox 14">
            <a:extLst>
              <a:ext uri="{FF2B5EF4-FFF2-40B4-BE49-F238E27FC236}">
                <a16:creationId xmlns:a16="http://schemas.microsoft.com/office/drawing/2014/main" xmlns="" id="{D7AB8E8C-1E9D-76FD-9201-9B4B9A723151}"/>
              </a:ext>
            </a:extLst>
          </p:cNvPr>
          <p:cNvSpPr txBox="1"/>
          <p:nvPr/>
        </p:nvSpPr>
        <p:spPr>
          <a:xfrm>
            <a:off x="3929463" y="3120643"/>
            <a:ext cx="2500196" cy="369332"/>
          </a:xfrm>
          <a:prstGeom prst="rect">
            <a:avLst/>
          </a:prstGeom>
          <a:noFill/>
        </p:spPr>
        <p:txBody>
          <a:bodyPr wrap="square">
            <a:spAutoFit/>
          </a:bodyPr>
          <a:lstStyle/>
          <a:p>
            <a:r>
              <a:rPr lang="en-US" b="0" dirty="0">
                <a:effectLst/>
              </a:rPr>
              <a:t> </a:t>
            </a:r>
            <a:endParaRPr lang="en-US" dirty="0"/>
          </a:p>
        </p:txBody>
      </p:sp>
      <p:sp>
        <p:nvSpPr>
          <p:cNvPr id="16" name="Rectangle 1">
            <a:extLst>
              <a:ext uri="{FF2B5EF4-FFF2-40B4-BE49-F238E27FC236}">
                <a16:creationId xmlns:a16="http://schemas.microsoft.com/office/drawing/2014/main" xmlns="" id="{268E69ED-B85A-981E-55E3-E9B18A639EBB}"/>
              </a:ext>
            </a:extLst>
          </p:cNvPr>
          <p:cNvSpPr>
            <a:spLocks noChangeArrowheads="1"/>
          </p:cNvSpPr>
          <p:nvPr/>
        </p:nvSpPr>
        <p:spPr bwMode="auto">
          <a:xfrm>
            <a:off x="1216210" y="751344"/>
            <a:ext cx="5547434"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Traditional methods assume a balanced distribution of classes and equal error costs. But in real world situations, we may face imbalanced data sets, which has rare positive examples but numerous negative ones.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Medical diagnosis: Medical screening for a condition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is usually performed on a large population of people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without the condition, to detect a small minority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with it (e.g., HIV prevalence in the USA is ~0.4%)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Fraud detection: About 2% of credit card accounts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are defrauded per year. (Most fraud detection domains are heavily imbalanced.)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Product defect, accident (oil-spill), disk drive failures, etc.</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p>
        </p:txBody>
      </p:sp>
      <p:pic>
        <p:nvPicPr>
          <p:cNvPr id="6146" name="Picture 2" descr="Related image">
            <a:extLst>
              <a:ext uri="{FF2B5EF4-FFF2-40B4-BE49-F238E27FC236}">
                <a16:creationId xmlns:a16="http://schemas.microsoft.com/office/drawing/2014/main" xmlns="" id="{03A00916-2754-C67E-30AC-F2701FF7D3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3205" y="1246696"/>
            <a:ext cx="4177017" cy="338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901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204204"/>
            <a:ext cx="8991600" cy="492443"/>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Overlock"/>
              </a:rPr>
              <a:t>Classification of Class-Imbalanced Data Sets</a:t>
            </a:r>
            <a:endParaRPr kumimoji="0" lang="en-US" altLang="en-US" sz="3200" b="1" i="0" u="none" strike="noStrike" cap="none" normalizeH="0" baseline="0" dirty="0">
              <a:ln>
                <a:noFill/>
              </a:ln>
              <a:solidFill>
                <a:schemeClr val="bg1"/>
              </a:solidFill>
              <a:effectLst/>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23</a:t>
            </a:fld>
            <a:endParaRPr spc="-67" dirty="0"/>
          </a:p>
        </p:txBody>
      </p:sp>
      <p:sp>
        <p:nvSpPr>
          <p:cNvPr id="13" name="TextBox 12">
            <a:extLst>
              <a:ext uri="{FF2B5EF4-FFF2-40B4-BE49-F238E27FC236}">
                <a16:creationId xmlns:a16="http://schemas.microsoft.com/office/drawing/2014/main" xmlns="" id="{CE3A9F8B-22DA-AB10-45C7-481ADA8CD6FC}"/>
              </a:ext>
            </a:extLst>
          </p:cNvPr>
          <p:cNvSpPr txBox="1"/>
          <p:nvPr/>
        </p:nvSpPr>
        <p:spPr>
          <a:xfrm>
            <a:off x="3047238" y="3244334"/>
            <a:ext cx="6094476" cy="369332"/>
          </a:xfrm>
          <a:prstGeom prst="rect">
            <a:avLst/>
          </a:prstGeom>
          <a:noFill/>
        </p:spPr>
        <p:txBody>
          <a:bodyPr wrap="square">
            <a:spAutoFit/>
          </a:bodyPr>
          <a:lstStyle/>
          <a:p>
            <a:r>
              <a:rPr lang="en-US" dirty="0"/>
              <a:t> </a:t>
            </a:r>
          </a:p>
        </p:txBody>
      </p:sp>
      <p:sp>
        <p:nvSpPr>
          <p:cNvPr id="15" name="TextBox 14">
            <a:extLst>
              <a:ext uri="{FF2B5EF4-FFF2-40B4-BE49-F238E27FC236}">
                <a16:creationId xmlns:a16="http://schemas.microsoft.com/office/drawing/2014/main" xmlns="" id="{D7AB8E8C-1E9D-76FD-9201-9B4B9A723151}"/>
              </a:ext>
            </a:extLst>
          </p:cNvPr>
          <p:cNvSpPr txBox="1"/>
          <p:nvPr/>
        </p:nvSpPr>
        <p:spPr>
          <a:xfrm>
            <a:off x="3929463" y="3120643"/>
            <a:ext cx="2500196" cy="369332"/>
          </a:xfrm>
          <a:prstGeom prst="rect">
            <a:avLst/>
          </a:prstGeom>
          <a:noFill/>
        </p:spPr>
        <p:txBody>
          <a:bodyPr wrap="square">
            <a:spAutoFit/>
          </a:bodyPr>
          <a:lstStyle/>
          <a:p>
            <a:r>
              <a:rPr lang="en-US" b="0" dirty="0">
                <a:effectLst/>
              </a:rPr>
              <a:t> </a:t>
            </a:r>
            <a:endParaRPr lang="en-US" dirty="0"/>
          </a:p>
        </p:txBody>
      </p:sp>
      <p:sp>
        <p:nvSpPr>
          <p:cNvPr id="16" name="Rectangle 1">
            <a:extLst>
              <a:ext uri="{FF2B5EF4-FFF2-40B4-BE49-F238E27FC236}">
                <a16:creationId xmlns:a16="http://schemas.microsoft.com/office/drawing/2014/main" xmlns="" id="{268E69ED-B85A-981E-55E3-E9B18A639EBB}"/>
              </a:ext>
            </a:extLst>
          </p:cNvPr>
          <p:cNvSpPr>
            <a:spLocks noChangeArrowheads="1"/>
          </p:cNvSpPr>
          <p:nvPr/>
        </p:nvSpPr>
        <p:spPr bwMode="auto">
          <a:xfrm>
            <a:off x="1500902" y="524976"/>
            <a:ext cx="9363737"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r>
            <a:br>
              <a:rPr kumimoji="0" lang="en-US" altLang="en-US" b="0" i="0" u="none" strike="noStrike" cap="none" normalizeH="0" baseline="0" dirty="0">
                <a:ln>
                  <a:noFill/>
                </a:ln>
                <a:solidFill>
                  <a:schemeClr val="tx1"/>
                </a:solidFill>
                <a:effectLst/>
                <a:latin typeface="Arial" panose="020B060402020202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2400" b="0" i="0" u="none" strike="noStrike" dirty="0">
                <a:solidFill>
                  <a:srgbClr val="000000"/>
                </a:solidFill>
                <a:effectLst/>
                <a:latin typeface="Calibri" panose="020F0502020204030204" pitchFamily="34" charset="0"/>
              </a:rPr>
              <a:t>Typical methods on imbalanced data (Balance the training set)</a:t>
            </a:r>
            <a:endParaRPr lang="en-US" sz="1920" b="0" i="0" u="none" strike="noStrike" dirty="0">
              <a:solidFill>
                <a:srgbClr val="0000CC"/>
              </a:solidFill>
              <a:effectLst/>
              <a:latin typeface="Noto Sans Symbols"/>
            </a:endParaRPr>
          </a:p>
          <a:p>
            <a:pPr marL="742950" lvl="1" indent="-285750" rtl="0" fontAlgn="base">
              <a:spcBef>
                <a:spcPts val="600"/>
              </a:spcBef>
              <a:spcAft>
                <a:spcPts val="0"/>
              </a:spcAft>
              <a:buFont typeface="Arial" panose="020B0604020202020204" pitchFamily="34" charset="0"/>
              <a:buChar char="•"/>
            </a:pPr>
            <a:r>
              <a:rPr lang="en-US" sz="2400" b="1" i="0" u="none" strike="noStrike" dirty="0">
                <a:solidFill>
                  <a:srgbClr val="000000"/>
                </a:solidFill>
                <a:effectLst/>
                <a:latin typeface="Calibri" panose="020F0502020204030204" pitchFamily="34" charset="0"/>
              </a:rPr>
              <a:t>Oversampling</a:t>
            </a:r>
            <a:r>
              <a:rPr lang="en-US" sz="2400" b="0" i="0" u="none" strike="noStrike" dirty="0">
                <a:solidFill>
                  <a:srgbClr val="000000"/>
                </a:solidFill>
                <a:effectLst/>
                <a:latin typeface="Calibri" panose="020F0502020204030204" pitchFamily="34" charset="0"/>
              </a:rPr>
              <a:t>: Oversample the minority class.</a:t>
            </a:r>
            <a:endParaRPr lang="en-US" sz="1920" b="1" i="0" u="none" strike="noStrike" dirty="0">
              <a:solidFill>
                <a:srgbClr val="008080"/>
              </a:solidFill>
              <a:effectLst/>
              <a:latin typeface="Noto Sans Symbols"/>
            </a:endParaRPr>
          </a:p>
          <a:p>
            <a:pPr marL="742950" lvl="1" indent="-285750" rtl="0" fontAlgn="base">
              <a:spcBef>
                <a:spcPts val="600"/>
              </a:spcBef>
              <a:spcAft>
                <a:spcPts val="0"/>
              </a:spcAft>
              <a:buFont typeface="Arial" panose="020B0604020202020204" pitchFamily="34" charset="0"/>
              <a:buChar char="•"/>
            </a:pPr>
            <a:r>
              <a:rPr lang="en-US" sz="2400" b="1" i="0" u="none" strike="noStrike" dirty="0">
                <a:solidFill>
                  <a:srgbClr val="000000"/>
                </a:solidFill>
                <a:effectLst/>
                <a:latin typeface="Calibri" panose="020F0502020204030204" pitchFamily="34" charset="0"/>
              </a:rPr>
              <a:t>Under-sampling</a:t>
            </a:r>
            <a:r>
              <a:rPr lang="en-US" sz="2400" b="0" i="0" u="none" strike="noStrike" dirty="0">
                <a:solidFill>
                  <a:srgbClr val="000000"/>
                </a:solidFill>
                <a:effectLst/>
                <a:latin typeface="Calibri" panose="020F0502020204030204" pitchFamily="34" charset="0"/>
              </a:rPr>
              <a:t>: Randomly eliminate tuples from majority class</a:t>
            </a:r>
            <a:endParaRPr lang="en-US" sz="1920" b="1" i="0" u="none" strike="noStrike" dirty="0">
              <a:solidFill>
                <a:srgbClr val="008080"/>
              </a:solidFill>
              <a:effectLst/>
              <a:latin typeface="Noto Sans Symbols"/>
            </a:endParaRPr>
          </a:p>
          <a:p>
            <a:pPr marL="742950" lvl="1" indent="-285750" rtl="0" fontAlgn="base">
              <a:spcBef>
                <a:spcPts val="600"/>
              </a:spcBef>
              <a:spcAft>
                <a:spcPts val="0"/>
              </a:spcAft>
              <a:buFont typeface="Arial" panose="020B0604020202020204" pitchFamily="34" charset="0"/>
              <a:buChar char="•"/>
            </a:pPr>
            <a:r>
              <a:rPr lang="en-US" sz="2400" b="1" i="0" u="none" strike="noStrike" dirty="0">
                <a:solidFill>
                  <a:srgbClr val="000000"/>
                </a:solidFill>
                <a:effectLst/>
                <a:latin typeface="Calibri" panose="020F0502020204030204" pitchFamily="34" charset="0"/>
              </a:rPr>
              <a:t>Synthesizing: </a:t>
            </a:r>
            <a:r>
              <a:rPr lang="en-US" sz="2400" b="0" i="0" u="none" strike="noStrike" dirty="0">
                <a:solidFill>
                  <a:srgbClr val="000000"/>
                </a:solidFill>
                <a:effectLst/>
                <a:latin typeface="Calibri" panose="020F0502020204030204" pitchFamily="34" charset="0"/>
              </a:rPr>
              <a:t>Synthesize new minority classes</a:t>
            </a:r>
            <a:endParaRPr lang="en-US" sz="1920" b="1" i="0" u="none" strike="noStrike" dirty="0">
              <a:solidFill>
                <a:srgbClr val="008080"/>
              </a:solidFill>
              <a:effectLst/>
              <a:latin typeface="Noto Sans Symbols"/>
            </a:endParaRPr>
          </a:p>
        </p:txBody>
      </p:sp>
      <p:pic>
        <p:nvPicPr>
          <p:cNvPr id="7170" name="Picture 2" descr="Related image">
            <a:extLst>
              <a:ext uri="{FF2B5EF4-FFF2-40B4-BE49-F238E27FC236}">
                <a16:creationId xmlns:a16="http://schemas.microsoft.com/office/drawing/2014/main" xmlns="" id="{1D07D475-CA0A-6DDF-903D-E06079AB04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116"/>
          <a:stretch/>
        </p:blipFill>
        <p:spPr bwMode="auto">
          <a:xfrm>
            <a:off x="6605584" y="2912654"/>
            <a:ext cx="5072260" cy="2878464"/>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Related image">
            <a:extLst>
              <a:ext uri="{FF2B5EF4-FFF2-40B4-BE49-F238E27FC236}">
                <a16:creationId xmlns:a16="http://schemas.microsoft.com/office/drawing/2014/main" xmlns="" id="{02B87926-24DB-C4E1-4BD3-33E1DE84C3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174"/>
          <a:stretch/>
        </p:blipFill>
        <p:spPr bwMode="auto">
          <a:xfrm>
            <a:off x="1600600" y="3429000"/>
            <a:ext cx="5117663" cy="236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424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204204"/>
            <a:ext cx="8991600" cy="492443"/>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Overlock"/>
              </a:rPr>
              <a:t>Classification of Class-Imbalanced Data Sets</a:t>
            </a:r>
            <a:endParaRPr kumimoji="0" lang="en-US" altLang="en-US" sz="3200" b="1" i="0" u="none" strike="noStrike" cap="none" normalizeH="0" baseline="0" dirty="0">
              <a:ln>
                <a:noFill/>
              </a:ln>
              <a:solidFill>
                <a:schemeClr val="bg1"/>
              </a:solidFill>
              <a:effectLst/>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24</a:t>
            </a:fld>
            <a:endParaRPr spc="-67" dirty="0"/>
          </a:p>
        </p:txBody>
      </p:sp>
      <p:sp>
        <p:nvSpPr>
          <p:cNvPr id="13" name="TextBox 12">
            <a:extLst>
              <a:ext uri="{FF2B5EF4-FFF2-40B4-BE49-F238E27FC236}">
                <a16:creationId xmlns:a16="http://schemas.microsoft.com/office/drawing/2014/main" xmlns="" id="{CE3A9F8B-22DA-AB10-45C7-481ADA8CD6FC}"/>
              </a:ext>
            </a:extLst>
          </p:cNvPr>
          <p:cNvSpPr txBox="1"/>
          <p:nvPr/>
        </p:nvSpPr>
        <p:spPr>
          <a:xfrm>
            <a:off x="3047238" y="3244334"/>
            <a:ext cx="6094476" cy="369332"/>
          </a:xfrm>
          <a:prstGeom prst="rect">
            <a:avLst/>
          </a:prstGeom>
          <a:noFill/>
        </p:spPr>
        <p:txBody>
          <a:bodyPr wrap="square">
            <a:spAutoFit/>
          </a:bodyPr>
          <a:lstStyle/>
          <a:p>
            <a:r>
              <a:rPr lang="en-US" dirty="0"/>
              <a:t> </a:t>
            </a:r>
          </a:p>
        </p:txBody>
      </p:sp>
      <p:sp>
        <p:nvSpPr>
          <p:cNvPr id="15" name="TextBox 14">
            <a:extLst>
              <a:ext uri="{FF2B5EF4-FFF2-40B4-BE49-F238E27FC236}">
                <a16:creationId xmlns:a16="http://schemas.microsoft.com/office/drawing/2014/main" xmlns="" id="{D7AB8E8C-1E9D-76FD-9201-9B4B9A723151}"/>
              </a:ext>
            </a:extLst>
          </p:cNvPr>
          <p:cNvSpPr txBox="1"/>
          <p:nvPr/>
        </p:nvSpPr>
        <p:spPr>
          <a:xfrm>
            <a:off x="3929463" y="3120643"/>
            <a:ext cx="2500196" cy="369332"/>
          </a:xfrm>
          <a:prstGeom prst="rect">
            <a:avLst/>
          </a:prstGeom>
          <a:noFill/>
        </p:spPr>
        <p:txBody>
          <a:bodyPr wrap="square">
            <a:spAutoFit/>
          </a:bodyPr>
          <a:lstStyle/>
          <a:p>
            <a:r>
              <a:rPr lang="en-US" b="0" dirty="0">
                <a:effectLst/>
              </a:rPr>
              <a:t> </a:t>
            </a:r>
            <a:endParaRPr lang="en-US" dirty="0"/>
          </a:p>
        </p:txBody>
      </p:sp>
      <p:sp>
        <p:nvSpPr>
          <p:cNvPr id="3" name="Rectangle 1">
            <a:extLst>
              <a:ext uri="{FF2B5EF4-FFF2-40B4-BE49-F238E27FC236}">
                <a16:creationId xmlns:a16="http://schemas.microsoft.com/office/drawing/2014/main" xmlns="" id="{E010749D-4977-1C56-EE2D-3F70CDAAE62D}"/>
              </a:ext>
            </a:extLst>
          </p:cNvPr>
          <p:cNvSpPr>
            <a:spLocks noChangeArrowheads="1"/>
          </p:cNvSpPr>
          <p:nvPr/>
        </p:nvSpPr>
        <p:spPr bwMode="auto">
          <a:xfrm>
            <a:off x="1750139" y="430201"/>
            <a:ext cx="8668016" cy="406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Typical methods on imbalanced data (At the algorithm level)</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800100" marR="0" lvl="1"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Class weight adjusting</a:t>
            </a:r>
            <a:r>
              <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Since false negative costs more than false positive, we can give larger weight to false negative </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800100" marR="0" lvl="1"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Ensemble techniques</a:t>
            </a:r>
            <a:r>
              <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Ensemble multiple classifiers introduced in the following chapter</a:t>
            </a:r>
          </a:p>
          <a:p>
            <a:pPr marL="800100" marR="0" lvl="1"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lang="en-US" alt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Threshold moving: </a:t>
            </a:r>
            <a:r>
              <a:rPr lang="en-US" sz="1800" b="0" i="0" u="none" strike="noStrike" dirty="0">
                <a:solidFill>
                  <a:srgbClr val="000000"/>
                </a:solidFill>
                <a:effectLst/>
                <a:latin typeface="Calibri" panose="020F0502020204030204" pitchFamily="34" charset="0"/>
              </a:rPr>
              <a:t>Move the decision threshold, t, so that the rare class tuples are easier to classify, and hence, less chance of costly false negative errors</a:t>
            </a:r>
            <a:endPar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917733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8346" y="132080"/>
            <a:ext cx="690879" cy="626533"/>
          </a:xfrm>
          <a:prstGeom prst="rect">
            <a:avLst/>
          </a:prstGeom>
        </p:spPr>
      </p:pic>
      <p:sp>
        <p:nvSpPr>
          <p:cNvPr id="4" name="object 4"/>
          <p:cNvSpPr txBox="1">
            <a:spLocks noGrp="1"/>
          </p:cNvSpPr>
          <p:nvPr>
            <p:ph type="title"/>
          </p:nvPr>
        </p:nvSpPr>
        <p:spPr>
          <a:xfrm>
            <a:off x="1588347" y="204204"/>
            <a:ext cx="8991600" cy="492443"/>
          </a:xfrm>
          <a:prstGeom prst="rect">
            <a:avLst/>
          </a:prstGeom>
          <a:solidFill>
            <a:srgbClr val="F0992C"/>
          </a:solidFill>
          <a:effectLst>
            <a:outerShdw blurRad="50800" dist="38100" dir="8100000" algn="tr" rotWithShape="0">
              <a:prstClr val="black">
                <a:alpha val="40000"/>
              </a:prstClr>
            </a:outerShdw>
          </a:effectLst>
        </p:spPr>
        <p:txBody>
          <a:bodyPr vert="horz" wrap="square" lIns="0" tIns="0" rIns="0" bIns="0"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Overlock"/>
              </a:rPr>
              <a:t>Classification of Class-Imbalanced Data Sets</a:t>
            </a:r>
            <a:endParaRPr kumimoji="0" lang="en-US" altLang="en-US" sz="3200" b="1" i="0" u="none" strike="noStrike" cap="none" normalizeH="0" baseline="0" dirty="0">
              <a:ln>
                <a:noFill/>
              </a:ln>
              <a:solidFill>
                <a:schemeClr val="bg1"/>
              </a:solidFill>
              <a:effectLst/>
            </a:endParaRPr>
          </a:p>
        </p:txBody>
      </p:sp>
      <p:sp>
        <p:nvSpPr>
          <p:cNvPr id="6" name="object 6"/>
          <p:cNvSpPr txBox="1">
            <a:spLocks noGrp="1"/>
          </p:cNvSpPr>
          <p:nvPr>
            <p:ph type="sldNum" sz="quarter" idx="7"/>
          </p:nvPr>
        </p:nvSpPr>
        <p:spPr>
          <a:xfrm>
            <a:off x="53339" y="4910035"/>
            <a:ext cx="246379" cy="181610"/>
          </a:xfrm>
          <a:prstGeom prst="rect">
            <a:avLst/>
          </a:prstGeom>
        </p:spPr>
        <p:txBody>
          <a:bodyPr vert="horz" wrap="square" lIns="0" tIns="0" rIns="0" bIns="0" rtlCol="0">
            <a:spAutoFit/>
          </a:bodyPr>
          <a:lstStyle>
            <a:defPPr>
              <a:defRPr kern="0"/>
            </a:defPPr>
            <a:lvl1pPr>
              <a:defRPr sz="1100" b="0" i="0">
                <a:solidFill>
                  <a:schemeClr val="tx1"/>
                </a:solidFill>
                <a:latin typeface="Arial MT"/>
                <a:cs typeface="Arial MT"/>
              </a:defRPr>
            </a:lvl1pPr>
          </a:lstStyle>
          <a:p>
            <a:pPr marL="38100">
              <a:lnSpc>
                <a:spcPts val="1315"/>
              </a:lnSpc>
            </a:pPr>
            <a:fld id="{81D60167-4931-47E6-BA6A-407CBD079E47}" type="slidenum">
              <a:rPr lang="en-US" spc="-50" smtClean="0"/>
              <a:pPr marL="38100">
                <a:lnSpc>
                  <a:spcPts val="1315"/>
                </a:lnSpc>
              </a:pPr>
              <a:t>25</a:t>
            </a:fld>
            <a:endParaRPr spc="-67" dirty="0"/>
          </a:p>
        </p:txBody>
      </p:sp>
      <p:sp>
        <p:nvSpPr>
          <p:cNvPr id="13" name="TextBox 12">
            <a:extLst>
              <a:ext uri="{FF2B5EF4-FFF2-40B4-BE49-F238E27FC236}">
                <a16:creationId xmlns:a16="http://schemas.microsoft.com/office/drawing/2014/main" xmlns="" id="{CE3A9F8B-22DA-AB10-45C7-481ADA8CD6FC}"/>
              </a:ext>
            </a:extLst>
          </p:cNvPr>
          <p:cNvSpPr txBox="1"/>
          <p:nvPr/>
        </p:nvSpPr>
        <p:spPr>
          <a:xfrm>
            <a:off x="3047238" y="3244334"/>
            <a:ext cx="6094476" cy="369332"/>
          </a:xfrm>
          <a:prstGeom prst="rect">
            <a:avLst/>
          </a:prstGeom>
          <a:noFill/>
        </p:spPr>
        <p:txBody>
          <a:bodyPr wrap="square">
            <a:spAutoFit/>
          </a:bodyPr>
          <a:lstStyle/>
          <a:p>
            <a:r>
              <a:rPr lang="en-US" dirty="0"/>
              <a:t> </a:t>
            </a:r>
          </a:p>
        </p:txBody>
      </p:sp>
      <p:sp>
        <p:nvSpPr>
          <p:cNvPr id="15" name="TextBox 14">
            <a:extLst>
              <a:ext uri="{FF2B5EF4-FFF2-40B4-BE49-F238E27FC236}">
                <a16:creationId xmlns:a16="http://schemas.microsoft.com/office/drawing/2014/main" xmlns="" id="{D7AB8E8C-1E9D-76FD-9201-9B4B9A723151}"/>
              </a:ext>
            </a:extLst>
          </p:cNvPr>
          <p:cNvSpPr txBox="1"/>
          <p:nvPr/>
        </p:nvSpPr>
        <p:spPr>
          <a:xfrm>
            <a:off x="3929463" y="3120643"/>
            <a:ext cx="2500196" cy="369332"/>
          </a:xfrm>
          <a:prstGeom prst="rect">
            <a:avLst/>
          </a:prstGeom>
          <a:noFill/>
        </p:spPr>
        <p:txBody>
          <a:bodyPr wrap="square">
            <a:spAutoFit/>
          </a:bodyPr>
          <a:lstStyle/>
          <a:p>
            <a:r>
              <a:rPr lang="en-US" b="0" dirty="0">
                <a:effectLst/>
              </a:rPr>
              <a:t> </a:t>
            </a:r>
            <a:endParaRPr lang="en-US" dirty="0"/>
          </a:p>
        </p:txBody>
      </p:sp>
      <p:sp>
        <p:nvSpPr>
          <p:cNvPr id="3" name="Rectangle 1">
            <a:extLst>
              <a:ext uri="{FF2B5EF4-FFF2-40B4-BE49-F238E27FC236}">
                <a16:creationId xmlns:a16="http://schemas.microsoft.com/office/drawing/2014/main" xmlns="" id="{E010749D-4977-1C56-EE2D-3F70CDAAE62D}"/>
              </a:ext>
            </a:extLst>
          </p:cNvPr>
          <p:cNvSpPr>
            <a:spLocks noChangeArrowheads="1"/>
          </p:cNvSpPr>
          <p:nvPr/>
        </p:nvSpPr>
        <p:spPr bwMode="auto">
          <a:xfrm>
            <a:off x="1588347" y="927479"/>
            <a:ext cx="8668016" cy="2722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Can we use Accuracy to evaluate imbalanced data classifier?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Accuracy simply counts the number of errors. If a data set has 2% positive labels and 98% negative labels, a classifier that map all inputs to negative class will get an accuracy of 98%!</a:t>
            </a:r>
          </a:p>
          <a:p>
            <a:pPr marR="0" lvl="0" algn="l"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6612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861056F44CB24E9AFE29B868B75F6D" ma:contentTypeVersion="6" ma:contentTypeDescription="Create a new document." ma:contentTypeScope="" ma:versionID="1d9898b3eb27d2a7625f03f6a12e5b56">
  <xsd:schema xmlns:xsd="http://www.w3.org/2001/XMLSchema" xmlns:xs="http://www.w3.org/2001/XMLSchema" xmlns:p="http://schemas.microsoft.com/office/2006/metadata/properties" xmlns:ns3="3423a9bc-f6b4-4119-8639-49f06be6048f" targetNamespace="http://schemas.microsoft.com/office/2006/metadata/properties" ma:root="true" ma:fieldsID="437daef725167e1549e0aef01c78cd8b" ns3:_="">
    <xsd:import namespace="3423a9bc-f6b4-4119-8639-49f06be6048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23a9bc-f6b4-4119-8639-49f06be6048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423a9bc-f6b4-4119-8639-49f06be6048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C0044B-333E-43C9-97AD-A09B8CFA6B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23a9bc-f6b4-4119-8639-49f06be604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5D7A4D-4CEB-4AF2-9AC5-B2B3D20E0AF2}">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423a9bc-f6b4-4119-8639-49f06be6048f"/>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00DD7899-C445-43A0-A75E-35F3FA41CB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2563</TotalTime>
  <Words>1756</Words>
  <Application>Microsoft Office PowerPoint</Application>
  <PresentationFormat>Widescreen</PresentationFormat>
  <Paragraphs>258</Paragraphs>
  <Slides>25</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Aptos</vt:lpstr>
      <vt:lpstr>Aptos Display</vt:lpstr>
      <vt:lpstr>Arial</vt:lpstr>
      <vt:lpstr>Arial MT</vt:lpstr>
      <vt:lpstr>Calibri</vt:lpstr>
      <vt:lpstr>Cambria Math</vt:lpstr>
      <vt:lpstr>Constantia</vt:lpstr>
      <vt:lpstr>Inter</vt:lpstr>
      <vt:lpstr>Noto Sans Symbols</vt:lpstr>
      <vt:lpstr>Overlock</vt:lpstr>
      <vt:lpstr>Wingdings</vt:lpstr>
      <vt:lpstr>Office Theme</vt:lpstr>
      <vt:lpstr>PowerPoint Presentation</vt:lpstr>
      <vt:lpstr>Ensemble Methods</vt:lpstr>
      <vt:lpstr>Boosting</vt:lpstr>
      <vt:lpstr>Bagging vs Boosting</vt:lpstr>
      <vt:lpstr>Random Forest vs AdaBoost</vt:lpstr>
      <vt:lpstr>AdaBoost</vt:lpstr>
      <vt:lpstr>AdaBoost</vt:lpstr>
      <vt:lpstr>AdaBoost</vt:lpstr>
      <vt:lpstr>AdaBoost</vt:lpstr>
      <vt:lpstr>AdaBoost – Step by Step</vt:lpstr>
      <vt:lpstr>AdaBoost – Step by Step</vt:lpstr>
      <vt:lpstr>AdaBoost – Step by Step</vt:lpstr>
      <vt:lpstr>AdaBoost – Step by Step</vt:lpstr>
      <vt:lpstr>AdaBoost – Step by Step</vt:lpstr>
      <vt:lpstr>AdaBoost – Step by Step</vt:lpstr>
      <vt:lpstr>AdaBoost – Step by Step</vt:lpstr>
      <vt:lpstr>AdaBoost – Step by Step</vt:lpstr>
      <vt:lpstr>AdaBoost – Step by Step</vt:lpstr>
      <vt:lpstr>AdaBoost – Step by Step</vt:lpstr>
      <vt:lpstr>AdaBoost – Step by Step</vt:lpstr>
      <vt:lpstr>Code</vt:lpstr>
      <vt:lpstr>Classification of Class-Imbalanced Data Sets</vt:lpstr>
      <vt:lpstr>Classification of Class-Imbalanced Data Sets</vt:lpstr>
      <vt:lpstr>Classification of Class-Imbalanced Data Sets</vt:lpstr>
      <vt:lpstr>Classification of Class-Imbalanced Data Sets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social</dc:creator>
  <cp:lastModifiedBy>Microsoft account</cp:lastModifiedBy>
  <cp:revision>10</cp:revision>
  <dcterms:created xsi:type="dcterms:W3CDTF">2024-09-02T09:58:42Z</dcterms:created>
  <dcterms:modified xsi:type="dcterms:W3CDTF">2024-10-23T01:31:37Z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0x01010002861056F44CB24E9AFE29B868B75F6D</vt:lpwstr>
  </property>
</Properties>
</file>