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347" r:id="rId2"/>
    <p:sldId id="348" r:id="rId3"/>
    <p:sldId id="357" r:id="rId4"/>
    <p:sldId id="349" r:id="rId5"/>
    <p:sldId id="350" r:id="rId6"/>
    <p:sldId id="351" r:id="rId7"/>
    <p:sldId id="352" r:id="rId8"/>
    <p:sldId id="353" r:id="rId9"/>
    <p:sldId id="354" r:id="rId10"/>
    <p:sldId id="356" r:id="rId11"/>
  </p:sldIdLst>
  <p:sldSz cx="12192000" cy="6858000"/>
  <p:notesSz cx="6858000" cy="9144000"/>
  <p:embeddedFontLst>
    <p:embeddedFont>
      <p:font typeface="Tahoma" panose="020B0604030504040204" pitchFamily="34" charset="0"/>
      <p:regular r:id="rId13"/>
      <p:bold r:id="rId14"/>
    </p:embeddedFont>
    <p:embeddedFont>
      <p:font typeface="Old Standard TT" panose="020B0604020202020204" charset="0"/>
      <p:regular r:id="rId15"/>
      <p:bold r:id="rId16"/>
      <p:italic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4" roundtripDataSignature="AMtx7mi3B1wxWONmfi7Go+sLKglAZgTO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127D96-EA6E-4482-B079-F413B2ECAF71}">
  <a:tblStyle styleId="{CA127D96-EA6E-4482-B079-F413B2ECAF7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874" autoAdjust="0"/>
  </p:normalViewPr>
  <p:slideViewPr>
    <p:cSldViewPr snapToGrid="0">
      <p:cViewPr varScale="1">
        <p:scale>
          <a:sx n="63" d="100"/>
          <a:sy n="63" d="100"/>
        </p:scale>
        <p:origin x="77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117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11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1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14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1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65089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6" name="Google Shape;1876;p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7" name="Google Shape;1877;p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0587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3" name="Google Shape;1883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4" name="Google Shape;1884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6789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3" name="Google Shape;1883;p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4" name="Google Shape;1884;p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689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9" name="Google Shape;1929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0" name="Google Shape;1930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459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5" name="Google Shape;1975;p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6" name="Google Shape;1976;p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7773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7" name="Google Shape;2027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8" name="Google Shape;202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101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2" name="Google Shape;2082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3" name="Google Shape;2083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3186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Google Shape;2133;p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4" name="Google Shape;2134;p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5" name="Google Shape;2135;p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44630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6" name="Google Shape;2186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7" name="Google Shape;2187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85688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0" name="Google Shape;2250;p1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1" name="Google Shape;2251;p1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2" name="Google Shape;2252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3865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0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0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6"/>
          <p:cNvSpPr txBox="1">
            <a:spLocks noGrp="1"/>
          </p:cNvSpPr>
          <p:nvPr>
            <p:ph type="title"/>
          </p:nvPr>
        </p:nvSpPr>
        <p:spPr>
          <a:xfrm>
            <a:off x="406400" y="381000"/>
            <a:ext cx="11203517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6"/>
          <p:cNvSpPr txBox="1">
            <a:spLocks noGrp="1"/>
          </p:cNvSpPr>
          <p:nvPr>
            <p:ph type="body" idx="1"/>
          </p:nvPr>
        </p:nvSpPr>
        <p:spPr>
          <a:xfrm>
            <a:off x="406400" y="1371600"/>
            <a:ext cx="553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16"/>
          <p:cNvSpPr txBox="1">
            <a:spLocks noGrp="1"/>
          </p:cNvSpPr>
          <p:nvPr>
            <p:ph type="body" idx="2"/>
          </p:nvPr>
        </p:nvSpPr>
        <p:spPr>
          <a:xfrm>
            <a:off x="6146800" y="1371600"/>
            <a:ext cx="5537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16"/>
          <p:cNvSpPr txBox="1">
            <a:spLocks noGrp="1"/>
          </p:cNvSpPr>
          <p:nvPr>
            <p:ph type="sldNum" idx="12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9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Measuring Clustering Quality</a:t>
            </a:r>
            <a:endParaRPr/>
          </a:p>
        </p:txBody>
      </p:sp>
      <p:sp>
        <p:nvSpPr>
          <p:cNvPr id="1880" name="Google Shape;1880;p9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Clustering Evaluation: Evaluating how good the clustering results are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 commonly recognized best suitable measure in practice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Extrinsic vs. intrinsic methods: depending on whether ground truth is used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Ground truth: the ideal clustering built by using human experts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Extrinsic: Supervised, employ criteria not inherent to the dataset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Compare a clustering against prior or expert-specified knowledge (i.e., the ground truth) using certain clustering quality measure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Intrinsic: Unsupervised, criteria derived from data itself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Evaluate the goodness of a clustering by considering how well the clusters are separated and how compact the clusters are (e.g., silhouette coefficient)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General Criteria for Measuring Clustering Quality with Extrinsic Methods </a:t>
            </a:r>
            <a:endParaRPr/>
          </a:p>
        </p:txBody>
      </p:sp>
      <p:sp>
        <p:nvSpPr>
          <p:cNvPr id="1887" name="Google Shape;1887;p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04347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Given the ground truth Cg, Q(C, Cg) is the quality measure for a clustering C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Q(C, Cg) is good if it satisfies the following four essential criteria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Cluster homogeneity: the purer, the better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Cluster completeness: assign objects belonging to the same category in the ground truth to the same cluster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Rag bag better than alien: when an object doesn't clearly fit into a well-defined cluster (heterogeneous object), it's better to place it in a more general or miscellaneous category (the "rag bag") than to force it into a specific pure cluster, where it may not belong.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Small cluster preservation: splitting a small category into pieces is more harmful than splitting a large category into pieces</a:t>
            </a:r>
          </a:p>
        </p:txBody>
      </p:sp>
      <p:grpSp>
        <p:nvGrpSpPr>
          <p:cNvPr id="1888" name="Google Shape;1888;p93"/>
          <p:cNvGrpSpPr/>
          <p:nvPr/>
        </p:nvGrpSpPr>
        <p:grpSpPr>
          <a:xfrm>
            <a:off x="9648326" y="2179406"/>
            <a:ext cx="2381442" cy="1814514"/>
            <a:chOff x="8243890" y="1295400"/>
            <a:chExt cx="2381442" cy="1814514"/>
          </a:xfrm>
        </p:grpSpPr>
        <p:grpSp>
          <p:nvGrpSpPr>
            <p:cNvPr id="1889" name="Google Shape;1889;p93"/>
            <p:cNvGrpSpPr/>
            <p:nvPr/>
          </p:nvGrpSpPr>
          <p:grpSpPr>
            <a:xfrm>
              <a:off x="8305801" y="1295400"/>
              <a:ext cx="2043113" cy="1181100"/>
              <a:chOff x="6781800" y="1295400"/>
              <a:chExt cx="2042907" cy="1181100"/>
            </a:xfrm>
          </p:grpSpPr>
          <p:sp>
            <p:nvSpPr>
              <p:cNvPr id="1890" name="Google Shape;1890;p93"/>
              <p:cNvSpPr/>
              <p:nvPr/>
            </p:nvSpPr>
            <p:spPr>
              <a:xfrm>
                <a:off x="7162800" y="17049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1" name="Google Shape;1891;p93"/>
              <p:cNvSpPr/>
              <p:nvPr/>
            </p:nvSpPr>
            <p:spPr>
              <a:xfrm>
                <a:off x="7391400" y="16287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2" name="Google Shape;1892;p93"/>
              <p:cNvSpPr/>
              <p:nvPr/>
            </p:nvSpPr>
            <p:spPr>
              <a:xfrm>
                <a:off x="7467600" y="20955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3" name="Google Shape;1893;p93"/>
              <p:cNvSpPr/>
              <p:nvPr/>
            </p:nvSpPr>
            <p:spPr>
              <a:xfrm>
                <a:off x="7696200" y="1933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4" name="Google Shape;1894;p93"/>
              <p:cNvSpPr/>
              <p:nvPr/>
            </p:nvSpPr>
            <p:spPr>
              <a:xfrm>
                <a:off x="7010400" y="2019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5" name="Google Shape;1895;p93"/>
              <p:cNvSpPr/>
              <p:nvPr/>
            </p:nvSpPr>
            <p:spPr>
              <a:xfrm>
                <a:off x="7010400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6" name="Google Shape;1896;p93"/>
              <p:cNvSpPr/>
              <p:nvPr/>
            </p:nvSpPr>
            <p:spPr>
              <a:xfrm>
                <a:off x="72771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7" name="Google Shape;1897;p93"/>
              <p:cNvSpPr/>
              <p:nvPr/>
            </p:nvSpPr>
            <p:spPr>
              <a:xfrm>
                <a:off x="7620000" y="17145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8" name="Google Shape;1898;p93"/>
              <p:cNvSpPr/>
              <p:nvPr/>
            </p:nvSpPr>
            <p:spPr>
              <a:xfrm>
                <a:off x="7239000" y="2019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9" name="Google Shape;1899;p93"/>
              <p:cNvSpPr/>
              <p:nvPr/>
            </p:nvSpPr>
            <p:spPr>
              <a:xfrm>
                <a:off x="74676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0" name="Google Shape;1900;p93"/>
              <p:cNvSpPr/>
              <p:nvPr/>
            </p:nvSpPr>
            <p:spPr>
              <a:xfrm>
                <a:off x="7315200" y="23241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1" name="Google Shape;1901;p93"/>
              <p:cNvSpPr/>
              <p:nvPr/>
            </p:nvSpPr>
            <p:spPr>
              <a:xfrm>
                <a:off x="7315200" y="1485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2" name="Google Shape;1902;p93"/>
              <p:cNvSpPr/>
              <p:nvPr/>
            </p:nvSpPr>
            <p:spPr>
              <a:xfrm>
                <a:off x="7048500" y="2247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3" name="Google Shape;1903;p93"/>
              <p:cNvSpPr/>
              <p:nvPr/>
            </p:nvSpPr>
            <p:spPr>
              <a:xfrm>
                <a:off x="69342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4" name="Google Shape;1904;p93"/>
              <p:cNvSpPr/>
              <p:nvPr/>
            </p:nvSpPr>
            <p:spPr>
              <a:xfrm>
                <a:off x="80962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5" name="Google Shape;1905;p93"/>
              <p:cNvSpPr/>
              <p:nvPr/>
            </p:nvSpPr>
            <p:spPr>
              <a:xfrm>
                <a:off x="82486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6" name="Google Shape;1906;p93"/>
              <p:cNvSpPr/>
              <p:nvPr/>
            </p:nvSpPr>
            <p:spPr>
              <a:xfrm>
                <a:off x="84010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7" name="Google Shape;1907;p93"/>
              <p:cNvSpPr/>
              <p:nvPr/>
            </p:nvSpPr>
            <p:spPr>
              <a:xfrm>
                <a:off x="8248650" y="1857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8" name="Google Shape;1908;p93"/>
              <p:cNvSpPr/>
              <p:nvPr/>
            </p:nvSpPr>
            <p:spPr>
              <a:xfrm>
                <a:off x="84010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9" name="Google Shape;1909;p93"/>
              <p:cNvSpPr/>
              <p:nvPr/>
            </p:nvSpPr>
            <p:spPr>
              <a:xfrm>
                <a:off x="79438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0" name="Google Shape;1910;p93"/>
              <p:cNvSpPr/>
              <p:nvPr/>
            </p:nvSpPr>
            <p:spPr>
              <a:xfrm>
                <a:off x="80962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1" name="Google Shape;1911;p93"/>
              <p:cNvSpPr/>
              <p:nvPr/>
            </p:nvSpPr>
            <p:spPr>
              <a:xfrm>
                <a:off x="7905750" y="15906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2" name="Google Shape;1912;p93"/>
              <p:cNvSpPr/>
              <p:nvPr/>
            </p:nvSpPr>
            <p:spPr>
              <a:xfrm>
                <a:off x="82486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1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3" name="Google Shape;1913;p93"/>
              <p:cNvSpPr/>
              <p:nvPr/>
            </p:nvSpPr>
            <p:spPr>
              <a:xfrm>
                <a:off x="79438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4" name="Google Shape;1914;p93"/>
              <p:cNvSpPr/>
              <p:nvPr/>
            </p:nvSpPr>
            <p:spPr>
              <a:xfrm>
                <a:off x="80962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5" name="Google Shape;1915;p93"/>
              <p:cNvSpPr/>
              <p:nvPr/>
            </p:nvSpPr>
            <p:spPr>
              <a:xfrm>
                <a:off x="84010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6" name="Google Shape;1916;p93"/>
              <p:cNvSpPr/>
              <p:nvPr/>
            </p:nvSpPr>
            <p:spPr>
              <a:xfrm>
                <a:off x="85534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7" name="Google Shape;1917;p93"/>
              <p:cNvSpPr/>
              <p:nvPr/>
            </p:nvSpPr>
            <p:spPr>
              <a:xfrm>
                <a:off x="86296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8" name="Google Shape;1918;p93"/>
              <p:cNvSpPr/>
              <p:nvPr/>
            </p:nvSpPr>
            <p:spPr>
              <a:xfrm>
                <a:off x="84772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9" name="Google Shape;1919;p93"/>
              <p:cNvSpPr/>
              <p:nvPr/>
            </p:nvSpPr>
            <p:spPr>
              <a:xfrm>
                <a:off x="8020050" y="2085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20" name="Google Shape;1920;p93"/>
              <p:cNvSpPr/>
              <p:nvPr/>
            </p:nvSpPr>
            <p:spPr>
              <a:xfrm>
                <a:off x="6781800" y="1295400"/>
                <a:ext cx="2042907" cy="11811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21" name="Google Shape;1921;p93"/>
              <p:cNvSpPr/>
              <p:nvPr/>
            </p:nvSpPr>
            <p:spPr>
              <a:xfrm>
                <a:off x="7600950" y="1385888"/>
                <a:ext cx="1143000" cy="809624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22" name="Google Shape;1922;p93"/>
              <p:cNvSpPr/>
              <p:nvPr/>
            </p:nvSpPr>
            <p:spPr>
              <a:xfrm>
                <a:off x="6858000" y="1438274"/>
                <a:ext cx="781050" cy="1000126"/>
              </a:xfrm>
              <a:prstGeom prst="ellipse">
                <a:avLst/>
              </a:prstGeom>
              <a:noFill/>
              <a:ln w="28575" cap="flat" cmpd="sng">
                <a:solidFill>
                  <a:srgbClr val="FFC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23" name="Google Shape;1923;p93"/>
            <p:cNvSpPr txBox="1"/>
            <p:nvPr/>
          </p:nvSpPr>
          <p:spPr>
            <a:xfrm>
              <a:off x="8243890" y="2514601"/>
              <a:ext cx="1986155" cy="276225"/>
            </a:xfrm>
            <a:prstGeom prst="rect">
              <a:avLst/>
            </a:prstGeom>
            <a:solidFill>
              <a:srgbClr val="E4831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Ground truth partitioning </a:t>
              </a:r>
              <a:r>
                <a:rPr lang="en-US" sz="12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r>
                <a:rPr lang="en-US" sz="1200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924" name="Google Shape;1924;p93"/>
            <p:cNvSpPr txBox="1"/>
            <p:nvPr/>
          </p:nvSpPr>
          <p:spPr>
            <a:xfrm>
              <a:off x="10230045" y="2521393"/>
              <a:ext cx="395287" cy="2762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r>
                <a:rPr lang="en-US" sz="1200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925" name="Google Shape;1925;p93"/>
            <p:cNvSpPr txBox="1"/>
            <p:nvPr/>
          </p:nvSpPr>
          <p:spPr>
            <a:xfrm>
              <a:off x="8591550" y="2833689"/>
              <a:ext cx="857250" cy="276225"/>
            </a:xfrm>
            <a:prstGeom prst="rect">
              <a:avLst/>
            </a:prstGeom>
            <a:noFill/>
            <a:ln w="2857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Cluster </a:t>
              </a:r>
              <a:r>
                <a:rPr lang="en-US" sz="12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200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926" name="Google Shape;1926;p93"/>
            <p:cNvSpPr txBox="1"/>
            <p:nvPr/>
          </p:nvSpPr>
          <p:spPr>
            <a:xfrm>
              <a:off x="9505950" y="2819401"/>
              <a:ext cx="857250" cy="276225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Cluster </a:t>
              </a:r>
              <a:r>
                <a:rPr lang="en-US" sz="12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200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General Criteria for Measuring Clustering Quality with Extrinsic Methods </a:t>
            </a:r>
            <a:endParaRPr/>
          </a:p>
        </p:txBody>
      </p:sp>
      <p:sp>
        <p:nvSpPr>
          <p:cNvPr id="1887" name="Google Shape;1887;p9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04347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Given the ground truth Cg, Q(C, Cg) is the quality measure for a clustering C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Q(C, Cg) is good if it satisfies the following four essential criteria</a:t>
            </a:r>
            <a:endParaRPr dirty="0"/>
          </a:p>
          <a:p>
            <a:pPr marL="685800" lvl="1" indent="-228600">
              <a:buSzPts val="2400"/>
            </a:pPr>
            <a:r>
              <a:rPr lang="en-US" dirty="0"/>
              <a:t>Cluster homogeneity: </a:t>
            </a:r>
            <a:r>
              <a:rPr lang="en-US" dirty="0"/>
              <a:t>The purer, the better. Objects in the same cluster should be similar</a:t>
            </a:r>
            <a:r>
              <a:rPr lang="en-US" dirty="0" smtClean="0"/>
              <a:t>.</a:t>
            </a:r>
          </a:p>
          <a:p>
            <a:pPr marL="685800" lvl="1" indent="-228600">
              <a:buSzPts val="2400"/>
            </a:pPr>
            <a:r>
              <a:rPr lang="en-US" dirty="0" smtClean="0"/>
              <a:t>Cluster </a:t>
            </a:r>
            <a:r>
              <a:rPr lang="en-US" dirty="0"/>
              <a:t>completeness: </a:t>
            </a:r>
            <a:r>
              <a:rPr lang="en-US" dirty="0"/>
              <a:t>Same category, same cluster. Objects of the same type in the ground truth should end up in the same cluster</a:t>
            </a:r>
            <a:r>
              <a:rPr lang="en-US" dirty="0" smtClean="0"/>
              <a:t>.</a:t>
            </a:r>
          </a:p>
          <a:p>
            <a:pPr marL="685800" lvl="1" indent="-228600">
              <a:buSzPts val="2400"/>
            </a:pPr>
            <a:r>
              <a:rPr lang="en-US" dirty="0" smtClean="0"/>
              <a:t>Rag </a:t>
            </a:r>
            <a:r>
              <a:rPr lang="en-US" dirty="0"/>
              <a:t>bag better than alien: </a:t>
            </a:r>
            <a:r>
              <a:rPr lang="en-US" dirty="0"/>
              <a:t>If an object doesn’t fit well anywhere, it’s better to put it in a </a:t>
            </a:r>
            <a:r>
              <a:rPr lang="en-US" dirty="0" smtClean="0"/>
              <a:t>“miscellaneous</a:t>
            </a:r>
            <a:r>
              <a:rPr lang="en-US" dirty="0"/>
              <a:t>” group than in the wrong cluster</a:t>
            </a:r>
            <a:r>
              <a:rPr lang="en-US" dirty="0" smtClean="0"/>
              <a:t>.</a:t>
            </a:r>
          </a:p>
          <a:p>
            <a:pPr marL="685800" lvl="1" indent="-228600">
              <a:buSzPts val="2400"/>
            </a:pPr>
            <a:r>
              <a:rPr lang="en-US" dirty="0" smtClean="0"/>
              <a:t>Small </a:t>
            </a:r>
            <a:r>
              <a:rPr lang="en-US" dirty="0"/>
              <a:t>cluster preservation: </a:t>
            </a:r>
            <a:r>
              <a:rPr lang="en-US" dirty="0"/>
              <a:t>Don’t split small categories. Breaking small groups is worse than breaking large ones.</a:t>
            </a:r>
            <a:endParaRPr lang="en-US" dirty="0"/>
          </a:p>
        </p:txBody>
      </p:sp>
      <p:grpSp>
        <p:nvGrpSpPr>
          <p:cNvPr id="1888" name="Google Shape;1888;p93"/>
          <p:cNvGrpSpPr/>
          <p:nvPr/>
        </p:nvGrpSpPr>
        <p:grpSpPr>
          <a:xfrm>
            <a:off x="9648326" y="2179406"/>
            <a:ext cx="2381442" cy="1814514"/>
            <a:chOff x="8243890" y="1295400"/>
            <a:chExt cx="2381442" cy="1814514"/>
          </a:xfrm>
        </p:grpSpPr>
        <p:grpSp>
          <p:nvGrpSpPr>
            <p:cNvPr id="1889" name="Google Shape;1889;p93"/>
            <p:cNvGrpSpPr/>
            <p:nvPr/>
          </p:nvGrpSpPr>
          <p:grpSpPr>
            <a:xfrm>
              <a:off x="8305801" y="1295400"/>
              <a:ext cx="2043113" cy="1181100"/>
              <a:chOff x="6781800" y="1295400"/>
              <a:chExt cx="2042907" cy="1181100"/>
            </a:xfrm>
          </p:grpSpPr>
          <p:sp>
            <p:nvSpPr>
              <p:cNvPr id="1890" name="Google Shape;1890;p93"/>
              <p:cNvSpPr/>
              <p:nvPr/>
            </p:nvSpPr>
            <p:spPr>
              <a:xfrm>
                <a:off x="7162800" y="17049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1" name="Google Shape;1891;p93"/>
              <p:cNvSpPr/>
              <p:nvPr/>
            </p:nvSpPr>
            <p:spPr>
              <a:xfrm>
                <a:off x="7391400" y="16287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2" name="Google Shape;1892;p93"/>
              <p:cNvSpPr/>
              <p:nvPr/>
            </p:nvSpPr>
            <p:spPr>
              <a:xfrm>
                <a:off x="7467600" y="20955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3" name="Google Shape;1893;p93"/>
              <p:cNvSpPr/>
              <p:nvPr/>
            </p:nvSpPr>
            <p:spPr>
              <a:xfrm>
                <a:off x="7696200" y="1933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4" name="Google Shape;1894;p93"/>
              <p:cNvSpPr/>
              <p:nvPr/>
            </p:nvSpPr>
            <p:spPr>
              <a:xfrm>
                <a:off x="7010400" y="2019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5" name="Google Shape;1895;p93"/>
              <p:cNvSpPr/>
              <p:nvPr/>
            </p:nvSpPr>
            <p:spPr>
              <a:xfrm>
                <a:off x="7010400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6" name="Google Shape;1896;p93"/>
              <p:cNvSpPr/>
              <p:nvPr/>
            </p:nvSpPr>
            <p:spPr>
              <a:xfrm>
                <a:off x="72771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7" name="Google Shape;1897;p93"/>
              <p:cNvSpPr/>
              <p:nvPr/>
            </p:nvSpPr>
            <p:spPr>
              <a:xfrm>
                <a:off x="7620000" y="17145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8" name="Google Shape;1898;p93"/>
              <p:cNvSpPr/>
              <p:nvPr/>
            </p:nvSpPr>
            <p:spPr>
              <a:xfrm>
                <a:off x="7239000" y="2019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9" name="Google Shape;1899;p93"/>
              <p:cNvSpPr/>
              <p:nvPr/>
            </p:nvSpPr>
            <p:spPr>
              <a:xfrm>
                <a:off x="74676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0" name="Google Shape;1900;p93"/>
              <p:cNvSpPr/>
              <p:nvPr/>
            </p:nvSpPr>
            <p:spPr>
              <a:xfrm>
                <a:off x="7315200" y="23241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1" name="Google Shape;1901;p93"/>
              <p:cNvSpPr/>
              <p:nvPr/>
            </p:nvSpPr>
            <p:spPr>
              <a:xfrm>
                <a:off x="7315200" y="1485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2" name="Google Shape;1902;p93"/>
              <p:cNvSpPr/>
              <p:nvPr/>
            </p:nvSpPr>
            <p:spPr>
              <a:xfrm>
                <a:off x="7048500" y="2247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3" name="Google Shape;1903;p93"/>
              <p:cNvSpPr/>
              <p:nvPr/>
            </p:nvSpPr>
            <p:spPr>
              <a:xfrm>
                <a:off x="69342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4" name="Google Shape;1904;p93"/>
              <p:cNvSpPr/>
              <p:nvPr/>
            </p:nvSpPr>
            <p:spPr>
              <a:xfrm>
                <a:off x="80962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5" name="Google Shape;1905;p93"/>
              <p:cNvSpPr/>
              <p:nvPr/>
            </p:nvSpPr>
            <p:spPr>
              <a:xfrm>
                <a:off x="82486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6" name="Google Shape;1906;p93"/>
              <p:cNvSpPr/>
              <p:nvPr/>
            </p:nvSpPr>
            <p:spPr>
              <a:xfrm>
                <a:off x="84010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7" name="Google Shape;1907;p93"/>
              <p:cNvSpPr/>
              <p:nvPr/>
            </p:nvSpPr>
            <p:spPr>
              <a:xfrm>
                <a:off x="8248650" y="1857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8" name="Google Shape;1908;p93"/>
              <p:cNvSpPr/>
              <p:nvPr/>
            </p:nvSpPr>
            <p:spPr>
              <a:xfrm>
                <a:off x="84010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09" name="Google Shape;1909;p93"/>
              <p:cNvSpPr/>
              <p:nvPr/>
            </p:nvSpPr>
            <p:spPr>
              <a:xfrm>
                <a:off x="79438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0" name="Google Shape;1910;p93"/>
              <p:cNvSpPr/>
              <p:nvPr/>
            </p:nvSpPr>
            <p:spPr>
              <a:xfrm>
                <a:off x="80962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1" name="Google Shape;1911;p93"/>
              <p:cNvSpPr/>
              <p:nvPr/>
            </p:nvSpPr>
            <p:spPr>
              <a:xfrm>
                <a:off x="7905750" y="15906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2" name="Google Shape;1912;p93"/>
              <p:cNvSpPr/>
              <p:nvPr/>
            </p:nvSpPr>
            <p:spPr>
              <a:xfrm>
                <a:off x="82486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1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3" name="Google Shape;1913;p93"/>
              <p:cNvSpPr/>
              <p:nvPr/>
            </p:nvSpPr>
            <p:spPr>
              <a:xfrm>
                <a:off x="79438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4" name="Google Shape;1914;p93"/>
              <p:cNvSpPr/>
              <p:nvPr/>
            </p:nvSpPr>
            <p:spPr>
              <a:xfrm>
                <a:off x="80962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5" name="Google Shape;1915;p93"/>
              <p:cNvSpPr/>
              <p:nvPr/>
            </p:nvSpPr>
            <p:spPr>
              <a:xfrm>
                <a:off x="84010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6" name="Google Shape;1916;p93"/>
              <p:cNvSpPr/>
              <p:nvPr/>
            </p:nvSpPr>
            <p:spPr>
              <a:xfrm>
                <a:off x="85534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7" name="Google Shape;1917;p93"/>
              <p:cNvSpPr/>
              <p:nvPr/>
            </p:nvSpPr>
            <p:spPr>
              <a:xfrm>
                <a:off x="86296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8" name="Google Shape;1918;p93"/>
              <p:cNvSpPr/>
              <p:nvPr/>
            </p:nvSpPr>
            <p:spPr>
              <a:xfrm>
                <a:off x="84772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19" name="Google Shape;1919;p93"/>
              <p:cNvSpPr/>
              <p:nvPr/>
            </p:nvSpPr>
            <p:spPr>
              <a:xfrm>
                <a:off x="8020050" y="2085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20" name="Google Shape;1920;p93"/>
              <p:cNvSpPr/>
              <p:nvPr/>
            </p:nvSpPr>
            <p:spPr>
              <a:xfrm>
                <a:off x="6781800" y="1295400"/>
                <a:ext cx="2042907" cy="11811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21" name="Google Shape;1921;p93"/>
              <p:cNvSpPr/>
              <p:nvPr/>
            </p:nvSpPr>
            <p:spPr>
              <a:xfrm>
                <a:off x="7600950" y="1385888"/>
                <a:ext cx="1143000" cy="809624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22" name="Google Shape;1922;p93"/>
              <p:cNvSpPr/>
              <p:nvPr/>
            </p:nvSpPr>
            <p:spPr>
              <a:xfrm>
                <a:off x="6858000" y="1438274"/>
                <a:ext cx="781050" cy="1000126"/>
              </a:xfrm>
              <a:prstGeom prst="ellipse">
                <a:avLst/>
              </a:prstGeom>
              <a:noFill/>
              <a:ln w="28575" cap="flat" cmpd="sng">
                <a:solidFill>
                  <a:srgbClr val="FFC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23" name="Google Shape;1923;p93"/>
            <p:cNvSpPr txBox="1"/>
            <p:nvPr/>
          </p:nvSpPr>
          <p:spPr>
            <a:xfrm>
              <a:off x="8243890" y="2514601"/>
              <a:ext cx="1986155" cy="276225"/>
            </a:xfrm>
            <a:prstGeom prst="rect">
              <a:avLst/>
            </a:prstGeom>
            <a:solidFill>
              <a:srgbClr val="E4831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Ground truth partitioning </a:t>
              </a:r>
              <a:r>
                <a:rPr lang="en-US" sz="12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r>
                <a:rPr lang="en-US" sz="1200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924" name="Google Shape;1924;p93"/>
            <p:cNvSpPr txBox="1"/>
            <p:nvPr/>
          </p:nvSpPr>
          <p:spPr>
            <a:xfrm>
              <a:off x="10230045" y="2521393"/>
              <a:ext cx="395287" cy="2762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r>
                <a:rPr lang="en-US" sz="1200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925" name="Google Shape;1925;p93"/>
            <p:cNvSpPr txBox="1"/>
            <p:nvPr/>
          </p:nvSpPr>
          <p:spPr>
            <a:xfrm>
              <a:off x="8591550" y="2833689"/>
              <a:ext cx="857250" cy="276225"/>
            </a:xfrm>
            <a:prstGeom prst="rect">
              <a:avLst/>
            </a:prstGeom>
            <a:noFill/>
            <a:ln w="2857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Cluster </a:t>
              </a:r>
              <a:r>
                <a:rPr lang="en-US" sz="12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200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926" name="Google Shape;1926;p93"/>
            <p:cNvSpPr txBox="1"/>
            <p:nvPr/>
          </p:nvSpPr>
          <p:spPr>
            <a:xfrm>
              <a:off x="9505950" y="2819401"/>
              <a:ext cx="857250" cy="276225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Cluster </a:t>
              </a:r>
              <a:r>
                <a:rPr lang="en-US" sz="12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200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63585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p9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Commonly Used Extrinsic Methods</a:t>
            </a:r>
            <a:endParaRPr/>
          </a:p>
        </p:txBody>
      </p:sp>
      <p:sp>
        <p:nvSpPr>
          <p:cNvPr id="1933" name="Google Shape;1933;p9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Matching-based methods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Examine how well the clustering results match the ground truth in partitioning the objects in the data set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Information theory-based methods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Compare the distribution of the clustering results and that of the ground truth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Information theory (e.g., entropy) used to quantify the comparison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Ex.  Conditional entropy, normalized mutual information (NMI)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Pairwise comparison-based methods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Treat each group in the ground truth as a class, and then check the pairwise consistency of the objects in the clustering results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Ex.  Four possibilities: TP, FN, FP, TN; Jaccard coefficient </a:t>
            </a:r>
            <a:endParaRPr/>
          </a:p>
        </p:txBody>
      </p:sp>
      <p:grpSp>
        <p:nvGrpSpPr>
          <p:cNvPr id="1934" name="Google Shape;1934;p94"/>
          <p:cNvGrpSpPr/>
          <p:nvPr/>
        </p:nvGrpSpPr>
        <p:grpSpPr>
          <a:xfrm>
            <a:off x="9615040" y="365125"/>
            <a:ext cx="2381442" cy="1814514"/>
            <a:chOff x="8243890" y="1295400"/>
            <a:chExt cx="2381442" cy="1814514"/>
          </a:xfrm>
        </p:grpSpPr>
        <p:grpSp>
          <p:nvGrpSpPr>
            <p:cNvPr id="1935" name="Google Shape;1935;p94"/>
            <p:cNvGrpSpPr/>
            <p:nvPr/>
          </p:nvGrpSpPr>
          <p:grpSpPr>
            <a:xfrm>
              <a:off x="8305801" y="1295400"/>
              <a:ext cx="2043113" cy="1181100"/>
              <a:chOff x="6781800" y="1295400"/>
              <a:chExt cx="2042907" cy="1181100"/>
            </a:xfrm>
          </p:grpSpPr>
          <p:sp>
            <p:nvSpPr>
              <p:cNvPr id="1936" name="Google Shape;1936;p94"/>
              <p:cNvSpPr/>
              <p:nvPr/>
            </p:nvSpPr>
            <p:spPr>
              <a:xfrm>
                <a:off x="7162800" y="17049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37" name="Google Shape;1937;p94"/>
              <p:cNvSpPr/>
              <p:nvPr/>
            </p:nvSpPr>
            <p:spPr>
              <a:xfrm>
                <a:off x="7391400" y="16287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38" name="Google Shape;1938;p94"/>
              <p:cNvSpPr/>
              <p:nvPr/>
            </p:nvSpPr>
            <p:spPr>
              <a:xfrm>
                <a:off x="7467600" y="20955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39" name="Google Shape;1939;p94"/>
              <p:cNvSpPr/>
              <p:nvPr/>
            </p:nvSpPr>
            <p:spPr>
              <a:xfrm>
                <a:off x="7696200" y="1933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40" name="Google Shape;1940;p94"/>
              <p:cNvSpPr/>
              <p:nvPr/>
            </p:nvSpPr>
            <p:spPr>
              <a:xfrm>
                <a:off x="7010400" y="2019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41" name="Google Shape;1941;p94"/>
              <p:cNvSpPr/>
              <p:nvPr/>
            </p:nvSpPr>
            <p:spPr>
              <a:xfrm>
                <a:off x="7010400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42" name="Google Shape;1942;p94"/>
              <p:cNvSpPr/>
              <p:nvPr/>
            </p:nvSpPr>
            <p:spPr>
              <a:xfrm>
                <a:off x="72771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43" name="Google Shape;1943;p94"/>
              <p:cNvSpPr/>
              <p:nvPr/>
            </p:nvSpPr>
            <p:spPr>
              <a:xfrm>
                <a:off x="7620000" y="17145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44" name="Google Shape;1944;p94"/>
              <p:cNvSpPr/>
              <p:nvPr/>
            </p:nvSpPr>
            <p:spPr>
              <a:xfrm>
                <a:off x="7239000" y="2019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45" name="Google Shape;1945;p94"/>
              <p:cNvSpPr/>
              <p:nvPr/>
            </p:nvSpPr>
            <p:spPr>
              <a:xfrm>
                <a:off x="74676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46" name="Google Shape;1946;p94"/>
              <p:cNvSpPr/>
              <p:nvPr/>
            </p:nvSpPr>
            <p:spPr>
              <a:xfrm>
                <a:off x="7315200" y="23241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47" name="Google Shape;1947;p94"/>
              <p:cNvSpPr/>
              <p:nvPr/>
            </p:nvSpPr>
            <p:spPr>
              <a:xfrm>
                <a:off x="7315200" y="1485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48" name="Google Shape;1948;p94"/>
              <p:cNvSpPr/>
              <p:nvPr/>
            </p:nvSpPr>
            <p:spPr>
              <a:xfrm>
                <a:off x="7048500" y="2247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49" name="Google Shape;1949;p94"/>
              <p:cNvSpPr/>
              <p:nvPr/>
            </p:nvSpPr>
            <p:spPr>
              <a:xfrm>
                <a:off x="69342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50" name="Google Shape;1950;p94"/>
              <p:cNvSpPr/>
              <p:nvPr/>
            </p:nvSpPr>
            <p:spPr>
              <a:xfrm>
                <a:off x="80962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51" name="Google Shape;1951;p94"/>
              <p:cNvSpPr/>
              <p:nvPr/>
            </p:nvSpPr>
            <p:spPr>
              <a:xfrm>
                <a:off x="82486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52" name="Google Shape;1952;p94"/>
              <p:cNvSpPr/>
              <p:nvPr/>
            </p:nvSpPr>
            <p:spPr>
              <a:xfrm>
                <a:off x="84010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53" name="Google Shape;1953;p94"/>
              <p:cNvSpPr/>
              <p:nvPr/>
            </p:nvSpPr>
            <p:spPr>
              <a:xfrm>
                <a:off x="8248650" y="1857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54" name="Google Shape;1954;p94"/>
              <p:cNvSpPr/>
              <p:nvPr/>
            </p:nvSpPr>
            <p:spPr>
              <a:xfrm>
                <a:off x="84010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55" name="Google Shape;1955;p94"/>
              <p:cNvSpPr/>
              <p:nvPr/>
            </p:nvSpPr>
            <p:spPr>
              <a:xfrm>
                <a:off x="79438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56" name="Google Shape;1956;p94"/>
              <p:cNvSpPr/>
              <p:nvPr/>
            </p:nvSpPr>
            <p:spPr>
              <a:xfrm>
                <a:off x="80962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57" name="Google Shape;1957;p94"/>
              <p:cNvSpPr/>
              <p:nvPr/>
            </p:nvSpPr>
            <p:spPr>
              <a:xfrm>
                <a:off x="7905750" y="15906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58" name="Google Shape;1958;p94"/>
              <p:cNvSpPr/>
              <p:nvPr/>
            </p:nvSpPr>
            <p:spPr>
              <a:xfrm>
                <a:off x="82486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1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59" name="Google Shape;1959;p94"/>
              <p:cNvSpPr/>
              <p:nvPr/>
            </p:nvSpPr>
            <p:spPr>
              <a:xfrm>
                <a:off x="79438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60" name="Google Shape;1960;p94"/>
              <p:cNvSpPr/>
              <p:nvPr/>
            </p:nvSpPr>
            <p:spPr>
              <a:xfrm>
                <a:off x="80962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61" name="Google Shape;1961;p94"/>
              <p:cNvSpPr/>
              <p:nvPr/>
            </p:nvSpPr>
            <p:spPr>
              <a:xfrm>
                <a:off x="84010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62" name="Google Shape;1962;p94"/>
              <p:cNvSpPr/>
              <p:nvPr/>
            </p:nvSpPr>
            <p:spPr>
              <a:xfrm>
                <a:off x="85534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63" name="Google Shape;1963;p94"/>
              <p:cNvSpPr/>
              <p:nvPr/>
            </p:nvSpPr>
            <p:spPr>
              <a:xfrm>
                <a:off x="86296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64" name="Google Shape;1964;p94"/>
              <p:cNvSpPr/>
              <p:nvPr/>
            </p:nvSpPr>
            <p:spPr>
              <a:xfrm>
                <a:off x="84772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65" name="Google Shape;1965;p94"/>
              <p:cNvSpPr/>
              <p:nvPr/>
            </p:nvSpPr>
            <p:spPr>
              <a:xfrm>
                <a:off x="8020050" y="2085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66" name="Google Shape;1966;p94"/>
              <p:cNvSpPr/>
              <p:nvPr/>
            </p:nvSpPr>
            <p:spPr>
              <a:xfrm>
                <a:off x="6781800" y="1295400"/>
                <a:ext cx="2042907" cy="11811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67" name="Google Shape;1967;p94"/>
              <p:cNvSpPr/>
              <p:nvPr/>
            </p:nvSpPr>
            <p:spPr>
              <a:xfrm>
                <a:off x="7600950" y="1385888"/>
                <a:ext cx="1143000" cy="809624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68" name="Google Shape;1968;p94"/>
              <p:cNvSpPr/>
              <p:nvPr/>
            </p:nvSpPr>
            <p:spPr>
              <a:xfrm>
                <a:off x="6858000" y="1438274"/>
                <a:ext cx="781050" cy="1000126"/>
              </a:xfrm>
              <a:prstGeom prst="ellipse">
                <a:avLst/>
              </a:prstGeom>
              <a:noFill/>
              <a:ln w="28575" cap="flat" cmpd="sng">
                <a:solidFill>
                  <a:srgbClr val="FFC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69" name="Google Shape;1969;p94"/>
            <p:cNvSpPr txBox="1"/>
            <p:nvPr/>
          </p:nvSpPr>
          <p:spPr>
            <a:xfrm>
              <a:off x="8243890" y="2514601"/>
              <a:ext cx="1986155" cy="276225"/>
            </a:xfrm>
            <a:prstGeom prst="rect">
              <a:avLst/>
            </a:prstGeom>
            <a:solidFill>
              <a:srgbClr val="E4831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Ground truth partitioning </a:t>
              </a:r>
              <a:r>
                <a:rPr lang="en-US" sz="12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r>
                <a:rPr lang="en-US" sz="1200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970" name="Google Shape;1970;p94"/>
            <p:cNvSpPr txBox="1"/>
            <p:nvPr/>
          </p:nvSpPr>
          <p:spPr>
            <a:xfrm>
              <a:off x="10230045" y="2521393"/>
              <a:ext cx="395287" cy="2762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r>
                <a:rPr lang="en-US" sz="1200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971" name="Google Shape;1971;p94"/>
            <p:cNvSpPr txBox="1"/>
            <p:nvPr/>
          </p:nvSpPr>
          <p:spPr>
            <a:xfrm>
              <a:off x="8591550" y="2833689"/>
              <a:ext cx="857250" cy="276225"/>
            </a:xfrm>
            <a:prstGeom prst="rect">
              <a:avLst/>
            </a:prstGeom>
            <a:noFill/>
            <a:ln w="2857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Cluster </a:t>
              </a:r>
              <a:r>
                <a:rPr lang="en-US" sz="12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200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972" name="Google Shape;1972;p94"/>
            <p:cNvSpPr txBox="1"/>
            <p:nvPr/>
          </p:nvSpPr>
          <p:spPr>
            <a:xfrm>
              <a:off x="9505950" y="2819401"/>
              <a:ext cx="857250" cy="276225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Cluster </a:t>
              </a:r>
              <a:r>
                <a:rPr lang="en-US" sz="12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200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p9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Matching-Based Methods </a:t>
            </a:r>
            <a:endParaRPr/>
          </a:p>
        </p:txBody>
      </p:sp>
      <p:sp>
        <p:nvSpPr>
          <p:cNvPr id="1979" name="Google Shape;1979;p9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964" t="-2033" r="-1446" b="-3575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1980" name="Google Shape;1980;p95"/>
          <p:cNvGrpSpPr/>
          <p:nvPr/>
        </p:nvGrpSpPr>
        <p:grpSpPr>
          <a:xfrm>
            <a:off x="10037302" y="-40278"/>
            <a:ext cx="2154698" cy="1869141"/>
            <a:chOff x="9253200" y="1077506"/>
            <a:chExt cx="2154698" cy="1869141"/>
          </a:xfrm>
        </p:grpSpPr>
        <p:grpSp>
          <p:nvGrpSpPr>
            <p:cNvPr id="1981" name="Google Shape;1981;p95"/>
            <p:cNvGrpSpPr/>
            <p:nvPr/>
          </p:nvGrpSpPr>
          <p:grpSpPr>
            <a:xfrm>
              <a:off x="9350499" y="1077506"/>
              <a:ext cx="2057399" cy="1277418"/>
              <a:chOff x="6781800" y="1245858"/>
              <a:chExt cx="2042907" cy="1230642"/>
            </a:xfrm>
          </p:grpSpPr>
          <p:sp>
            <p:nvSpPr>
              <p:cNvPr id="1982" name="Google Shape;1982;p95"/>
              <p:cNvSpPr/>
              <p:nvPr/>
            </p:nvSpPr>
            <p:spPr>
              <a:xfrm>
                <a:off x="7162800" y="17049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83" name="Google Shape;1983;p95"/>
              <p:cNvSpPr/>
              <p:nvPr/>
            </p:nvSpPr>
            <p:spPr>
              <a:xfrm>
                <a:off x="7391400" y="16287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84" name="Google Shape;1984;p95"/>
              <p:cNvSpPr/>
              <p:nvPr/>
            </p:nvSpPr>
            <p:spPr>
              <a:xfrm>
                <a:off x="7467600" y="20955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85" name="Google Shape;1985;p95"/>
              <p:cNvSpPr/>
              <p:nvPr/>
            </p:nvSpPr>
            <p:spPr>
              <a:xfrm>
                <a:off x="7696200" y="1933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86" name="Google Shape;1986;p95"/>
              <p:cNvSpPr/>
              <p:nvPr/>
            </p:nvSpPr>
            <p:spPr>
              <a:xfrm>
                <a:off x="7010400" y="20193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87" name="Google Shape;1987;p95"/>
              <p:cNvSpPr/>
              <p:nvPr/>
            </p:nvSpPr>
            <p:spPr>
              <a:xfrm>
                <a:off x="7010400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88" name="Google Shape;1988;p95"/>
              <p:cNvSpPr/>
              <p:nvPr/>
            </p:nvSpPr>
            <p:spPr>
              <a:xfrm>
                <a:off x="72771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89" name="Google Shape;1989;p95"/>
              <p:cNvSpPr/>
              <p:nvPr/>
            </p:nvSpPr>
            <p:spPr>
              <a:xfrm>
                <a:off x="7620000" y="17145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0" name="Google Shape;1990;p95"/>
              <p:cNvSpPr/>
              <p:nvPr/>
            </p:nvSpPr>
            <p:spPr>
              <a:xfrm>
                <a:off x="7239000" y="2019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1" name="Google Shape;1991;p95"/>
              <p:cNvSpPr/>
              <p:nvPr/>
            </p:nvSpPr>
            <p:spPr>
              <a:xfrm>
                <a:off x="74676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2" name="Google Shape;1992;p95"/>
              <p:cNvSpPr/>
              <p:nvPr/>
            </p:nvSpPr>
            <p:spPr>
              <a:xfrm>
                <a:off x="7226077" y="2280758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3" name="Google Shape;1993;p95"/>
              <p:cNvSpPr/>
              <p:nvPr/>
            </p:nvSpPr>
            <p:spPr>
              <a:xfrm>
                <a:off x="7315200" y="1485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4" name="Google Shape;1994;p95"/>
              <p:cNvSpPr/>
              <p:nvPr/>
            </p:nvSpPr>
            <p:spPr>
              <a:xfrm>
                <a:off x="7048500" y="22479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5" name="Google Shape;1995;p95"/>
              <p:cNvSpPr/>
              <p:nvPr/>
            </p:nvSpPr>
            <p:spPr>
              <a:xfrm>
                <a:off x="69342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6" name="Google Shape;1996;p95"/>
              <p:cNvSpPr/>
              <p:nvPr/>
            </p:nvSpPr>
            <p:spPr>
              <a:xfrm>
                <a:off x="80962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7" name="Google Shape;1997;p95"/>
              <p:cNvSpPr/>
              <p:nvPr/>
            </p:nvSpPr>
            <p:spPr>
              <a:xfrm>
                <a:off x="82486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8" name="Google Shape;1998;p95"/>
              <p:cNvSpPr/>
              <p:nvPr/>
            </p:nvSpPr>
            <p:spPr>
              <a:xfrm>
                <a:off x="84010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9" name="Google Shape;1999;p95"/>
              <p:cNvSpPr/>
              <p:nvPr/>
            </p:nvSpPr>
            <p:spPr>
              <a:xfrm>
                <a:off x="8248650" y="1857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00" name="Google Shape;2000;p95"/>
              <p:cNvSpPr/>
              <p:nvPr/>
            </p:nvSpPr>
            <p:spPr>
              <a:xfrm>
                <a:off x="84010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01" name="Google Shape;2001;p95"/>
              <p:cNvSpPr/>
              <p:nvPr/>
            </p:nvSpPr>
            <p:spPr>
              <a:xfrm>
                <a:off x="79438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02" name="Google Shape;2002;p95"/>
              <p:cNvSpPr/>
              <p:nvPr/>
            </p:nvSpPr>
            <p:spPr>
              <a:xfrm>
                <a:off x="80962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03" name="Google Shape;2003;p95"/>
              <p:cNvSpPr/>
              <p:nvPr/>
            </p:nvSpPr>
            <p:spPr>
              <a:xfrm>
                <a:off x="7905750" y="15906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04" name="Google Shape;2004;p95"/>
              <p:cNvSpPr/>
              <p:nvPr/>
            </p:nvSpPr>
            <p:spPr>
              <a:xfrm>
                <a:off x="82486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1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05" name="Google Shape;2005;p95"/>
              <p:cNvSpPr/>
              <p:nvPr/>
            </p:nvSpPr>
            <p:spPr>
              <a:xfrm>
                <a:off x="79438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06" name="Google Shape;2006;p95"/>
              <p:cNvSpPr/>
              <p:nvPr/>
            </p:nvSpPr>
            <p:spPr>
              <a:xfrm>
                <a:off x="80962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07" name="Google Shape;2007;p95"/>
              <p:cNvSpPr/>
              <p:nvPr/>
            </p:nvSpPr>
            <p:spPr>
              <a:xfrm>
                <a:off x="84010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08" name="Google Shape;2008;p95"/>
              <p:cNvSpPr/>
              <p:nvPr/>
            </p:nvSpPr>
            <p:spPr>
              <a:xfrm>
                <a:off x="85534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09" name="Google Shape;2009;p95"/>
              <p:cNvSpPr/>
              <p:nvPr/>
            </p:nvSpPr>
            <p:spPr>
              <a:xfrm>
                <a:off x="86296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10" name="Google Shape;2010;p95"/>
              <p:cNvSpPr/>
              <p:nvPr/>
            </p:nvSpPr>
            <p:spPr>
              <a:xfrm>
                <a:off x="84772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11" name="Google Shape;2011;p95"/>
              <p:cNvSpPr/>
              <p:nvPr/>
            </p:nvSpPr>
            <p:spPr>
              <a:xfrm>
                <a:off x="8020050" y="2085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12" name="Google Shape;2012;p95"/>
              <p:cNvSpPr/>
              <p:nvPr/>
            </p:nvSpPr>
            <p:spPr>
              <a:xfrm>
                <a:off x="6781800" y="1295400"/>
                <a:ext cx="2042907" cy="11811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13" name="Google Shape;2013;p95"/>
              <p:cNvSpPr/>
              <p:nvPr/>
            </p:nvSpPr>
            <p:spPr>
              <a:xfrm>
                <a:off x="7600950" y="1385888"/>
                <a:ext cx="1143000" cy="809624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14" name="Google Shape;2014;p95"/>
              <p:cNvSpPr/>
              <p:nvPr/>
            </p:nvSpPr>
            <p:spPr>
              <a:xfrm rot="3005671">
                <a:off x="6910448" y="1473379"/>
                <a:ext cx="782476" cy="405040"/>
              </a:xfrm>
              <a:prstGeom prst="ellipse">
                <a:avLst/>
              </a:prstGeom>
              <a:noFill/>
              <a:ln w="28575" cap="flat" cmpd="sng">
                <a:solidFill>
                  <a:srgbClr val="FFC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015" name="Google Shape;2015;p95"/>
            <p:cNvSpPr txBox="1"/>
            <p:nvPr/>
          </p:nvSpPr>
          <p:spPr>
            <a:xfrm>
              <a:off x="9351754" y="2362645"/>
              <a:ext cx="1220138" cy="276225"/>
            </a:xfrm>
            <a:prstGeom prst="rect">
              <a:avLst/>
            </a:prstGeom>
            <a:solidFill>
              <a:srgbClr val="E4831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Ground Truth </a:t>
              </a:r>
              <a:r>
                <a:rPr lang="en-US" sz="12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r>
                <a:rPr lang="en-US" sz="12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016" name="Google Shape;2016;p95"/>
            <p:cNvSpPr txBox="1"/>
            <p:nvPr/>
          </p:nvSpPr>
          <p:spPr>
            <a:xfrm>
              <a:off x="10599349" y="2359850"/>
              <a:ext cx="395287" cy="2762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 b="1" i="1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r>
                <a:rPr lang="en-US" sz="1200" b="1" i="1" baseline="-25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</p:txBody>
        </p:sp>
        <p:sp>
          <p:nvSpPr>
            <p:cNvPr id="2017" name="Google Shape;2017;p95"/>
            <p:cNvSpPr txBox="1"/>
            <p:nvPr/>
          </p:nvSpPr>
          <p:spPr>
            <a:xfrm>
              <a:off x="9439271" y="2631760"/>
              <a:ext cx="929361" cy="307777"/>
            </a:xfrm>
            <a:prstGeom prst="rect">
              <a:avLst/>
            </a:prstGeom>
            <a:noFill/>
            <a:ln w="2857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Cluster </a:t>
              </a: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018" name="Google Shape;2018;p95"/>
            <p:cNvSpPr txBox="1"/>
            <p:nvPr/>
          </p:nvSpPr>
          <p:spPr>
            <a:xfrm>
              <a:off x="10410045" y="2638870"/>
              <a:ext cx="402888" cy="307777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019" name="Google Shape;2019;p95"/>
            <p:cNvSpPr/>
            <p:nvPr/>
          </p:nvSpPr>
          <p:spPr>
            <a:xfrm>
              <a:off x="9505904" y="1979325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20" name="Google Shape;2020;p95"/>
            <p:cNvSpPr/>
            <p:nvPr/>
          </p:nvSpPr>
          <p:spPr>
            <a:xfrm>
              <a:off x="9836299" y="2013771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21" name="Google Shape;2021;p95"/>
            <p:cNvSpPr/>
            <p:nvPr/>
          </p:nvSpPr>
          <p:spPr>
            <a:xfrm rot="1766439">
              <a:off x="9313760" y="1769947"/>
              <a:ext cx="911640" cy="485929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22" name="Google Shape;2022;p95"/>
            <p:cNvSpPr/>
            <p:nvPr/>
          </p:nvSpPr>
          <p:spPr>
            <a:xfrm>
              <a:off x="9988699" y="2166171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23" name="Google Shape;2023;p95"/>
            <p:cNvSpPr txBox="1"/>
            <p:nvPr/>
          </p:nvSpPr>
          <p:spPr>
            <a:xfrm>
              <a:off x="11012611" y="2359849"/>
              <a:ext cx="395287" cy="27622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Noto Sans Symbols"/>
                <a:buNone/>
              </a:pPr>
              <a:r>
                <a:rPr lang="en-US" sz="1200" b="1" i="1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r>
                <a:rPr lang="en-US" sz="1200" b="1" i="1" baseline="-250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</p:txBody>
        </p:sp>
        <p:sp>
          <p:nvSpPr>
            <p:cNvPr id="2024" name="Google Shape;2024;p95"/>
            <p:cNvSpPr txBox="1"/>
            <p:nvPr/>
          </p:nvSpPr>
          <p:spPr>
            <a:xfrm>
              <a:off x="10885310" y="2638870"/>
              <a:ext cx="402888" cy="307777"/>
            </a:xfrm>
            <a:prstGeom prst="rect">
              <a:avLst/>
            </a:prstGeom>
            <a:noFill/>
            <a:ln w="28575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" name="Google Shape;2030;p9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Matching-Based Methods: Example </a:t>
            </a:r>
            <a:endParaRPr/>
          </a:p>
        </p:txBody>
      </p:sp>
      <p:sp>
        <p:nvSpPr>
          <p:cNvPr id="2031" name="Google Shape;2031;p9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Consider 11 objects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grpSp>
        <p:nvGrpSpPr>
          <p:cNvPr id="2032" name="Google Shape;2032;p96"/>
          <p:cNvGrpSpPr/>
          <p:nvPr/>
        </p:nvGrpSpPr>
        <p:grpSpPr>
          <a:xfrm>
            <a:off x="10037302" y="-40278"/>
            <a:ext cx="2154698" cy="1869141"/>
            <a:chOff x="9253200" y="1077506"/>
            <a:chExt cx="2154698" cy="1869141"/>
          </a:xfrm>
        </p:grpSpPr>
        <p:grpSp>
          <p:nvGrpSpPr>
            <p:cNvPr id="2033" name="Google Shape;2033;p96"/>
            <p:cNvGrpSpPr/>
            <p:nvPr/>
          </p:nvGrpSpPr>
          <p:grpSpPr>
            <a:xfrm>
              <a:off x="9350499" y="1077506"/>
              <a:ext cx="2057399" cy="1277418"/>
              <a:chOff x="6781800" y="1245858"/>
              <a:chExt cx="2042907" cy="1230642"/>
            </a:xfrm>
          </p:grpSpPr>
          <p:sp>
            <p:nvSpPr>
              <p:cNvPr id="2034" name="Google Shape;2034;p96"/>
              <p:cNvSpPr/>
              <p:nvPr/>
            </p:nvSpPr>
            <p:spPr>
              <a:xfrm>
                <a:off x="7162800" y="17049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35" name="Google Shape;2035;p96"/>
              <p:cNvSpPr/>
              <p:nvPr/>
            </p:nvSpPr>
            <p:spPr>
              <a:xfrm>
                <a:off x="7391400" y="16287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36" name="Google Shape;2036;p96"/>
              <p:cNvSpPr/>
              <p:nvPr/>
            </p:nvSpPr>
            <p:spPr>
              <a:xfrm>
                <a:off x="7467600" y="20955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37" name="Google Shape;2037;p96"/>
              <p:cNvSpPr/>
              <p:nvPr/>
            </p:nvSpPr>
            <p:spPr>
              <a:xfrm>
                <a:off x="7696200" y="1933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38" name="Google Shape;2038;p96"/>
              <p:cNvSpPr/>
              <p:nvPr/>
            </p:nvSpPr>
            <p:spPr>
              <a:xfrm>
                <a:off x="7010400" y="20193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39" name="Google Shape;2039;p96"/>
              <p:cNvSpPr/>
              <p:nvPr/>
            </p:nvSpPr>
            <p:spPr>
              <a:xfrm>
                <a:off x="7010400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40" name="Google Shape;2040;p96"/>
              <p:cNvSpPr/>
              <p:nvPr/>
            </p:nvSpPr>
            <p:spPr>
              <a:xfrm>
                <a:off x="72771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41" name="Google Shape;2041;p96"/>
              <p:cNvSpPr/>
              <p:nvPr/>
            </p:nvSpPr>
            <p:spPr>
              <a:xfrm>
                <a:off x="7620000" y="17145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42" name="Google Shape;2042;p96"/>
              <p:cNvSpPr/>
              <p:nvPr/>
            </p:nvSpPr>
            <p:spPr>
              <a:xfrm>
                <a:off x="7239000" y="2019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43" name="Google Shape;2043;p96"/>
              <p:cNvSpPr/>
              <p:nvPr/>
            </p:nvSpPr>
            <p:spPr>
              <a:xfrm>
                <a:off x="74676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44" name="Google Shape;2044;p96"/>
              <p:cNvSpPr/>
              <p:nvPr/>
            </p:nvSpPr>
            <p:spPr>
              <a:xfrm>
                <a:off x="7226077" y="2280758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45" name="Google Shape;2045;p96"/>
              <p:cNvSpPr/>
              <p:nvPr/>
            </p:nvSpPr>
            <p:spPr>
              <a:xfrm>
                <a:off x="7315200" y="1485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46" name="Google Shape;2046;p96"/>
              <p:cNvSpPr/>
              <p:nvPr/>
            </p:nvSpPr>
            <p:spPr>
              <a:xfrm>
                <a:off x="7048500" y="22479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47" name="Google Shape;2047;p96"/>
              <p:cNvSpPr/>
              <p:nvPr/>
            </p:nvSpPr>
            <p:spPr>
              <a:xfrm>
                <a:off x="69342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48" name="Google Shape;2048;p96"/>
              <p:cNvSpPr/>
              <p:nvPr/>
            </p:nvSpPr>
            <p:spPr>
              <a:xfrm>
                <a:off x="80962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49" name="Google Shape;2049;p96"/>
              <p:cNvSpPr/>
              <p:nvPr/>
            </p:nvSpPr>
            <p:spPr>
              <a:xfrm>
                <a:off x="82486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0" name="Google Shape;2050;p96"/>
              <p:cNvSpPr/>
              <p:nvPr/>
            </p:nvSpPr>
            <p:spPr>
              <a:xfrm>
                <a:off x="84010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1" name="Google Shape;2051;p96"/>
              <p:cNvSpPr/>
              <p:nvPr/>
            </p:nvSpPr>
            <p:spPr>
              <a:xfrm>
                <a:off x="8248650" y="1857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2" name="Google Shape;2052;p96"/>
              <p:cNvSpPr/>
              <p:nvPr/>
            </p:nvSpPr>
            <p:spPr>
              <a:xfrm>
                <a:off x="84010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3" name="Google Shape;2053;p96"/>
              <p:cNvSpPr/>
              <p:nvPr/>
            </p:nvSpPr>
            <p:spPr>
              <a:xfrm>
                <a:off x="79438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4" name="Google Shape;2054;p96"/>
              <p:cNvSpPr/>
              <p:nvPr/>
            </p:nvSpPr>
            <p:spPr>
              <a:xfrm>
                <a:off x="80962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5" name="Google Shape;2055;p96"/>
              <p:cNvSpPr/>
              <p:nvPr/>
            </p:nvSpPr>
            <p:spPr>
              <a:xfrm>
                <a:off x="7905750" y="15906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6" name="Google Shape;2056;p96"/>
              <p:cNvSpPr/>
              <p:nvPr/>
            </p:nvSpPr>
            <p:spPr>
              <a:xfrm>
                <a:off x="82486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1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7" name="Google Shape;2057;p96"/>
              <p:cNvSpPr/>
              <p:nvPr/>
            </p:nvSpPr>
            <p:spPr>
              <a:xfrm>
                <a:off x="79438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8" name="Google Shape;2058;p96"/>
              <p:cNvSpPr/>
              <p:nvPr/>
            </p:nvSpPr>
            <p:spPr>
              <a:xfrm>
                <a:off x="80962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59" name="Google Shape;2059;p96"/>
              <p:cNvSpPr/>
              <p:nvPr/>
            </p:nvSpPr>
            <p:spPr>
              <a:xfrm>
                <a:off x="84010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60" name="Google Shape;2060;p96"/>
              <p:cNvSpPr/>
              <p:nvPr/>
            </p:nvSpPr>
            <p:spPr>
              <a:xfrm>
                <a:off x="85534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61" name="Google Shape;2061;p96"/>
              <p:cNvSpPr/>
              <p:nvPr/>
            </p:nvSpPr>
            <p:spPr>
              <a:xfrm>
                <a:off x="86296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62" name="Google Shape;2062;p96"/>
              <p:cNvSpPr/>
              <p:nvPr/>
            </p:nvSpPr>
            <p:spPr>
              <a:xfrm>
                <a:off x="84772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63" name="Google Shape;2063;p96"/>
              <p:cNvSpPr/>
              <p:nvPr/>
            </p:nvSpPr>
            <p:spPr>
              <a:xfrm>
                <a:off x="8020050" y="2085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64" name="Google Shape;2064;p96"/>
              <p:cNvSpPr/>
              <p:nvPr/>
            </p:nvSpPr>
            <p:spPr>
              <a:xfrm>
                <a:off x="6781800" y="1295400"/>
                <a:ext cx="2042907" cy="11811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65" name="Google Shape;2065;p96"/>
              <p:cNvSpPr/>
              <p:nvPr/>
            </p:nvSpPr>
            <p:spPr>
              <a:xfrm>
                <a:off x="7600950" y="1385888"/>
                <a:ext cx="1143000" cy="809624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66" name="Google Shape;2066;p96"/>
              <p:cNvSpPr/>
              <p:nvPr/>
            </p:nvSpPr>
            <p:spPr>
              <a:xfrm rot="3005671">
                <a:off x="6910448" y="1473379"/>
                <a:ext cx="782476" cy="405040"/>
              </a:xfrm>
              <a:prstGeom prst="ellipse">
                <a:avLst/>
              </a:prstGeom>
              <a:noFill/>
              <a:ln w="28575" cap="flat" cmpd="sng">
                <a:solidFill>
                  <a:srgbClr val="FFC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067" name="Google Shape;2067;p96"/>
            <p:cNvSpPr txBox="1"/>
            <p:nvPr/>
          </p:nvSpPr>
          <p:spPr>
            <a:xfrm>
              <a:off x="9351754" y="2362645"/>
              <a:ext cx="1220138" cy="276225"/>
            </a:xfrm>
            <a:prstGeom prst="rect">
              <a:avLst/>
            </a:prstGeom>
            <a:solidFill>
              <a:srgbClr val="E4831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Ground Truth </a:t>
              </a:r>
              <a:r>
                <a:rPr lang="en-US" sz="12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r>
                <a:rPr lang="en-US" sz="12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068" name="Google Shape;2068;p96"/>
            <p:cNvSpPr txBox="1"/>
            <p:nvPr/>
          </p:nvSpPr>
          <p:spPr>
            <a:xfrm>
              <a:off x="10599349" y="2359850"/>
              <a:ext cx="395287" cy="2762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 b="1" i="1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r>
                <a:rPr lang="en-US" sz="1200" b="1" i="1" baseline="-25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</p:txBody>
        </p:sp>
        <p:sp>
          <p:nvSpPr>
            <p:cNvPr id="2069" name="Google Shape;2069;p96"/>
            <p:cNvSpPr txBox="1"/>
            <p:nvPr/>
          </p:nvSpPr>
          <p:spPr>
            <a:xfrm>
              <a:off x="9439271" y="2631760"/>
              <a:ext cx="929361" cy="307777"/>
            </a:xfrm>
            <a:prstGeom prst="rect">
              <a:avLst/>
            </a:prstGeom>
            <a:noFill/>
            <a:ln w="2857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Cluster </a:t>
              </a: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070" name="Google Shape;2070;p96"/>
            <p:cNvSpPr txBox="1"/>
            <p:nvPr/>
          </p:nvSpPr>
          <p:spPr>
            <a:xfrm>
              <a:off x="10410045" y="2638870"/>
              <a:ext cx="402888" cy="307777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071" name="Google Shape;2071;p96"/>
            <p:cNvSpPr/>
            <p:nvPr/>
          </p:nvSpPr>
          <p:spPr>
            <a:xfrm>
              <a:off x="9505904" y="1979325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72" name="Google Shape;2072;p96"/>
            <p:cNvSpPr/>
            <p:nvPr/>
          </p:nvSpPr>
          <p:spPr>
            <a:xfrm>
              <a:off x="9836299" y="2013771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73" name="Google Shape;2073;p96"/>
            <p:cNvSpPr/>
            <p:nvPr/>
          </p:nvSpPr>
          <p:spPr>
            <a:xfrm rot="1766439">
              <a:off x="9313760" y="1769947"/>
              <a:ext cx="911640" cy="485929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74" name="Google Shape;2074;p96"/>
            <p:cNvSpPr/>
            <p:nvPr/>
          </p:nvSpPr>
          <p:spPr>
            <a:xfrm>
              <a:off x="9988699" y="2166171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75" name="Google Shape;2075;p96"/>
            <p:cNvSpPr txBox="1"/>
            <p:nvPr/>
          </p:nvSpPr>
          <p:spPr>
            <a:xfrm>
              <a:off x="11012611" y="2359849"/>
              <a:ext cx="395287" cy="27622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Noto Sans Symbols"/>
                <a:buNone/>
              </a:pPr>
              <a:r>
                <a:rPr lang="en-US" sz="1200" b="1" i="1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r>
                <a:rPr lang="en-US" sz="1200" b="1" i="1" baseline="-250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</p:txBody>
        </p:sp>
        <p:sp>
          <p:nvSpPr>
            <p:cNvPr id="2076" name="Google Shape;2076;p96"/>
            <p:cNvSpPr txBox="1"/>
            <p:nvPr/>
          </p:nvSpPr>
          <p:spPr>
            <a:xfrm>
              <a:off x="10885310" y="2638870"/>
              <a:ext cx="402888" cy="307777"/>
            </a:xfrm>
            <a:prstGeom prst="rect">
              <a:avLst/>
            </a:prstGeom>
            <a:noFill/>
            <a:ln w="28575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2077" name="Google Shape;2077;p96"/>
          <p:cNvSpPr txBox="1"/>
          <p:nvPr/>
        </p:nvSpPr>
        <p:spPr>
          <a:xfrm>
            <a:off x="1158481" y="6176963"/>
            <a:ext cx="11266433" cy="408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13" marR="0" lvl="0" indent="-21939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920"/>
              <a:buFont typeface="Noto Sans Symbols"/>
              <a:buNone/>
            </a:pP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8" name="Google Shape;2078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0406" y="2359345"/>
            <a:ext cx="9037117" cy="1355567"/>
          </a:xfrm>
          <a:prstGeom prst="rect">
            <a:avLst/>
          </a:prstGeom>
          <a:noFill/>
          <a:ln>
            <a:noFill/>
          </a:ln>
        </p:spPr>
      </p:pic>
      <p:sp>
        <p:nvSpPr>
          <p:cNvPr id="2079" name="Google Shape;2079;p96"/>
          <p:cNvSpPr txBox="1"/>
          <p:nvPr/>
        </p:nvSpPr>
        <p:spPr>
          <a:xfrm>
            <a:off x="5725673" y="3732471"/>
            <a:ext cx="6039665" cy="70788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Purity for clustering </a:t>
            </a:r>
            <a:r>
              <a:rPr lang="en-US" sz="2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000" b="1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2000" b="0" i="0" u="none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1/11  </a:t>
            </a:r>
            <a:r>
              <a:rPr lang="en-US" sz="2000" b="0" i="0" u="none" strike="noStrike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(4 + 2 + 4 + 1) = </a:t>
            </a:r>
            <a:r>
              <a:rPr lang="en-US" sz="2000" b="0" i="0" u="none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11/11 </a:t>
            </a:r>
            <a:r>
              <a:rPr lang="en-US" sz="2000" b="0" i="0" u="none" strike="noStrike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1;   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Purity for clustering </a:t>
            </a:r>
            <a:r>
              <a:rPr lang="en-US" sz="20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000" b="1" baseline="-25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2000" b="0" i="0" u="none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1/11 </a:t>
            </a:r>
            <a:r>
              <a:rPr lang="en-US" sz="2000" b="0" i="0" u="none" strike="noStrike" dirty="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(2 + 3 + 1) = </a:t>
            </a:r>
            <a:r>
              <a:rPr lang="en-US" sz="2000" b="0" i="0" u="none" strike="noStrik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6/11</a:t>
            </a:r>
            <a:endParaRPr sz="2000" b="0" i="0" u="none" strike="noStrike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9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Information Theory-Based Methods (I)</a:t>
            </a:r>
            <a:br>
              <a:rPr lang="en-US"/>
            </a:br>
            <a:r>
              <a:rPr lang="en-US"/>
              <a:t>Conditional Entropy</a:t>
            </a:r>
            <a:endParaRPr/>
          </a:p>
        </p:txBody>
      </p:sp>
      <p:sp>
        <p:nvSpPr>
          <p:cNvPr id="2086" name="Google Shape;2086;p9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clustering can be regarded as a compressed representation of a given set of objects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better the clustering results approach the ground-truth, the less amount of information is needed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idea leads to the use of </a:t>
            </a:r>
            <a:r>
              <a:rPr lang="en-US" i="1"/>
              <a:t>conditional entropy</a:t>
            </a:r>
            <a:endParaRPr/>
          </a:p>
        </p:txBody>
      </p:sp>
      <p:grpSp>
        <p:nvGrpSpPr>
          <p:cNvPr id="2087" name="Google Shape;2087;p97"/>
          <p:cNvGrpSpPr/>
          <p:nvPr/>
        </p:nvGrpSpPr>
        <p:grpSpPr>
          <a:xfrm>
            <a:off x="10037302" y="-40278"/>
            <a:ext cx="2154698" cy="1869141"/>
            <a:chOff x="9253200" y="1077506"/>
            <a:chExt cx="2154698" cy="1869141"/>
          </a:xfrm>
        </p:grpSpPr>
        <p:grpSp>
          <p:nvGrpSpPr>
            <p:cNvPr id="2088" name="Google Shape;2088;p97"/>
            <p:cNvGrpSpPr/>
            <p:nvPr/>
          </p:nvGrpSpPr>
          <p:grpSpPr>
            <a:xfrm>
              <a:off x="9350499" y="1077506"/>
              <a:ext cx="2057399" cy="1277418"/>
              <a:chOff x="6781800" y="1245858"/>
              <a:chExt cx="2042907" cy="1230642"/>
            </a:xfrm>
          </p:grpSpPr>
          <p:sp>
            <p:nvSpPr>
              <p:cNvPr id="2089" name="Google Shape;2089;p97"/>
              <p:cNvSpPr/>
              <p:nvPr/>
            </p:nvSpPr>
            <p:spPr>
              <a:xfrm>
                <a:off x="7162800" y="17049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90" name="Google Shape;2090;p97"/>
              <p:cNvSpPr/>
              <p:nvPr/>
            </p:nvSpPr>
            <p:spPr>
              <a:xfrm>
                <a:off x="7391400" y="16287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91" name="Google Shape;2091;p97"/>
              <p:cNvSpPr/>
              <p:nvPr/>
            </p:nvSpPr>
            <p:spPr>
              <a:xfrm>
                <a:off x="7467600" y="20955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92" name="Google Shape;2092;p97"/>
              <p:cNvSpPr/>
              <p:nvPr/>
            </p:nvSpPr>
            <p:spPr>
              <a:xfrm>
                <a:off x="7696200" y="1933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93" name="Google Shape;2093;p97"/>
              <p:cNvSpPr/>
              <p:nvPr/>
            </p:nvSpPr>
            <p:spPr>
              <a:xfrm>
                <a:off x="7010400" y="20193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94" name="Google Shape;2094;p97"/>
              <p:cNvSpPr/>
              <p:nvPr/>
            </p:nvSpPr>
            <p:spPr>
              <a:xfrm>
                <a:off x="7010400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95" name="Google Shape;2095;p97"/>
              <p:cNvSpPr/>
              <p:nvPr/>
            </p:nvSpPr>
            <p:spPr>
              <a:xfrm>
                <a:off x="72771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96" name="Google Shape;2096;p97"/>
              <p:cNvSpPr/>
              <p:nvPr/>
            </p:nvSpPr>
            <p:spPr>
              <a:xfrm>
                <a:off x="7620000" y="17145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97" name="Google Shape;2097;p97"/>
              <p:cNvSpPr/>
              <p:nvPr/>
            </p:nvSpPr>
            <p:spPr>
              <a:xfrm>
                <a:off x="7239000" y="2019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98" name="Google Shape;2098;p97"/>
              <p:cNvSpPr/>
              <p:nvPr/>
            </p:nvSpPr>
            <p:spPr>
              <a:xfrm>
                <a:off x="74676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99" name="Google Shape;2099;p97"/>
              <p:cNvSpPr/>
              <p:nvPr/>
            </p:nvSpPr>
            <p:spPr>
              <a:xfrm>
                <a:off x="7226077" y="2280758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00" name="Google Shape;2100;p97"/>
              <p:cNvSpPr/>
              <p:nvPr/>
            </p:nvSpPr>
            <p:spPr>
              <a:xfrm>
                <a:off x="7315200" y="1485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01" name="Google Shape;2101;p97"/>
              <p:cNvSpPr/>
              <p:nvPr/>
            </p:nvSpPr>
            <p:spPr>
              <a:xfrm>
                <a:off x="7048500" y="22479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02" name="Google Shape;2102;p97"/>
              <p:cNvSpPr/>
              <p:nvPr/>
            </p:nvSpPr>
            <p:spPr>
              <a:xfrm>
                <a:off x="69342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03" name="Google Shape;2103;p97"/>
              <p:cNvSpPr/>
              <p:nvPr/>
            </p:nvSpPr>
            <p:spPr>
              <a:xfrm>
                <a:off x="80962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04" name="Google Shape;2104;p97"/>
              <p:cNvSpPr/>
              <p:nvPr/>
            </p:nvSpPr>
            <p:spPr>
              <a:xfrm>
                <a:off x="82486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05" name="Google Shape;2105;p97"/>
              <p:cNvSpPr/>
              <p:nvPr/>
            </p:nvSpPr>
            <p:spPr>
              <a:xfrm>
                <a:off x="84010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06" name="Google Shape;2106;p97"/>
              <p:cNvSpPr/>
              <p:nvPr/>
            </p:nvSpPr>
            <p:spPr>
              <a:xfrm>
                <a:off x="8248650" y="1857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07" name="Google Shape;2107;p97"/>
              <p:cNvSpPr/>
              <p:nvPr/>
            </p:nvSpPr>
            <p:spPr>
              <a:xfrm>
                <a:off x="84010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08" name="Google Shape;2108;p97"/>
              <p:cNvSpPr/>
              <p:nvPr/>
            </p:nvSpPr>
            <p:spPr>
              <a:xfrm>
                <a:off x="79438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09" name="Google Shape;2109;p97"/>
              <p:cNvSpPr/>
              <p:nvPr/>
            </p:nvSpPr>
            <p:spPr>
              <a:xfrm>
                <a:off x="80962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10" name="Google Shape;2110;p97"/>
              <p:cNvSpPr/>
              <p:nvPr/>
            </p:nvSpPr>
            <p:spPr>
              <a:xfrm>
                <a:off x="7905750" y="15906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11" name="Google Shape;2111;p97"/>
              <p:cNvSpPr/>
              <p:nvPr/>
            </p:nvSpPr>
            <p:spPr>
              <a:xfrm>
                <a:off x="82486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1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12" name="Google Shape;2112;p97"/>
              <p:cNvSpPr/>
              <p:nvPr/>
            </p:nvSpPr>
            <p:spPr>
              <a:xfrm>
                <a:off x="79438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13" name="Google Shape;2113;p97"/>
              <p:cNvSpPr/>
              <p:nvPr/>
            </p:nvSpPr>
            <p:spPr>
              <a:xfrm>
                <a:off x="80962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14" name="Google Shape;2114;p97"/>
              <p:cNvSpPr/>
              <p:nvPr/>
            </p:nvSpPr>
            <p:spPr>
              <a:xfrm>
                <a:off x="84010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15" name="Google Shape;2115;p97"/>
              <p:cNvSpPr/>
              <p:nvPr/>
            </p:nvSpPr>
            <p:spPr>
              <a:xfrm>
                <a:off x="85534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16" name="Google Shape;2116;p97"/>
              <p:cNvSpPr/>
              <p:nvPr/>
            </p:nvSpPr>
            <p:spPr>
              <a:xfrm>
                <a:off x="86296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17" name="Google Shape;2117;p97"/>
              <p:cNvSpPr/>
              <p:nvPr/>
            </p:nvSpPr>
            <p:spPr>
              <a:xfrm>
                <a:off x="84772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18" name="Google Shape;2118;p97"/>
              <p:cNvSpPr/>
              <p:nvPr/>
            </p:nvSpPr>
            <p:spPr>
              <a:xfrm>
                <a:off x="8020050" y="2085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19" name="Google Shape;2119;p97"/>
              <p:cNvSpPr/>
              <p:nvPr/>
            </p:nvSpPr>
            <p:spPr>
              <a:xfrm>
                <a:off x="6781800" y="1295400"/>
                <a:ext cx="2042907" cy="11811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20" name="Google Shape;2120;p97"/>
              <p:cNvSpPr/>
              <p:nvPr/>
            </p:nvSpPr>
            <p:spPr>
              <a:xfrm>
                <a:off x="7600950" y="1385888"/>
                <a:ext cx="1143000" cy="809624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21" name="Google Shape;2121;p97"/>
              <p:cNvSpPr/>
              <p:nvPr/>
            </p:nvSpPr>
            <p:spPr>
              <a:xfrm rot="3005671">
                <a:off x="6910448" y="1473379"/>
                <a:ext cx="782476" cy="405040"/>
              </a:xfrm>
              <a:prstGeom prst="ellipse">
                <a:avLst/>
              </a:prstGeom>
              <a:noFill/>
              <a:ln w="28575" cap="flat" cmpd="sng">
                <a:solidFill>
                  <a:srgbClr val="FFC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122" name="Google Shape;2122;p97"/>
            <p:cNvSpPr txBox="1"/>
            <p:nvPr/>
          </p:nvSpPr>
          <p:spPr>
            <a:xfrm>
              <a:off x="9351754" y="2362645"/>
              <a:ext cx="1220138" cy="276225"/>
            </a:xfrm>
            <a:prstGeom prst="rect">
              <a:avLst/>
            </a:prstGeom>
            <a:solidFill>
              <a:srgbClr val="E4831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Ground Truth </a:t>
              </a:r>
              <a:r>
                <a:rPr lang="en-US" sz="12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r>
                <a:rPr lang="en-US" sz="12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123" name="Google Shape;2123;p97"/>
            <p:cNvSpPr txBox="1"/>
            <p:nvPr/>
          </p:nvSpPr>
          <p:spPr>
            <a:xfrm>
              <a:off x="10599349" y="2359850"/>
              <a:ext cx="395287" cy="2762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 b="1" i="1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r>
                <a:rPr lang="en-US" sz="1200" b="1" i="1" baseline="-25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</p:txBody>
        </p:sp>
        <p:sp>
          <p:nvSpPr>
            <p:cNvPr id="2124" name="Google Shape;2124;p97"/>
            <p:cNvSpPr txBox="1"/>
            <p:nvPr/>
          </p:nvSpPr>
          <p:spPr>
            <a:xfrm>
              <a:off x="9439271" y="2631760"/>
              <a:ext cx="929361" cy="307777"/>
            </a:xfrm>
            <a:prstGeom prst="rect">
              <a:avLst/>
            </a:prstGeom>
            <a:noFill/>
            <a:ln w="2857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Cluster </a:t>
              </a: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125" name="Google Shape;2125;p97"/>
            <p:cNvSpPr txBox="1"/>
            <p:nvPr/>
          </p:nvSpPr>
          <p:spPr>
            <a:xfrm>
              <a:off x="10410045" y="2638870"/>
              <a:ext cx="402888" cy="307777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126" name="Google Shape;2126;p97"/>
            <p:cNvSpPr/>
            <p:nvPr/>
          </p:nvSpPr>
          <p:spPr>
            <a:xfrm>
              <a:off x="9505904" y="1979325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27" name="Google Shape;2127;p97"/>
            <p:cNvSpPr/>
            <p:nvPr/>
          </p:nvSpPr>
          <p:spPr>
            <a:xfrm>
              <a:off x="9836299" y="2013771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28" name="Google Shape;2128;p97"/>
            <p:cNvSpPr/>
            <p:nvPr/>
          </p:nvSpPr>
          <p:spPr>
            <a:xfrm rot="1766439">
              <a:off x="9313760" y="1769947"/>
              <a:ext cx="911640" cy="485929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29" name="Google Shape;2129;p97"/>
            <p:cNvSpPr/>
            <p:nvPr/>
          </p:nvSpPr>
          <p:spPr>
            <a:xfrm>
              <a:off x="9988699" y="2166171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30" name="Google Shape;2130;p97"/>
            <p:cNvSpPr txBox="1"/>
            <p:nvPr/>
          </p:nvSpPr>
          <p:spPr>
            <a:xfrm>
              <a:off x="11012611" y="2359849"/>
              <a:ext cx="395287" cy="27622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Noto Sans Symbols"/>
                <a:buNone/>
              </a:pPr>
              <a:r>
                <a:rPr lang="en-US" sz="1200" b="1" i="1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r>
                <a:rPr lang="en-US" sz="1200" b="1" i="1" baseline="-250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</p:txBody>
        </p:sp>
        <p:sp>
          <p:nvSpPr>
            <p:cNvPr id="2131" name="Google Shape;2131;p97"/>
            <p:cNvSpPr txBox="1"/>
            <p:nvPr/>
          </p:nvSpPr>
          <p:spPr>
            <a:xfrm>
              <a:off x="10885310" y="2638870"/>
              <a:ext cx="402888" cy="307777"/>
            </a:xfrm>
            <a:prstGeom prst="rect">
              <a:avLst/>
            </a:prstGeom>
            <a:noFill/>
            <a:ln w="28575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p9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Information Theory-Based Methods (I)</a:t>
            </a:r>
            <a:br>
              <a:rPr lang="en-US"/>
            </a:br>
            <a:r>
              <a:rPr lang="en-US"/>
              <a:t>Conditional Entropy</a:t>
            </a:r>
            <a:endParaRPr/>
          </a:p>
        </p:txBody>
      </p:sp>
      <p:sp>
        <p:nvSpPr>
          <p:cNvPr id="2138" name="Google Shape;2138;p9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85" t="-13950" b="-4621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grpSp>
        <p:nvGrpSpPr>
          <p:cNvPr id="2139" name="Google Shape;2139;p98"/>
          <p:cNvGrpSpPr/>
          <p:nvPr/>
        </p:nvGrpSpPr>
        <p:grpSpPr>
          <a:xfrm>
            <a:off x="9110336" y="1278632"/>
            <a:ext cx="2771948" cy="2260980"/>
            <a:chOff x="9253200" y="1077506"/>
            <a:chExt cx="2154698" cy="1869141"/>
          </a:xfrm>
        </p:grpSpPr>
        <p:grpSp>
          <p:nvGrpSpPr>
            <p:cNvPr id="2140" name="Google Shape;2140;p98"/>
            <p:cNvGrpSpPr/>
            <p:nvPr/>
          </p:nvGrpSpPr>
          <p:grpSpPr>
            <a:xfrm>
              <a:off x="9350499" y="1077506"/>
              <a:ext cx="2057399" cy="1277418"/>
              <a:chOff x="6781800" y="1245858"/>
              <a:chExt cx="2042907" cy="1230642"/>
            </a:xfrm>
          </p:grpSpPr>
          <p:sp>
            <p:nvSpPr>
              <p:cNvPr id="2141" name="Google Shape;2141;p98"/>
              <p:cNvSpPr/>
              <p:nvPr/>
            </p:nvSpPr>
            <p:spPr>
              <a:xfrm>
                <a:off x="7162800" y="17049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42" name="Google Shape;2142;p98"/>
              <p:cNvSpPr/>
              <p:nvPr/>
            </p:nvSpPr>
            <p:spPr>
              <a:xfrm>
                <a:off x="7391400" y="16287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43" name="Google Shape;2143;p98"/>
              <p:cNvSpPr/>
              <p:nvPr/>
            </p:nvSpPr>
            <p:spPr>
              <a:xfrm>
                <a:off x="7467600" y="20955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44" name="Google Shape;2144;p98"/>
              <p:cNvSpPr/>
              <p:nvPr/>
            </p:nvSpPr>
            <p:spPr>
              <a:xfrm>
                <a:off x="7696200" y="1933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45" name="Google Shape;2145;p98"/>
              <p:cNvSpPr/>
              <p:nvPr/>
            </p:nvSpPr>
            <p:spPr>
              <a:xfrm>
                <a:off x="7010400" y="20193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46" name="Google Shape;2146;p98"/>
              <p:cNvSpPr/>
              <p:nvPr/>
            </p:nvSpPr>
            <p:spPr>
              <a:xfrm>
                <a:off x="7010400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47" name="Google Shape;2147;p98"/>
              <p:cNvSpPr/>
              <p:nvPr/>
            </p:nvSpPr>
            <p:spPr>
              <a:xfrm>
                <a:off x="72771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48" name="Google Shape;2148;p98"/>
              <p:cNvSpPr/>
              <p:nvPr/>
            </p:nvSpPr>
            <p:spPr>
              <a:xfrm>
                <a:off x="7620000" y="17145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49" name="Google Shape;2149;p98"/>
              <p:cNvSpPr/>
              <p:nvPr/>
            </p:nvSpPr>
            <p:spPr>
              <a:xfrm>
                <a:off x="7239000" y="2019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50" name="Google Shape;2150;p98"/>
              <p:cNvSpPr/>
              <p:nvPr/>
            </p:nvSpPr>
            <p:spPr>
              <a:xfrm>
                <a:off x="74676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51" name="Google Shape;2151;p98"/>
              <p:cNvSpPr/>
              <p:nvPr/>
            </p:nvSpPr>
            <p:spPr>
              <a:xfrm>
                <a:off x="7226077" y="2280758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52" name="Google Shape;2152;p98"/>
              <p:cNvSpPr/>
              <p:nvPr/>
            </p:nvSpPr>
            <p:spPr>
              <a:xfrm>
                <a:off x="7315200" y="1485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53" name="Google Shape;2153;p98"/>
              <p:cNvSpPr/>
              <p:nvPr/>
            </p:nvSpPr>
            <p:spPr>
              <a:xfrm>
                <a:off x="7048500" y="22479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54" name="Google Shape;2154;p98"/>
              <p:cNvSpPr/>
              <p:nvPr/>
            </p:nvSpPr>
            <p:spPr>
              <a:xfrm>
                <a:off x="69342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55" name="Google Shape;2155;p98"/>
              <p:cNvSpPr/>
              <p:nvPr/>
            </p:nvSpPr>
            <p:spPr>
              <a:xfrm>
                <a:off x="80962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56" name="Google Shape;2156;p98"/>
              <p:cNvSpPr/>
              <p:nvPr/>
            </p:nvSpPr>
            <p:spPr>
              <a:xfrm>
                <a:off x="82486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57" name="Google Shape;2157;p98"/>
              <p:cNvSpPr/>
              <p:nvPr/>
            </p:nvSpPr>
            <p:spPr>
              <a:xfrm>
                <a:off x="84010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58" name="Google Shape;2158;p98"/>
              <p:cNvSpPr/>
              <p:nvPr/>
            </p:nvSpPr>
            <p:spPr>
              <a:xfrm>
                <a:off x="8248650" y="1857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59" name="Google Shape;2159;p98"/>
              <p:cNvSpPr/>
              <p:nvPr/>
            </p:nvSpPr>
            <p:spPr>
              <a:xfrm>
                <a:off x="84010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60" name="Google Shape;2160;p98"/>
              <p:cNvSpPr/>
              <p:nvPr/>
            </p:nvSpPr>
            <p:spPr>
              <a:xfrm>
                <a:off x="79438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61" name="Google Shape;2161;p98"/>
              <p:cNvSpPr/>
              <p:nvPr/>
            </p:nvSpPr>
            <p:spPr>
              <a:xfrm>
                <a:off x="80962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62" name="Google Shape;2162;p98"/>
              <p:cNvSpPr/>
              <p:nvPr/>
            </p:nvSpPr>
            <p:spPr>
              <a:xfrm>
                <a:off x="7905750" y="15906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63" name="Google Shape;2163;p98"/>
              <p:cNvSpPr/>
              <p:nvPr/>
            </p:nvSpPr>
            <p:spPr>
              <a:xfrm>
                <a:off x="82486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1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64" name="Google Shape;2164;p98"/>
              <p:cNvSpPr/>
              <p:nvPr/>
            </p:nvSpPr>
            <p:spPr>
              <a:xfrm>
                <a:off x="79438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65" name="Google Shape;2165;p98"/>
              <p:cNvSpPr/>
              <p:nvPr/>
            </p:nvSpPr>
            <p:spPr>
              <a:xfrm>
                <a:off x="80962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66" name="Google Shape;2166;p98"/>
              <p:cNvSpPr/>
              <p:nvPr/>
            </p:nvSpPr>
            <p:spPr>
              <a:xfrm>
                <a:off x="84010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67" name="Google Shape;2167;p98"/>
              <p:cNvSpPr/>
              <p:nvPr/>
            </p:nvSpPr>
            <p:spPr>
              <a:xfrm>
                <a:off x="85534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68" name="Google Shape;2168;p98"/>
              <p:cNvSpPr/>
              <p:nvPr/>
            </p:nvSpPr>
            <p:spPr>
              <a:xfrm>
                <a:off x="86296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69" name="Google Shape;2169;p98"/>
              <p:cNvSpPr/>
              <p:nvPr/>
            </p:nvSpPr>
            <p:spPr>
              <a:xfrm>
                <a:off x="84772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70" name="Google Shape;2170;p98"/>
              <p:cNvSpPr/>
              <p:nvPr/>
            </p:nvSpPr>
            <p:spPr>
              <a:xfrm>
                <a:off x="8020050" y="2085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71" name="Google Shape;2171;p98"/>
              <p:cNvSpPr/>
              <p:nvPr/>
            </p:nvSpPr>
            <p:spPr>
              <a:xfrm>
                <a:off x="6781800" y="1295400"/>
                <a:ext cx="2042907" cy="11811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72" name="Google Shape;2172;p98"/>
              <p:cNvSpPr/>
              <p:nvPr/>
            </p:nvSpPr>
            <p:spPr>
              <a:xfrm>
                <a:off x="7600950" y="1385888"/>
                <a:ext cx="1143000" cy="809624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73" name="Google Shape;2173;p98"/>
              <p:cNvSpPr/>
              <p:nvPr/>
            </p:nvSpPr>
            <p:spPr>
              <a:xfrm rot="3005671">
                <a:off x="6910448" y="1473379"/>
                <a:ext cx="782476" cy="405040"/>
              </a:xfrm>
              <a:prstGeom prst="ellipse">
                <a:avLst/>
              </a:prstGeom>
              <a:noFill/>
              <a:ln w="28575" cap="flat" cmpd="sng">
                <a:solidFill>
                  <a:srgbClr val="FFC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174" name="Google Shape;2174;p98"/>
            <p:cNvSpPr txBox="1"/>
            <p:nvPr/>
          </p:nvSpPr>
          <p:spPr>
            <a:xfrm>
              <a:off x="9351754" y="2362645"/>
              <a:ext cx="1220138" cy="276225"/>
            </a:xfrm>
            <a:prstGeom prst="rect">
              <a:avLst/>
            </a:prstGeom>
            <a:solidFill>
              <a:srgbClr val="E4831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Ground Truth </a:t>
              </a:r>
              <a:r>
                <a:rPr lang="en-US" sz="12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r>
                <a:rPr lang="en-US" sz="12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175" name="Google Shape;2175;p98"/>
            <p:cNvSpPr txBox="1"/>
            <p:nvPr/>
          </p:nvSpPr>
          <p:spPr>
            <a:xfrm>
              <a:off x="10599349" y="2359850"/>
              <a:ext cx="395287" cy="2762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 b="1" i="1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r>
                <a:rPr lang="en-US" sz="1200" b="1" i="1" baseline="-25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</p:txBody>
        </p:sp>
        <p:sp>
          <p:nvSpPr>
            <p:cNvPr id="2176" name="Google Shape;2176;p98"/>
            <p:cNvSpPr txBox="1"/>
            <p:nvPr/>
          </p:nvSpPr>
          <p:spPr>
            <a:xfrm>
              <a:off x="9439271" y="2631760"/>
              <a:ext cx="929361" cy="307777"/>
            </a:xfrm>
            <a:prstGeom prst="rect">
              <a:avLst/>
            </a:prstGeom>
            <a:noFill/>
            <a:ln w="2857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Cluster </a:t>
              </a: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177" name="Google Shape;2177;p98"/>
            <p:cNvSpPr txBox="1"/>
            <p:nvPr/>
          </p:nvSpPr>
          <p:spPr>
            <a:xfrm>
              <a:off x="10410045" y="2638870"/>
              <a:ext cx="402888" cy="307777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178" name="Google Shape;2178;p98"/>
            <p:cNvSpPr/>
            <p:nvPr/>
          </p:nvSpPr>
          <p:spPr>
            <a:xfrm>
              <a:off x="9505904" y="1979325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79" name="Google Shape;2179;p98"/>
            <p:cNvSpPr/>
            <p:nvPr/>
          </p:nvSpPr>
          <p:spPr>
            <a:xfrm>
              <a:off x="9836299" y="2013771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80" name="Google Shape;2180;p98"/>
            <p:cNvSpPr/>
            <p:nvPr/>
          </p:nvSpPr>
          <p:spPr>
            <a:xfrm rot="1766439">
              <a:off x="9313760" y="1769947"/>
              <a:ext cx="911640" cy="485929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81" name="Google Shape;2181;p98"/>
            <p:cNvSpPr/>
            <p:nvPr/>
          </p:nvSpPr>
          <p:spPr>
            <a:xfrm>
              <a:off x="9988699" y="2166171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82" name="Google Shape;2182;p98"/>
            <p:cNvSpPr txBox="1"/>
            <p:nvPr/>
          </p:nvSpPr>
          <p:spPr>
            <a:xfrm>
              <a:off x="11012611" y="2359849"/>
              <a:ext cx="395287" cy="27622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Noto Sans Symbols"/>
                <a:buNone/>
              </a:pPr>
              <a:r>
                <a:rPr lang="en-US" sz="1200" b="1" i="1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r>
                <a:rPr lang="en-US" sz="1200" b="1" i="1" baseline="-250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</p:txBody>
        </p:sp>
        <p:sp>
          <p:nvSpPr>
            <p:cNvPr id="2183" name="Google Shape;2183;p98"/>
            <p:cNvSpPr txBox="1"/>
            <p:nvPr/>
          </p:nvSpPr>
          <p:spPr>
            <a:xfrm>
              <a:off x="10885310" y="2638870"/>
              <a:ext cx="402888" cy="307777"/>
            </a:xfrm>
            <a:prstGeom prst="rect">
              <a:avLst/>
            </a:prstGeom>
            <a:noFill/>
            <a:ln w="28575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9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</a:t>
            </a:r>
            <a:endParaRPr/>
          </a:p>
        </p:txBody>
      </p:sp>
      <p:sp>
        <p:nvSpPr>
          <p:cNvPr id="2190" name="Google Shape;2190;p9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Consider 11 objects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grpSp>
        <p:nvGrpSpPr>
          <p:cNvPr id="2191" name="Google Shape;2191;p99"/>
          <p:cNvGrpSpPr/>
          <p:nvPr/>
        </p:nvGrpSpPr>
        <p:grpSpPr>
          <a:xfrm>
            <a:off x="10037302" y="-40278"/>
            <a:ext cx="2154698" cy="1869141"/>
            <a:chOff x="9253200" y="1077506"/>
            <a:chExt cx="2154698" cy="1869141"/>
          </a:xfrm>
        </p:grpSpPr>
        <p:grpSp>
          <p:nvGrpSpPr>
            <p:cNvPr id="2192" name="Google Shape;2192;p99"/>
            <p:cNvGrpSpPr/>
            <p:nvPr/>
          </p:nvGrpSpPr>
          <p:grpSpPr>
            <a:xfrm>
              <a:off x="9350499" y="1077506"/>
              <a:ext cx="2057399" cy="1277418"/>
              <a:chOff x="6781800" y="1245858"/>
              <a:chExt cx="2042907" cy="1230642"/>
            </a:xfrm>
          </p:grpSpPr>
          <p:sp>
            <p:nvSpPr>
              <p:cNvPr id="2193" name="Google Shape;2193;p99"/>
              <p:cNvSpPr/>
              <p:nvPr/>
            </p:nvSpPr>
            <p:spPr>
              <a:xfrm>
                <a:off x="7162800" y="17049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4" name="Google Shape;2194;p99"/>
              <p:cNvSpPr/>
              <p:nvPr/>
            </p:nvSpPr>
            <p:spPr>
              <a:xfrm>
                <a:off x="7391400" y="16287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5" name="Google Shape;2195;p99"/>
              <p:cNvSpPr/>
              <p:nvPr/>
            </p:nvSpPr>
            <p:spPr>
              <a:xfrm>
                <a:off x="7467600" y="20955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6" name="Google Shape;2196;p99"/>
              <p:cNvSpPr/>
              <p:nvPr/>
            </p:nvSpPr>
            <p:spPr>
              <a:xfrm>
                <a:off x="7696200" y="1933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7" name="Google Shape;2197;p99"/>
              <p:cNvSpPr/>
              <p:nvPr/>
            </p:nvSpPr>
            <p:spPr>
              <a:xfrm>
                <a:off x="7010400" y="20193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8" name="Google Shape;2198;p99"/>
              <p:cNvSpPr/>
              <p:nvPr/>
            </p:nvSpPr>
            <p:spPr>
              <a:xfrm>
                <a:off x="7010400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199" name="Google Shape;2199;p99"/>
              <p:cNvSpPr/>
              <p:nvPr/>
            </p:nvSpPr>
            <p:spPr>
              <a:xfrm>
                <a:off x="72771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00" name="Google Shape;2200;p99"/>
              <p:cNvSpPr/>
              <p:nvPr/>
            </p:nvSpPr>
            <p:spPr>
              <a:xfrm>
                <a:off x="7620000" y="17145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01" name="Google Shape;2201;p99"/>
              <p:cNvSpPr/>
              <p:nvPr/>
            </p:nvSpPr>
            <p:spPr>
              <a:xfrm>
                <a:off x="7239000" y="2019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02" name="Google Shape;2202;p99"/>
              <p:cNvSpPr/>
              <p:nvPr/>
            </p:nvSpPr>
            <p:spPr>
              <a:xfrm>
                <a:off x="74676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03" name="Google Shape;2203;p99"/>
              <p:cNvSpPr/>
              <p:nvPr/>
            </p:nvSpPr>
            <p:spPr>
              <a:xfrm>
                <a:off x="7226077" y="2280758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04" name="Google Shape;2204;p99"/>
              <p:cNvSpPr/>
              <p:nvPr/>
            </p:nvSpPr>
            <p:spPr>
              <a:xfrm>
                <a:off x="7315200" y="1485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05" name="Google Shape;2205;p99"/>
              <p:cNvSpPr/>
              <p:nvPr/>
            </p:nvSpPr>
            <p:spPr>
              <a:xfrm>
                <a:off x="7048500" y="2247900"/>
                <a:ext cx="76200" cy="762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06" name="Google Shape;2206;p99"/>
              <p:cNvSpPr/>
              <p:nvPr/>
            </p:nvSpPr>
            <p:spPr>
              <a:xfrm>
                <a:off x="6934200" y="18669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07" name="Google Shape;2207;p99"/>
              <p:cNvSpPr/>
              <p:nvPr/>
            </p:nvSpPr>
            <p:spPr>
              <a:xfrm>
                <a:off x="80962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08" name="Google Shape;2208;p99"/>
              <p:cNvSpPr/>
              <p:nvPr/>
            </p:nvSpPr>
            <p:spPr>
              <a:xfrm>
                <a:off x="82486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09" name="Google Shape;2209;p99"/>
              <p:cNvSpPr/>
              <p:nvPr/>
            </p:nvSpPr>
            <p:spPr>
              <a:xfrm>
                <a:off x="84010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10" name="Google Shape;2210;p99"/>
              <p:cNvSpPr/>
              <p:nvPr/>
            </p:nvSpPr>
            <p:spPr>
              <a:xfrm>
                <a:off x="8248650" y="1857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11" name="Google Shape;2211;p99"/>
              <p:cNvSpPr/>
              <p:nvPr/>
            </p:nvSpPr>
            <p:spPr>
              <a:xfrm>
                <a:off x="84010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12" name="Google Shape;2212;p99"/>
              <p:cNvSpPr/>
              <p:nvPr/>
            </p:nvSpPr>
            <p:spPr>
              <a:xfrm>
                <a:off x="79438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13" name="Google Shape;2213;p99"/>
              <p:cNvSpPr/>
              <p:nvPr/>
            </p:nvSpPr>
            <p:spPr>
              <a:xfrm>
                <a:off x="8096250" y="14763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14" name="Google Shape;2214;p99"/>
              <p:cNvSpPr/>
              <p:nvPr/>
            </p:nvSpPr>
            <p:spPr>
              <a:xfrm>
                <a:off x="7905750" y="15906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15" name="Google Shape;2215;p99"/>
              <p:cNvSpPr/>
              <p:nvPr/>
            </p:nvSpPr>
            <p:spPr>
              <a:xfrm>
                <a:off x="8248650" y="1628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 b="1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16" name="Google Shape;2216;p99"/>
              <p:cNvSpPr/>
              <p:nvPr/>
            </p:nvSpPr>
            <p:spPr>
              <a:xfrm>
                <a:off x="79438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17" name="Google Shape;2217;p99"/>
              <p:cNvSpPr/>
              <p:nvPr/>
            </p:nvSpPr>
            <p:spPr>
              <a:xfrm>
                <a:off x="80962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18" name="Google Shape;2218;p99"/>
              <p:cNvSpPr/>
              <p:nvPr/>
            </p:nvSpPr>
            <p:spPr>
              <a:xfrm>
                <a:off x="8401050" y="20097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19" name="Google Shape;2219;p99"/>
              <p:cNvSpPr/>
              <p:nvPr/>
            </p:nvSpPr>
            <p:spPr>
              <a:xfrm>
                <a:off x="8553450" y="19335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20" name="Google Shape;2220;p99"/>
              <p:cNvSpPr/>
              <p:nvPr/>
            </p:nvSpPr>
            <p:spPr>
              <a:xfrm>
                <a:off x="8629650" y="1704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21" name="Google Shape;2221;p99"/>
              <p:cNvSpPr/>
              <p:nvPr/>
            </p:nvSpPr>
            <p:spPr>
              <a:xfrm>
                <a:off x="8477250" y="17811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22" name="Google Shape;2222;p99"/>
              <p:cNvSpPr/>
              <p:nvPr/>
            </p:nvSpPr>
            <p:spPr>
              <a:xfrm>
                <a:off x="8020050" y="2085975"/>
                <a:ext cx="76200" cy="76200"/>
              </a:xfrm>
              <a:prstGeom prst="ellipse">
                <a:avLst/>
              </a:prstGeom>
              <a:solidFill>
                <a:srgbClr val="0070C0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FF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23" name="Google Shape;2223;p99"/>
              <p:cNvSpPr/>
              <p:nvPr/>
            </p:nvSpPr>
            <p:spPr>
              <a:xfrm>
                <a:off x="6781800" y="1295400"/>
                <a:ext cx="2042907" cy="11811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24" name="Google Shape;2224;p99"/>
              <p:cNvSpPr/>
              <p:nvPr/>
            </p:nvSpPr>
            <p:spPr>
              <a:xfrm>
                <a:off x="7600950" y="1385888"/>
                <a:ext cx="1143000" cy="809624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225" name="Google Shape;2225;p99"/>
              <p:cNvSpPr/>
              <p:nvPr/>
            </p:nvSpPr>
            <p:spPr>
              <a:xfrm rot="3005671">
                <a:off x="6910448" y="1473379"/>
                <a:ext cx="782476" cy="405040"/>
              </a:xfrm>
              <a:prstGeom prst="ellipse">
                <a:avLst/>
              </a:prstGeom>
              <a:noFill/>
              <a:ln w="28575" cap="flat" cmpd="sng">
                <a:solidFill>
                  <a:srgbClr val="FFC000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endParaRPr sz="18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226" name="Google Shape;2226;p99"/>
            <p:cNvSpPr txBox="1"/>
            <p:nvPr/>
          </p:nvSpPr>
          <p:spPr>
            <a:xfrm>
              <a:off x="9351754" y="2362645"/>
              <a:ext cx="1220138" cy="276225"/>
            </a:xfrm>
            <a:prstGeom prst="rect">
              <a:avLst/>
            </a:prstGeom>
            <a:solidFill>
              <a:srgbClr val="E4831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Ground Truth </a:t>
              </a:r>
              <a:r>
                <a:rPr lang="en-US" sz="12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</a:t>
              </a:r>
              <a:r>
                <a:rPr lang="en-US" sz="12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227" name="Google Shape;2227;p99"/>
            <p:cNvSpPr txBox="1"/>
            <p:nvPr/>
          </p:nvSpPr>
          <p:spPr>
            <a:xfrm>
              <a:off x="10599349" y="2359850"/>
              <a:ext cx="395287" cy="276225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Noto Sans Symbols"/>
                <a:buNone/>
              </a:pPr>
              <a:r>
                <a:rPr lang="en-US" sz="1200" b="1" i="1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r>
                <a:rPr lang="en-US" sz="1200" b="1" i="1" baseline="-25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/>
            </a:p>
          </p:txBody>
        </p:sp>
        <p:sp>
          <p:nvSpPr>
            <p:cNvPr id="2228" name="Google Shape;2228;p99"/>
            <p:cNvSpPr txBox="1"/>
            <p:nvPr/>
          </p:nvSpPr>
          <p:spPr>
            <a:xfrm>
              <a:off x="9439271" y="2631760"/>
              <a:ext cx="929361" cy="307777"/>
            </a:xfrm>
            <a:prstGeom prst="rect">
              <a:avLst/>
            </a:prstGeom>
            <a:noFill/>
            <a:ln w="28575" cap="flat" cmpd="sng">
              <a:solidFill>
                <a:srgbClr val="FFC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Cluster </a:t>
              </a: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229" name="Google Shape;2229;p99"/>
            <p:cNvSpPr txBox="1"/>
            <p:nvPr/>
          </p:nvSpPr>
          <p:spPr>
            <a:xfrm>
              <a:off x="10410045" y="2638870"/>
              <a:ext cx="402888" cy="307777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230" name="Google Shape;2230;p99"/>
            <p:cNvSpPr/>
            <p:nvPr/>
          </p:nvSpPr>
          <p:spPr>
            <a:xfrm>
              <a:off x="9505904" y="1979325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31" name="Google Shape;2231;p99"/>
            <p:cNvSpPr/>
            <p:nvPr/>
          </p:nvSpPr>
          <p:spPr>
            <a:xfrm>
              <a:off x="9836299" y="2013771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32" name="Google Shape;2232;p99"/>
            <p:cNvSpPr/>
            <p:nvPr/>
          </p:nvSpPr>
          <p:spPr>
            <a:xfrm rot="1766439">
              <a:off x="9313760" y="1769947"/>
              <a:ext cx="911640" cy="485929"/>
            </a:xfrm>
            <a:prstGeom prst="ellipse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33" name="Google Shape;2233;p99"/>
            <p:cNvSpPr/>
            <p:nvPr/>
          </p:nvSpPr>
          <p:spPr>
            <a:xfrm>
              <a:off x="9988699" y="2166171"/>
              <a:ext cx="76741" cy="79096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endParaRPr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34" name="Google Shape;2234;p99"/>
            <p:cNvSpPr txBox="1"/>
            <p:nvPr/>
          </p:nvSpPr>
          <p:spPr>
            <a:xfrm>
              <a:off x="11012611" y="2359849"/>
              <a:ext cx="395287" cy="27622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Noto Sans Symbols"/>
                <a:buNone/>
              </a:pPr>
              <a:r>
                <a:rPr lang="en-US" sz="1200" b="1" i="1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r>
                <a:rPr lang="en-US" sz="1200" b="1" i="1" baseline="-25000">
                  <a:solidFill>
                    <a:srgbClr val="FFFFFF"/>
                  </a:solidFill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/>
            </a:p>
          </p:txBody>
        </p:sp>
        <p:sp>
          <p:nvSpPr>
            <p:cNvPr id="2235" name="Google Shape;2235;p99"/>
            <p:cNvSpPr txBox="1"/>
            <p:nvPr/>
          </p:nvSpPr>
          <p:spPr>
            <a:xfrm>
              <a:off x="10885310" y="2638870"/>
              <a:ext cx="402888" cy="307777"/>
            </a:xfrm>
            <a:prstGeom prst="rect">
              <a:avLst/>
            </a:prstGeom>
            <a:noFill/>
            <a:ln w="28575" cap="flat" cmpd="sng">
              <a:solidFill>
                <a:srgbClr val="2626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Noto Sans Symbols"/>
                <a:buNone/>
              </a:pPr>
              <a:r>
                <a:rPr lang="en-US" sz="1400" b="1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1400" b="1" i="1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2236" name="Google Shape;2236;p99"/>
          <p:cNvSpPr txBox="1"/>
          <p:nvPr/>
        </p:nvSpPr>
        <p:spPr>
          <a:xfrm>
            <a:off x="314661" y="3075154"/>
            <a:ext cx="11266433" cy="4088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1313" marR="0" lvl="0" indent="-21939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1920"/>
              <a:buFont typeface="Noto Sans Symbols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7" name="Google Shape;2237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0406" y="2359345"/>
            <a:ext cx="9037117" cy="1355567"/>
          </a:xfrm>
          <a:prstGeom prst="rect">
            <a:avLst/>
          </a:prstGeom>
          <a:noFill/>
          <a:ln>
            <a:noFill/>
          </a:ln>
        </p:spPr>
      </p:pic>
      <p:sp>
        <p:nvSpPr>
          <p:cNvPr id="2238" name="Google Shape;2238;p99"/>
          <p:cNvSpPr txBox="1"/>
          <p:nvPr/>
        </p:nvSpPr>
        <p:spPr>
          <a:xfrm>
            <a:off x="5725673" y="3732471"/>
            <a:ext cx="6039665" cy="70788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Purity for clustering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0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20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1/11  </a:t>
            </a:r>
            <a:r>
              <a:rPr lang="en-US" sz="2000" b="0" i="0" u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(4 + 2 + 4 + 1) = </a:t>
            </a:r>
            <a:r>
              <a:rPr lang="en-US" sz="20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11/11 </a:t>
            </a:r>
            <a:r>
              <a:rPr lang="en-US" sz="2000" b="0" i="0" u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1;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Purity for clustering </a:t>
            </a:r>
            <a:r>
              <a:rPr lang="en-US" sz="20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000" b="1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20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1/11 </a:t>
            </a:r>
            <a:r>
              <a:rPr lang="en-US" sz="2000" b="0" i="0" u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(2 + 3 + 1) = </a:t>
            </a:r>
            <a:r>
              <a:rPr lang="en-US" sz="20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6/11</a:t>
            </a:r>
            <a:endParaRPr sz="2000" b="0" i="0" u="none" strike="noStrike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pic>
        <p:nvPicPr>
          <p:cNvPr id="2239" name="Google Shape;2239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3050" y="4787635"/>
            <a:ext cx="7511827" cy="587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0" name="Google Shape;2240;p9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4123" y="5471812"/>
            <a:ext cx="8884181" cy="781818"/>
          </a:xfrm>
          <a:prstGeom prst="rect">
            <a:avLst/>
          </a:prstGeom>
          <a:noFill/>
          <a:ln>
            <a:noFill/>
          </a:ln>
        </p:spPr>
      </p:pic>
      <p:sp>
        <p:nvSpPr>
          <p:cNvPr id="2241" name="Google Shape;2241;p99"/>
          <p:cNvSpPr txBox="1"/>
          <p:nvPr/>
        </p:nvSpPr>
        <p:spPr>
          <a:xfrm>
            <a:off x="701936" y="6316140"/>
            <a:ext cx="11234100" cy="369332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Note: conditional entropy cannot detect the issue that </a:t>
            </a:r>
            <a:r>
              <a:rPr lang="en-US" sz="1800" b="1" i="1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800" b="1" i="1" u="none" strike="noStrik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splits the objects in </a:t>
            </a:r>
            <a:r>
              <a:rPr lang="en-US" sz="1800" b="0" i="1" u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G</a:t>
            </a:r>
            <a:r>
              <a:rPr lang="en-US" sz="1800" b="0" i="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800" b="0" i="0" u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into two clusters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101"/>
          <p:cNvSpPr txBox="1"/>
          <p:nvPr/>
        </p:nvSpPr>
        <p:spPr>
          <a:xfrm>
            <a:off x="2885877" y="3138067"/>
            <a:ext cx="416985" cy="777623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5" name="Google Shape;2255;p10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Pairwise Comparison-Based Methods: Jaccard Coefficient  </a:t>
            </a:r>
            <a:endParaRPr/>
          </a:p>
        </p:txBody>
      </p:sp>
      <p:sp>
        <p:nvSpPr>
          <p:cNvPr id="2256" name="Google Shape;2256;p10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Pairwise comparison: treat each group in the ground truth as a class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each pair of objects (o</a:t>
            </a:r>
            <a:r>
              <a:rPr lang="en-US" i="1" baseline="-25000"/>
              <a:t>i</a:t>
            </a:r>
            <a:r>
              <a:rPr lang="en-US"/>
              <a:t>, o</a:t>
            </a:r>
            <a:r>
              <a:rPr lang="en-US" i="1" baseline="-25000"/>
              <a:t>j</a:t>
            </a:r>
            <a:r>
              <a:rPr lang="en-US"/>
              <a:t>) in D, if they are assigned to the same cluster/group, the assignment is regarded as positive; otherwise, negative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Depending on assignments, we have four possible cases: </a:t>
            </a:r>
            <a:endParaRPr b="1">
              <a:solidFill>
                <a:srgbClr val="000000"/>
              </a:solidFill>
            </a:endParaRPr>
          </a:p>
          <a:p>
            <a:pPr marL="341313" lvl="1" indent="-21177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ct val="100000"/>
              <a:buNone/>
            </a:pPr>
            <a:endParaRPr b="1">
              <a:solidFill>
                <a:srgbClr val="000000"/>
              </a:solidFill>
            </a:endParaRPr>
          </a:p>
          <a:p>
            <a:pPr marL="341313" lvl="1" indent="-21177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ct val="100000"/>
              <a:buNone/>
            </a:pPr>
            <a:endParaRPr b="1">
              <a:solidFill>
                <a:srgbClr val="000000"/>
              </a:solidFill>
            </a:endParaRPr>
          </a:p>
          <a:p>
            <a:pPr marL="341313" lvl="1" indent="-21177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ct val="100000"/>
              <a:buNone/>
            </a:pPr>
            <a:endParaRPr b="1">
              <a:solidFill>
                <a:srgbClr val="000000"/>
              </a:solidFill>
            </a:endParaRPr>
          </a:p>
          <a:p>
            <a:pPr marL="341313" lvl="1" indent="-21177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ct val="100000"/>
              <a:buNone/>
            </a:pPr>
            <a:endParaRPr b="1">
              <a:solidFill>
                <a:srgbClr val="000000"/>
              </a:solidFill>
            </a:endParaRPr>
          </a:p>
          <a:p>
            <a:pPr marL="341313" lvl="1" indent="-34131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ct val="100000"/>
              <a:buChar char="•"/>
            </a:pPr>
            <a:r>
              <a:rPr lang="en-US" b="1">
                <a:solidFill>
                  <a:srgbClr val="000000"/>
                </a:solidFill>
              </a:rPr>
              <a:t>Jaccard coefficient:  </a:t>
            </a:r>
            <a:r>
              <a:rPr lang="en-US">
                <a:solidFill>
                  <a:srgbClr val="000000"/>
                </a:solidFill>
              </a:rPr>
              <a:t>Ignoring the true negatives (thus asymmetric)</a:t>
            </a:r>
            <a:endParaRPr b="1">
              <a:solidFill>
                <a:srgbClr val="00000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i="1">
                <a:solidFill>
                  <a:srgbClr val="000000"/>
                </a:solidFill>
              </a:rPr>
              <a:t>Jaccard</a:t>
            </a:r>
            <a:r>
              <a:rPr lang="en-US" b="1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000000"/>
                </a:solidFill>
              </a:rPr>
              <a:t>= </a:t>
            </a:r>
            <a:r>
              <a:rPr lang="en-US" i="1">
                <a:solidFill>
                  <a:srgbClr val="000000"/>
                </a:solidFill>
              </a:rPr>
              <a:t>TP</a:t>
            </a:r>
            <a:r>
              <a:rPr lang="en-US">
                <a:solidFill>
                  <a:srgbClr val="000000"/>
                </a:solidFill>
              </a:rPr>
              <a:t>/(</a:t>
            </a:r>
            <a:r>
              <a:rPr lang="en-US" i="1">
                <a:solidFill>
                  <a:srgbClr val="000000"/>
                </a:solidFill>
              </a:rPr>
              <a:t>TP </a:t>
            </a:r>
            <a:r>
              <a:rPr lang="en-US">
                <a:solidFill>
                  <a:srgbClr val="000000"/>
                </a:solidFill>
              </a:rPr>
              <a:t>+</a:t>
            </a:r>
            <a:r>
              <a:rPr lang="en-US" i="1">
                <a:solidFill>
                  <a:srgbClr val="000000"/>
                </a:solidFill>
              </a:rPr>
              <a:t> FN </a:t>
            </a:r>
            <a:r>
              <a:rPr lang="en-US">
                <a:solidFill>
                  <a:srgbClr val="000000"/>
                </a:solidFill>
              </a:rPr>
              <a:t>+</a:t>
            </a:r>
            <a:r>
              <a:rPr lang="en-US" i="1">
                <a:solidFill>
                  <a:srgbClr val="000000"/>
                </a:solidFill>
              </a:rPr>
              <a:t> FP</a:t>
            </a:r>
            <a:r>
              <a:rPr lang="en-US">
                <a:solidFill>
                  <a:srgbClr val="000000"/>
                </a:solidFill>
              </a:rPr>
              <a:t>)   [i.e., denominator ignores </a:t>
            </a:r>
            <a:r>
              <a:rPr lang="en-US" i="1">
                <a:solidFill>
                  <a:srgbClr val="000000"/>
                </a:solidFill>
              </a:rPr>
              <a:t>TN</a:t>
            </a:r>
            <a:r>
              <a:rPr lang="en-US">
                <a:solidFill>
                  <a:srgbClr val="000000"/>
                </a:solidFill>
              </a:rPr>
              <a:t>]</a:t>
            </a:r>
            <a:endParaRPr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-US" i="1">
                <a:solidFill>
                  <a:srgbClr val="000000"/>
                </a:solidFill>
              </a:rPr>
              <a:t>Jaccard</a:t>
            </a:r>
            <a:r>
              <a:rPr lang="en-US">
                <a:solidFill>
                  <a:srgbClr val="000000"/>
                </a:solidFill>
              </a:rPr>
              <a:t> = 1 if perfect clustering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Many other measures are based on the pairwise comparison statistics: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Rand statistic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Fowlkes-Mallows measure</a:t>
            </a:r>
            <a:endParaRPr/>
          </a:p>
          <a:p>
            <a:pPr marL="228600" lvl="0" indent="-7747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2257" name="Google Shape;2257;p101"/>
          <p:cNvSpPr txBox="1"/>
          <p:nvPr/>
        </p:nvSpPr>
        <p:spPr>
          <a:xfrm>
            <a:off x="1172808" y="3293408"/>
            <a:ext cx="2107602" cy="70788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 Total # of pairs of points  </a:t>
            </a:r>
            <a:endParaRPr sz="1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8" name="Google Shape;2258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44029" y="3181992"/>
            <a:ext cx="833969" cy="930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9" name="Google Shape;2259;p10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7641" y="3138067"/>
            <a:ext cx="6951900" cy="1080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5318</TotalTime>
  <Words>846</Words>
  <Application>Microsoft Office PowerPoint</Application>
  <PresentationFormat>Widescreen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Tahoma</vt:lpstr>
      <vt:lpstr>Old Standard TT</vt:lpstr>
      <vt:lpstr>Calibri</vt:lpstr>
      <vt:lpstr>Noto Sans Symbols</vt:lpstr>
      <vt:lpstr>Times New Roman</vt:lpstr>
      <vt:lpstr>Office Theme</vt:lpstr>
      <vt:lpstr>Measuring Clustering Quality</vt:lpstr>
      <vt:lpstr>General Criteria for Measuring Clustering Quality with Extrinsic Methods </vt:lpstr>
      <vt:lpstr>General Criteria for Measuring Clustering Quality with Extrinsic Methods </vt:lpstr>
      <vt:lpstr>Commonly Used Extrinsic Methods</vt:lpstr>
      <vt:lpstr>Matching-Based Methods </vt:lpstr>
      <vt:lpstr>Matching-Based Methods: Example </vt:lpstr>
      <vt:lpstr>Information Theory-Based Methods (I) Conditional Entropy</vt:lpstr>
      <vt:lpstr>Information Theory-Based Methods (I) Conditional Entropy</vt:lpstr>
      <vt:lpstr>Example </vt:lpstr>
      <vt:lpstr>Pairwise Comparison-Based Methods: Jaccard Coefficient 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Clustering Quality</dc:title>
  <dc:creator>Jian Pei</dc:creator>
  <cp:lastModifiedBy>Microsoft account</cp:lastModifiedBy>
  <cp:revision>7</cp:revision>
  <dcterms:created xsi:type="dcterms:W3CDTF">2023-05-26T14:30:31Z</dcterms:created>
  <dcterms:modified xsi:type="dcterms:W3CDTF">2024-10-17T04:38:26Z</dcterms:modified>
</cp:coreProperties>
</file>